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 type="custom"/>
  <p:notesSz cx="12192000" cy="6858000"/>
  <p:embeddedFontLst>
    <p:embeddedFont>
      <p:font typeface="MiSans" charset="-122" pitchFamily="34"/>
      <p:regular r:id="rId23"/>
    </p:embeddedFont>
    <p:embeddedFont>
      <p:font typeface="Space Grotesk" charset="-122" pitchFamily="34"/>
      <p:regular r:id="rId24"/>
    </p:embeddedFont>
    <p:embeddedFont>
      <p:font typeface="Inter" charset="-122" pitchFamily="34"/>
      <p:regular r:id="rId25"/>
    </p:embeddedFont>
    <p:embeddedFont>
      <p:font typeface="JetBrains Mono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lexmy21/ewm-state-machine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lexmy21/ewm-state-machine" TargetMode="Externa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5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11684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C2521E"/>
                </a:solidFill>
                <a:latin typeface="JetBrains Mono"/>
                <a:ea typeface="JetBrains Mono"/>
              </a:rPr>
              <a:t>TECS SUBMISSION · EMERGING WORLD MODELS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549400"/>
            <a:ext cx="10566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F5F3EE"/>
                </a:solidFill>
                <a:latin typeface="Space Grotesk"/>
                <a:ea typeface="Space Grotesk"/>
              </a:rPr>
              <a:t>Transformations and trajectories of a</a:t>
            </a:r>
            <a:endParaRPr lang="en-US" sz="3800" noProof="1"/>
          </a:p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F5F3EE"/>
                </a:solidFill>
                <a:latin typeface="Space Grotesk"/>
                <a:ea typeface="Space Grotesk"/>
              </a:rPr>
              <a:t>content-addressed state machine</a:t>
            </a:r>
            <a:endParaRPr lang="en-US" sz="3800" noProof="1"/>
          </a:p>
        </p:txBody>
      </p:sp>
      <p:sp>
        <p:nvSpPr>
          <p:cNvPr id="4" name="subtitle"/>
          <p:cNvSpPr txBox="1"/>
          <p:nvPr/>
        </p:nvSpPr>
        <p:spPr>
          <a:xfrm>
            <a:off x="812800" y="3124200"/>
            <a:ext cx="965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noProof="1">
                <a:solidFill>
                  <a:srgbClr val="B9BEC4"/>
                </a:solidFill>
                <a:latin typeface="Inter"/>
                <a:ea typeface="Inter"/>
              </a:rPr>
              <a:t>The Emerging World Model HLLSet architecture: a state layer where the state is a set, every transition is a lattice operation, and the trajectory is a rotating coordinate system you can read.</a:t>
            </a:r>
            <a:endParaRPr lang="en-US" sz="1500" noProof="1"/>
          </a:p>
        </p:txBody>
      </p:sp>
      <p:sp>
        <p:nvSpPr>
          <p:cNvPr id="5" name="chips"/>
          <p:cNvSpPr txBox="1"/>
          <p:nvPr/>
        </p:nvSpPr>
        <p:spPr>
          <a:xfrm>
            <a:off x="812800" y="40894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9097"/>
                </a:solidFill>
                <a:latin typeface="JetBrains Mono"/>
                <a:ea typeface="JetBrains Mono"/>
              </a:rPr>
              <a:t>BOOLEAN LATTICE · GF(2) RING · CONTENT-ADDRESSED · SIDE-CAR MEMORY</a:t>
            </a:r>
            <a:endParaRPr lang="en-US" sz="1100" noProof="1"/>
          </a:p>
        </p:txBody>
      </p:sp>
      <p:sp>
        <p:nvSpPr>
          <p:cNvPr id="6" name="rule"/>
          <p:cNvSpPr/>
          <p:nvPr/>
        </p:nvSpPr>
        <p:spPr>
          <a:xfrm>
            <a:off x="812800" y="5029200"/>
            <a:ext cx="10566400" cy="12700"/>
          </a:xfrm>
          <a:prstGeom prst="rect">
            <a:avLst/>
          </a:prstGeom>
          <a:solidFill>
            <a:srgbClr val="2A2F35"/>
          </a:solidFill>
          <a:ln>
            <a:noFill/>
          </a:ln>
        </p:spPr>
      </p:sp>
      <p:sp>
        <p:nvSpPr>
          <p:cNvPr id="7" name="meta"/>
          <p:cNvSpPr txBox="1"/>
          <p:nvPr/>
        </p:nvSpPr>
        <p:spPr>
          <a:xfrm>
            <a:off x="812800" y="52578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C838B"/>
                </a:solidFill>
                <a:latin typeface="JetBrains Mono"/>
                <a:ea typeface="JetBrains Mono"/>
              </a:rPr>
              <a:t>ALEX MYLNIKOV · ALEXANDR MYLNIKOV JR. · DEEPENDRA KUMAR</a:t>
            </a:r>
            <a:endParaRPr lang="en-US" sz="1000" noProof="1"/>
          </a:p>
        </p:txBody>
      </p:sp>
      <p:sp>
        <p:nvSpPr>
          <p:cNvPr id="8" name="repo"/>
          <p:cNvSpPr txBox="1"/>
          <p:nvPr/>
        </p:nvSpPr>
        <p:spPr>
          <a:xfrm>
            <a:off x="812800" y="60706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u="sng">
                <a:solidFill>
                  <a:srgbClr val="0563C1"/>
                </a:solidFill>
                <a:latin typeface="JetBrains Mono"/>
                <a:ea typeface="JetBrains Mono"/>
                <a:hlinkClick r:id="rId2"/>
              </a:rPr>
              <a:t>github.com/alexmy21/ewm-state-machine</a:t>
            </a:r>
            <a:endParaRPr lang="en-US" sz="1200" noProof="1"/>
          </a:p>
        </p:txBody>
      </p:sp>
      <p:sp>
        <p:nvSpPr>
          <p:cNvPr id="9" name="bit01"/>
          <p:cNvSpPr/>
          <p:nvPr/>
        </p:nvSpPr>
        <p:spPr>
          <a:xfrm>
            <a:off x="88900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0" name="bit02"/>
          <p:cNvSpPr/>
          <p:nvPr/>
        </p:nvSpPr>
        <p:spPr>
          <a:xfrm>
            <a:off x="90678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1" name="bit03"/>
          <p:cNvSpPr/>
          <p:nvPr/>
        </p:nvSpPr>
        <p:spPr>
          <a:xfrm>
            <a:off x="9245600" y="6070600"/>
            <a:ext cx="127000" cy="127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2" name="bit04"/>
          <p:cNvSpPr/>
          <p:nvPr/>
        </p:nvSpPr>
        <p:spPr>
          <a:xfrm>
            <a:off x="94234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3" name="bit05"/>
          <p:cNvSpPr/>
          <p:nvPr/>
        </p:nvSpPr>
        <p:spPr>
          <a:xfrm>
            <a:off x="96012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4" name="bit06"/>
          <p:cNvSpPr/>
          <p:nvPr/>
        </p:nvSpPr>
        <p:spPr>
          <a:xfrm>
            <a:off x="9779000" y="6070600"/>
            <a:ext cx="127000" cy="127000"/>
          </a:xfrm>
          <a:prstGeom prst="rect">
            <a:avLst/>
          </a:prstGeom>
          <a:solidFill>
            <a:srgbClr val="2E7D64"/>
          </a:solidFill>
          <a:ln>
            <a:noFill/>
          </a:ln>
        </p:spPr>
      </p:sp>
      <p:sp>
        <p:nvSpPr>
          <p:cNvPr id="15" name="bit07"/>
          <p:cNvSpPr/>
          <p:nvPr/>
        </p:nvSpPr>
        <p:spPr>
          <a:xfrm>
            <a:off x="99568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6" name="bit08"/>
          <p:cNvSpPr/>
          <p:nvPr/>
        </p:nvSpPr>
        <p:spPr>
          <a:xfrm>
            <a:off x="101346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7" name="bit09"/>
          <p:cNvSpPr/>
          <p:nvPr/>
        </p:nvSpPr>
        <p:spPr>
          <a:xfrm>
            <a:off x="103124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8" name="bit10"/>
          <p:cNvSpPr/>
          <p:nvPr/>
        </p:nvSpPr>
        <p:spPr>
          <a:xfrm>
            <a:off x="10490200" y="6070600"/>
            <a:ext cx="127000" cy="127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9" name="bit11"/>
          <p:cNvSpPr/>
          <p:nvPr/>
        </p:nvSpPr>
        <p:spPr>
          <a:xfrm>
            <a:off x="106680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0" name="bit12"/>
          <p:cNvSpPr/>
          <p:nvPr/>
        </p:nvSpPr>
        <p:spPr>
          <a:xfrm>
            <a:off x="108458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1" name="bit13"/>
          <p:cNvSpPr/>
          <p:nvPr/>
        </p:nvSpPr>
        <p:spPr>
          <a:xfrm>
            <a:off x="11023600" y="6070600"/>
            <a:ext cx="127000" cy="127000"/>
          </a:xfrm>
          <a:prstGeom prst="rect">
            <a:avLst/>
          </a:prstGeom>
          <a:solidFill>
            <a:srgbClr val="2E7D64"/>
          </a:solidFill>
          <a:ln>
            <a:noFill/>
          </a:ln>
        </p:spPr>
      </p:sp>
      <p:sp>
        <p:nvSpPr>
          <p:cNvPr id="22" name="bit14"/>
          <p:cNvSpPr/>
          <p:nvPr/>
        </p:nvSpPr>
        <p:spPr>
          <a:xfrm>
            <a:off x="11201400" y="60706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01 · THE PROBLEM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Models are functions. Nothing is kept.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A language model, a vision model, a planner — each is a function: input in, output out, nothing kept. What we call its "memory" is a text buffer or a key–value cache,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rebuilt from scratch for every request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So the system has no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state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in the control-theoretic sense: no value that is advanced, committed and recovered; no record of what was retained, what departed, and what is new.</a:t>
            </a:r>
            <a:endParaRPr lang="en-US" sz="1250" noProof="1"/>
          </a:p>
        </p:txBody>
      </p:sp>
      <p:sp>
        <p:nvSpPr>
          <p:cNvPr id="6" name="left-body-2"/>
          <p:cNvSpPr txBox="1"/>
          <p:nvPr/>
        </p:nvSpPr>
        <p:spPr>
          <a:xfrm>
            <a:off x="812800" y="37084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Rebuilding context from scratch is where much of the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cost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and most of the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failure modes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of long-horizon systems live: lost continuity, silent drift, unrecoverable crashes, un-auditable behavior.</a:t>
            </a:r>
            <a:endParaRPr lang="en-US" sz="1250" noProof="1"/>
          </a:p>
        </p:txBody>
      </p:sp>
      <p:sp>
        <p:nvSpPr>
          <p:cNvPr id="7" name="strip-bar"/>
          <p:cNvSpPr/>
          <p:nvPr/>
        </p:nvSpPr>
        <p:spPr>
          <a:xfrm>
            <a:off x="812800" y="5588000"/>
            <a:ext cx="38100" cy="6096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8" name="strip-text"/>
          <p:cNvSpPr txBox="1"/>
          <p:nvPr/>
        </p:nvSpPr>
        <p:spPr>
          <a:xfrm>
            <a:off x="1016000" y="5588000"/>
            <a:ext cx="5969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The question this paper answers: can any token-producing model be given a state that is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cheap to advance, exact to compare, and safe to replay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— without touching the model?</a:t>
            </a:r>
            <a:endParaRPr lang="en-US" sz="1200" noProof="1"/>
          </a:p>
        </p:txBody>
      </p:sp>
      <p:sp>
        <p:nvSpPr>
          <p:cNvPr id="9" name="right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WHAT "MEMORY" IS TODAY</a:t>
            </a:r>
            <a:endParaRPr lang="en-US" sz="1000" noProof="1"/>
          </a:p>
        </p:txBody>
      </p:sp>
      <p:sp>
        <p:nvSpPr>
          <p:cNvPr id="10" name="t1-name"/>
          <p:cNvSpPr txBox="1"/>
          <p:nvPr/>
        </p:nvSpPr>
        <p:spPr>
          <a:xfrm>
            <a:off x="7620000" y="1879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A1D20"/>
                </a:solidFill>
                <a:latin typeface="JetBrains Mono"/>
                <a:ea typeface="JetBrains Mono"/>
              </a:rPr>
              <a:t>context window</a:t>
            </a:r>
            <a:endParaRPr lang="en-US" sz="1100" noProof="1"/>
          </a:p>
        </p:txBody>
      </p:sp>
      <p:sp>
        <p:nvSpPr>
          <p:cNvPr id="11" name="t1-desc"/>
          <p:cNvSpPr txBox="1"/>
          <p:nvPr/>
        </p:nvSpPr>
        <p:spPr>
          <a:xfrm>
            <a:off x="7620000" y="2133600"/>
            <a:ext cx="3759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a text buffer, re-derived per request — a buffer, not a state</a:t>
            </a:r>
            <a:endParaRPr lang="en-US" sz="1050" noProof="1"/>
          </a:p>
        </p:txBody>
      </p:sp>
      <p:sp>
        <p:nvSpPr>
          <p:cNvPr id="12" name="rule-t1"/>
          <p:cNvSpPr/>
          <p:nvPr/>
        </p:nvSpPr>
        <p:spPr>
          <a:xfrm>
            <a:off x="7620000" y="26416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3" name="t2-name"/>
          <p:cNvSpPr txBox="1"/>
          <p:nvPr/>
        </p:nvSpPr>
        <p:spPr>
          <a:xfrm>
            <a:off x="7620000" y="27940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A1D20"/>
                </a:solidFill>
                <a:latin typeface="JetBrains Mono"/>
                <a:ea typeface="JetBrains Mono"/>
              </a:rPr>
              <a:t>KV cache</a:t>
            </a:r>
            <a:endParaRPr lang="en-US" sz="1100" noProof="1"/>
          </a:p>
        </p:txBody>
      </p:sp>
      <p:sp>
        <p:nvSpPr>
          <p:cNvPr id="14" name="t2-desc"/>
          <p:cNvSpPr txBox="1"/>
          <p:nvPr/>
        </p:nvSpPr>
        <p:spPr>
          <a:xfrm>
            <a:off x="7620000" y="3048000"/>
            <a:ext cx="3759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an inference accelerator — discarded, never committed or recovered</a:t>
            </a:r>
            <a:endParaRPr lang="en-US" sz="1050" noProof="1"/>
          </a:p>
        </p:txBody>
      </p:sp>
      <p:sp>
        <p:nvSpPr>
          <p:cNvPr id="15" name="rule-t2"/>
          <p:cNvSpPr/>
          <p:nvPr/>
        </p:nvSpPr>
        <p:spPr>
          <a:xfrm>
            <a:off x="7620000" y="35560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6" name="t3-name"/>
          <p:cNvSpPr txBox="1"/>
          <p:nvPr/>
        </p:nvSpPr>
        <p:spPr>
          <a:xfrm>
            <a:off x="7620000" y="37084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A1D20"/>
                </a:solidFill>
                <a:latin typeface="JetBrains Mono"/>
                <a:ea typeface="JetBrains Mono"/>
              </a:rPr>
              <a:t>retrieval (RAG)</a:t>
            </a:r>
            <a:endParaRPr lang="en-US" sz="1100" noProof="1"/>
          </a:p>
        </p:txBody>
      </p:sp>
      <p:sp>
        <p:nvSpPr>
          <p:cNvPr id="17" name="t3-desc"/>
          <p:cNvSpPr txBox="1"/>
          <p:nvPr/>
        </p:nvSpPr>
        <p:spPr>
          <a:xfrm>
            <a:off x="7620000" y="3962400"/>
            <a:ext cx="3759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an attached lookup — it finds documents, it does not hold a state</a:t>
            </a:r>
            <a:endParaRPr lang="en-US" sz="1050" noProof="1"/>
          </a:p>
        </p:txBody>
      </p:sp>
      <p:sp>
        <p:nvSpPr>
          <p:cNvPr id="18" name="rule-t3"/>
          <p:cNvSpPr/>
          <p:nvPr/>
        </p:nvSpPr>
        <p:spPr>
          <a:xfrm>
            <a:off x="7620000" y="44704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9" name="gap-label"/>
          <p:cNvSpPr txBox="1"/>
          <p:nvPr/>
        </p:nvSpPr>
        <p:spPr>
          <a:xfrm>
            <a:off x="7620000" y="4724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C2521E"/>
                </a:solidFill>
                <a:latin typeface="JetBrains Mono"/>
                <a:ea typeface="JetBrains Mono"/>
              </a:rPr>
              <a:t>WHAT IS MISSING</a:t>
            </a:r>
            <a:endParaRPr lang="en-US" sz="1000" noProof="1"/>
          </a:p>
        </p:txBody>
      </p:sp>
      <p:sp>
        <p:nvSpPr>
          <p:cNvPr id="20" name="gap-body"/>
          <p:cNvSpPr txBox="1"/>
          <p:nvPr/>
        </p:nvSpPr>
        <p:spPr>
          <a:xfrm>
            <a:off x="7620000" y="5003800"/>
            <a:ext cx="37592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A value that is </a:t>
            </a:r>
            <a:r>
              <a:rPr lang="en-US" sz="1150" noProof="1" b="1">
                <a:solidFill>
                  <a:srgbClr val="1A1D20"/>
                </a:solidFill>
                <a:latin typeface="Inter"/>
                <a:ea typeface="Inter"/>
              </a:rPr>
              <a:t>advanced</a:t>
            </a: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 (transition), </a:t>
            </a:r>
            <a:r>
              <a:rPr lang="en-US" sz="1150" noProof="1" b="1">
                <a:solidFill>
                  <a:srgbClr val="1A1D20"/>
                </a:solidFill>
                <a:latin typeface="Inter"/>
                <a:ea typeface="Inter"/>
              </a:rPr>
              <a:t>committed</a:t>
            </a: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 (durable record) and </a:t>
            </a:r>
            <a:r>
              <a:rPr lang="en-US" sz="1150" noProof="1" b="1">
                <a:solidFill>
                  <a:srgbClr val="1A1D20"/>
                </a:solidFill>
                <a:latin typeface="Inter"/>
                <a:ea typeface="Inter"/>
              </a:rPr>
              <a:t>recovered</a:t>
            </a: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 (replay) — with what-departed / what-stayed / what-is-new read off exactly.</a:t>
            </a:r>
            <a:endParaRPr lang="en-US" sz="1150" noProof="1"/>
          </a:p>
        </p:txBody>
      </p:sp>
      <p:sp>
        <p:nvSpPr>
          <p:cNvPr id="21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02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02 · THE ONE UNUSUAL CHOICE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The state is a content-addressed set, not a tensor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whole design follows from one decision: represent every state as a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set of bits over a fixed plane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, and name each set by its own content. A token stream is measured into an HLLSet — a fixed-length bit vector whose set bits are the sites the tokens hashed into.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Subsets of one common plane form a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Boolean lattice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: order ⊆, join ∪, meet ∩, ring addition Δ (symmetric difference).</a:t>
            </a:r>
            <a:endParaRPr lang="en-US" sz="1250" noProof="1"/>
          </a:p>
        </p:txBody>
      </p:sp>
      <p:sp>
        <p:nvSpPr>
          <p:cNvPr id="6" name="left-body-2"/>
          <p:cNvSpPr txBox="1"/>
          <p:nvPr/>
        </p:nvSpPr>
        <p:spPr>
          <a:xfrm>
            <a:off x="812800" y="3454400"/>
            <a:ext cx="5969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Every state and every derived quantity — unions, intersections, differences, novelty, residuals — is a node of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one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lattice. Nothing new is ever created: a computation names a lattice expression and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discovers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the node.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Two paths that name the same expression reach the same node. That is the operational meaning of </a:t>
            </a:r>
            <a:r>
              <a:rPr lang="en-US" sz="1250" noProof="1" i="1">
                <a:solidFill>
                  <a:srgbClr val="1A1D20"/>
                </a:solidFill>
                <a:latin typeface="Inter"/>
                <a:ea typeface="Inter"/>
              </a:rPr>
              <a:t>one universe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.</a:t>
            </a:r>
            <a:endParaRPr lang="en-US" sz="1250" noProof="1"/>
          </a:p>
        </p:txBody>
      </p:sp>
      <p:sp>
        <p:nvSpPr>
          <p:cNvPr id="7" name="strip-bar"/>
          <p:cNvSpPr/>
          <p:nvPr/>
        </p:nvSpPr>
        <p:spPr>
          <a:xfrm>
            <a:off x="812800" y="5588000"/>
            <a:ext cx="38100" cy="6096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8" name="strip-text"/>
          <p:cNvSpPr txBox="1"/>
          <p:nvPr/>
        </p:nvSpPr>
        <p:spPr>
          <a:xfrm>
            <a:off x="1016000" y="5588000"/>
            <a:ext cx="5969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Every node obeys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IICA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: Idempotent · Immutable · Content-Addressed. A node is literally the digest of its bits — two computations that reach the same bits reach the same state.</a:t>
            </a:r>
            <a:endParaRPr lang="en-US" sz="1200" noProof="1"/>
          </a:p>
        </p:txBody>
      </p:sp>
      <p:sp>
        <p:nvSpPr>
          <p:cNvPr id="9" name="lattice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ONE LATTICE — EVERYTHING IS A NODE</a:t>
            </a:r>
            <a:endParaRPr lang="en-US" sz="1000" noProof="1"/>
          </a:p>
        </p:txBody>
      </p:sp>
      <p:sp>
        <p:nvSpPr>
          <p:cNvPr id="10" name="lat-plane"/>
          <p:cNvSpPr/>
          <p:nvPr/>
        </p:nvSpPr>
        <p:spPr>
          <a:xfrm>
            <a:off x="7620000" y="1879600"/>
            <a:ext cx="3759200" cy="25400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11" name="lat-cap"/>
          <p:cNvSpPr txBox="1"/>
          <p:nvPr/>
        </p:nvSpPr>
        <p:spPr>
          <a:xfrm>
            <a:off x="7772400" y="1981200"/>
            <a:ext cx="3454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747B"/>
                </a:solidFill>
                <a:latin typeface="JetBrains Mono"/>
                <a:ea typeface="JetBrains Mono"/>
              </a:rPr>
              <a:t>bit plane B = {0, …, 32,767}</a:t>
            </a:r>
            <a:endParaRPr lang="en-US" sz="950" noProof="1"/>
          </a:p>
        </p:txBody>
      </p:sp>
      <p:sp>
        <p:nvSpPr>
          <p:cNvPr id="12" name="nA"/>
          <p:cNvSpPr/>
          <p:nvPr/>
        </p:nvSpPr>
        <p:spPr>
          <a:xfrm>
            <a:off x="8128000" y="2413000"/>
            <a:ext cx="1397000" cy="889000"/>
          </a:xfrm>
          <a:prstGeom prst="ellipse">
            <a:avLst/>
          </a:prstGeom>
          <a:solidFill>
            <a:srgbClr val="1E5B4E">
              <a:alpha val="13333"/>
            </a:srgbClr>
          </a:solidFill>
          <a:ln w="19050">
            <a:solidFill>
              <a:srgbClr val="1E5B4E"/>
            </a:solidFill>
          </a:ln>
        </p:spPr>
      </p:sp>
      <p:sp>
        <p:nvSpPr>
          <p:cNvPr id="13" name="nA-lab"/>
          <p:cNvSpPr txBox="1"/>
          <p:nvPr/>
        </p:nvSpPr>
        <p:spPr>
          <a:xfrm>
            <a:off x="8128000" y="27432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A</a:t>
            </a:r>
            <a:endParaRPr lang="en-US" sz="1100" noProof="1"/>
          </a:p>
        </p:txBody>
      </p:sp>
      <p:sp>
        <p:nvSpPr>
          <p:cNvPr id="14" name="nB"/>
          <p:cNvSpPr/>
          <p:nvPr/>
        </p:nvSpPr>
        <p:spPr>
          <a:xfrm>
            <a:off x="9144000" y="2794000"/>
            <a:ext cx="1397000" cy="889000"/>
          </a:xfrm>
          <a:prstGeom prst="ellipse">
            <a:avLst/>
          </a:prstGeom>
          <a:solidFill>
            <a:srgbClr val="C2521E">
              <a:alpha val="13333"/>
            </a:srgbClr>
          </a:solidFill>
          <a:ln w="19050">
            <a:solidFill>
              <a:srgbClr val="C2521E"/>
            </a:solidFill>
          </a:ln>
        </p:spPr>
      </p:sp>
      <p:sp>
        <p:nvSpPr>
          <p:cNvPr id="15" name="nB-lab"/>
          <p:cNvSpPr txBox="1"/>
          <p:nvPr/>
        </p:nvSpPr>
        <p:spPr>
          <a:xfrm>
            <a:off x="9144000" y="31242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B</a:t>
            </a:r>
            <a:endParaRPr lang="en-US" sz="1100" noProof="1"/>
          </a:p>
        </p:txBody>
      </p:sp>
      <p:sp>
        <p:nvSpPr>
          <p:cNvPr id="16" name="nC"/>
          <p:cNvSpPr/>
          <p:nvPr/>
        </p:nvSpPr>
        <p:spPr>
          <a:xfrm>
            <a:off x="8890000" y="2032000"/>
            <a:ext cx="1016000" cy="635000"/>
          </a:xfrm>
          <a:prstGeom prst="ellipse">
            <a:avLst/>
          </a:prstGeom>
          <a:solidFill>
            <a:srgbClr val="6E747B">
              <a:alpha val="9412"/>
            </a:srgbClr>
          </a:solidFill>
          <a:ln w="12700">
            <a:solidFill>
              <a:srgbClr val="6E747B"/>
            </a:solidFill>
            <a:prstDash val="dash"/>
          </a:ln>
        </p:spPr>
      </p:sp>
      <p:sp>
        <p:nvSpPr>
          <p:cNvPr id="17" name="nC-lab"/>
          <p:cNvSpPr txBox="1"/>
          <p:nvPr/>
        </p:nvSpPr>
        <p:spPr>
          <a:xfrm>
            <a:off x="8890000" y="2235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A∪B</a:t>
            </a:r>
            <a:endParaRPr lang="en-US" sz="1000" noProof="1"/>
          </a:p>
        </p:txBody>
      </p:sp>
      <p:sp>
        <p:nvSpPr>
          <p:cNvPr id="18" name="lat-note"/>
          <p:cNvSpPr txBox="1"/>
          <p:nvPr/>
        </p:nvSpPr>
        <p:spPr>
          <a:xfrm>
            <a:off x="7620000" y="45974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States A, B and their union coexist as nodes of the same lattice — discovered by expression, addressed by content.</a:t>
            </a:r>
            <a:endParaRPr lang="en-US" sz="1050" noProof="1"/>
          </a:p>
        </p:txBody>
      </p:sp>
      <p:sp>
        <p:nvSpPr>
          <p:cNvPr id="19" name="ops-label"/>
          <p:cNvSpPr txBox="1"/>
          <p:nvPr/>
        </p:nvSpPr>
        <p:spPr>
          <a:xfrm>
            <a:off x="7620000" y="53340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THE ALGEBRA IS PLAIN SET THEORY</a:t>
            </a:r>
            <a:endParaRPr lang="en-US" sz="1000" noProof="1"/>
          </a:p>
        </p:txBody>
      </p:sp>
      <p:sp>
        <p:nvSpPr>
          <p:cNvPr id="20" name="ops-body"/>
          <p:cNvSpPr txBox="1"/>
          <p:nvPr/>
        </p:nvSpPr>
        <p:spPr>
          <a:xfrm>
            <a:off x="7620000" y="5588000"/>
            <a:ext cx="3759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∪ join (OR)   ·   ∩ meet (AND)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Δ ring addition (XOR)   ·   \ difference</a:t>
            </a:r>
            <a:endParaRPr lang="en-US" sz="1100" noProof="1"/>
          </a:p>
        </p:txBody>
      </p:sp>
      <p:sp>
        <p:nvSpPr>
          <p:cNvPr id="21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03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03 · THE REPRESENTATION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An HLLSet: the sites a token collection marks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An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HLLSet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is a compact sketch of a token collection. It stores no tokens — only a fixed-length bit vector whose set bits are the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measurement sites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the tokens hashed into.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geometry is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soldered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: precision P fixes the register count M = 2</a:t>
            </a:r>
            <a:r>
              <a:rPr lang="en-US" sz="1250" noProof="1" baseline="30000">
                <a:solidFill>
                  <a:srgbClr val="1A1D20"/>
                </a:solidFill>
                <a:latin typeface="Inter"/>
                <a:ea typeface="Inter"/>
              </a:rPr>
              <a:t>P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; each register holds b bits. A token is hashed once and decomposed into a register index and a trailing-zero state.</a:t>
            </a:r>
            <a:endParaRPr lang="en-US" sz="1250" noProof="1"/>
          </a:p>
        </p:txBody>
      </p:sp>
      <p:sp>
        <p:nvSpPr>
          <p:cNvPr id="6" name="eq-box"/>
          <p:cNvSpPr/>
          <p:nvPr/>
        </p:nvSpPr>
        <p:spPr>
          <a:xfrm>
            <a:off x="812800" y="3403600"/>
            <a:ext cx="5969000" cy="12700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7" name="eq-text"/>
          <p:cNvSpPr txBox="1"/>
          <p:nvPr/>
        </p:nvSpPr>
        <p:spPr>
          <a:xfrm>
            <a:off x="1066800" y="3581400"/>
            <a:ext cx="5461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1A1D20"/>
                </a:solidFill>
                <a:latin typeface="JetBrains Mono"/>
                <a:ea typeface="JetBrains Mono"/>
              </a:rPr>
              <a:t>reg(t) = h(t) mod M</a:t>
            </a:r>
            <a:endParaRPr lang="en-US" sz="1200" noProof="1"/>
          </a:p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1A1D20"/>
                </a:solidFill>
                <a:latin typeface="JetBrains Mono"/>
                <a:ea typeface="JetBrains Mono"/>
              </a:rPr>
              <a:t>tz(t)  = clamp(trailing_zeros(h(t)≫P), 0, b−1)</a:t>
            </a:r>
            <a:endParaRPr lang="en-US" sz="1200" noProof="1"/>
          </a:p>
          <a:p>
            <a:pPr>
              <a:lnSpc>
                <a:spcPct val="170000"/>
              </a:lnSpc>
            </a:pPr>
            <a:r>
              <a:rPr lang="en-US" sz="1200" noProof="1" b="1">
                <a:solidFill>
                  <a:srgbClr val="1E5B4E"/>
                </a:solidFill>
                <a:latin typeface="JetBrains Mono"/>
                <a:ea typeface="JetBrains Mono"/>
              </a:rPr>
              <a:t>bit(t) = reg(t)·b + tz(t)</a:t>
            </a:r>
            <a:r>
              <a:rPr lang="en-US" sz="1200" noProof="1">
                <a:solidFill>
                  <a:srgbClr val="1A1D20"/>
                </a:solidFill>
                <a:latin typeface="JetBrains Mono"/>
                <a:ea typeface="JetBrains Mono"/>
              </a:rPr>
              <a:t>   →   H(A) = ∪_{t∈A} {bit(t)}</a:t>
            </a:r>
            <a:endParaRPr lang="en-US" sz="1200" noProof="1"/>
          </a:p>
        </p:txBody>
      </p:sp>
      <p:sp>
        <p:nvSpPr>
          <p:cNvPr id="8" name="left-body-2"/>
          <p:cNvSpPr txBox="1"/>
          <p:nvPr/>
        </p:nvSpPr>
        <p:spPr>
          <a:xfrm>
            <a:off x="812800" y="4927600"/>
            <a:ext cx="5969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With the defaults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P = 10, b = 32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, the plane has M·b =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32,768 bits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4 KB packed, stored as a Roaring bitmap. A collection is represented by the sites it marks, never by the tokens themselves.</a:t>
            </a:r>
            <a:endParaRPr lang="en-US" sz="1250" noProof="1"/>
          </a:p>
        </p:txBody>
      </p:sp>
      <p:sp>
        <p:nvSpPr>
          <p:cNvPr id="9" name="strip-bar"/>
          <p:cNvSpPr/>
          <p:nvPr/>
        </p:nvSpPr>
        <p:spPr>
          <a:xfrm>
            <a:off x="812800" y="6070600"/>
            <a:ext cx="38100" cy="3048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0" name="strip-text"/>
          <p:cNvSpPr txBox="1"/>
          <p:nvPr/>
        </p:nvSpPr>
        <p:spPr>
          <a:xfrm>
            <a:off x="1016000" y="6045200"/>
            <a:ext cx="5969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6E747B"/>
                </a:solidFill>
                <a:latin typeface="Inter"/>
                <a:ea typeface="Inter"/>
              </a:rPr>
              <a:t>The bit vector deliberately forgets provenance — which token or which scheme set a bit is not recorded.</a:t>
            </a:r>
            <a:endParaRPr lang="en-US" sz="1100" noProof="1"/>
          </a:p>
        </p:txBody>
      </p:sp>
      <p:sp>
        <p:nvSpPr>
          <p:cNvPr id="11" name="bits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ONE TOKEN → ONE BIT ADDRESS</a:t>
            </a:r>
            <a:endParaRPr lang="en-US" sz="1000" noProof="1"/>
          </a:p>
        </p:txBody>
      </p:sp>
      <p:sp>
        <p:nvSpPr>
          <p:cNvPr id="12" name="tok-box"/>
          <p:cNvSpPr/>
          <p:nvPr/>
        </p:nvSpPr>
        <p:spPr>
          <a:xfrm>
            <a:off x="7620000" y="1879600"/>
            <a:ext cx="3759200" cy="4318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3" name="tok-text"/>
          <p:cNvSpPr txBox="1"/>
          <p:nvPr/>
        </p:nvSpPr>
        <p:spPr>
          <a:xfrm>
            <a:off x="7797800" y="1879600"/>
            <a:ext cx="342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token t → hash h(t)</a:t>
            </a:r>
            <a:endParaRPr lang="en-US" sz="1100" noProof="1"/>
          </a:p>
        </p:txBody>
      </p:sp>
      <p:sp>
        <p:nvSpPr>
          <p:cNvPr id="14" name="arr1"/>
          <p:cNvSpPr txBox="1"/>
          <p:nvPr/>
        </p:nvSpPr>
        <p:spPr>
          <a:xfrm>
            <a:off x="7620000" y="24130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↓  split the hash</a:t>
            </a:r>
            <a:endParaRPr lang="en-US" sz="1000" noProof="1"/>
          </a:p>
        </p:txBody>
      </p:sp>
      <p:sp>
        <p:nvSpPr>
          <p:cNvPr id="15" name="reg-box"/>
          <p:cNvSpPr/>
          <p:nvPr/>
        </p:nvSpPr>
        <p:spPr>
          <a:xfrm>
            <a:off x="7620000" y="2692400"/>
            <a:ext cx="1803400" cy="558800"/>
          </a:xfrm>
          <a:prstGeom prst="rect">
            <a:avLst/>
          </a:prstGeom>
          <a:solidFill>
            <a:srgbClr val="1E5B4E">
              <a:alpha val="7843"/>
            </a:srgbClr>
          </a:solidFill>
          <a:ln w="12700">
            <a:solidFill>
              <a:srgbClr val="1E5B4E"/>
            </a:solidFill>
          </a:ln>
        </p:spPr>
      </p:sp>
      <p:sp>
        <p:nvSpPr>
          <p:cNvPr id="16" name="reg-text"/>
          <p:cNvSpPr txBox="1"/>
          <p:nvPr/>
        </p:nvSpPr>
        <p:spPr>
          <a:xfrm>
            <a:off x="7721600" y="2692400"/>
            <a:ext cx="1600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1E5B4E"/>
                </a:solidFill>
                <a:latin typeface="JetBrains Mono"/>
                <a:ea typeface="JetBrains Mono"/>
              </a:rPr>
              <a:t>reg = h mod 1024</a:t>
            </a:r>
            <a:endParaRPr lang="en-US" sz="1000" noProof="1"/>
          </a:p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1E5B4E"/>
                </a:solidFill>
                <a:latin typeface="JetBrains Mono"/>
                <a:ea typeface="JetBrains Mono"/>
              </a:rPr>
              <a:t>→ which register</a:t>
            </a:r>
            <a:endParaRPr lang="en-US" sz="1000" noProof="1"/>
          </a:p>
        </p:txBody>
      </p:sp>
      <p:sp>
        <p:nvSpPr>
          <p:cNvPr id="17" name="tz-box"/>
          <p:cNvSpPr/>
          <p:nvPr/>
        </p:nvSpPr>
        <p:spPr>
          <a:xfrm>
            <a:off x="9575800" y="2692400"/>
            <a:ext cx="1803400" cy="558800"/>
          </a:xfrm>
          <a:prstGeom prst="rect">
            <a:avLst/>
          </a:prstGeom>
          <a:solidFill>
            <a:srgbClr val="C2521E">
              <a:alpha val="7843"/>
            </a:srgbClr>
          </a:solidFill>
          <a:ln w="12700">
            <a:solidFill>
              <a:srgbClr val="C2521E"/>
            </a:solidFill>
          </a:ln>
        </p:spPr>
      </p:sp>
      <p:sp>
        <p:nvSpPr>
          <p:cNvPr id="18" name="tz-text"/>
          <p:cNvSpPr txBox="1"/>
          <p:nvPr/>
        </p:nvSpPr>
        <p:spPr>
          <a:xfrm>
            <a:off x="9677400" y="2692400"/>
            <a:ext cx="1600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C2521E"/>
                </a:solidFill>
                <a:latin typeface="JetBrains Mono"/>
                <a:ea typeface="JetBrains Mono"/>
              </a:rPr>
              <a:t>tz = trailing zeros</a:t>
            </a:r>
            <a:endParaRPr lang="en-US" sz="1000" noProof="1"/>
          </a:p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C2521E"/>
                </a:solidFill>
                <a:latin typeface="JetBrains Mono"/>
                <a:ea typeface="JetBrains Mono"/>
              </a:rPr>
              <a:t>→ which bit inside</a:t>
            </a:r>
            <a:endParaRPr lang="en-US" sz="1000" noProof="1"/>
          </a:p>
        </p:txBody>
      </p:sp>
      <p:sp>
        <p:nvSpPr>
          <p:cNvPr id="19" name="arr2"/>
          <p:cNvSpPr txBox="1"/>
          <p:nvPr/>
        </p:nvSpPr>
        <p:spPr>
          <a:xfrm>
            <a:off x="7620000" y="33528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↓  one site on the plane</a:t>
            </a:r>
            <a:endParaRPr lang="en-US" sz="1000" noProof="1"/>
          </a:p>
        </p:txBody>
      </p:sp>
      <p:sp>
        <p:nvSpPr>
          <p:cNvPr id="20" name="site-label"/>
          <p:cNvSpPr txBox="1"/>
          <p:nvPr/>
        </p:nvSpPr>
        <p:spPr>
          <a:xfrm>
            <a:off x="7620000" y="36576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THE 32,768-BIT PLANE (DETAIL)</a:t>
            </a:r>
            <a:endParaRPr lang="en-US" sz="1000" noProof="1"/>
          </a:p>
        </p:txBody>
      </p:sp>
      <p:sp>
        <p:nvSpPr>
          <p:cNvPr id="21" name="b01"/>
          <p:cNvSpPr/>
          <p:nvPr/>
        </p:nvSpPr>
        <p:spPr>
          <a:xfrm>
            <a:off x="7620000" y="3962400"/>
            <a:ext cx="203200" cy="203200"/>
          </a:xfrm>
          <a:prstGeom prst="rect">
            <a:avLst/>
          </a:prstGeom>
          <a:solidFill>
            <a:srgbClr val="DDD9D0"/>
          </a:solidFill>
          <a:ln>
            <a:noFill/>
          </a:ln>
        </p:spPr>
      </p:sp>
      <p:sp>
        <p:nvSpPr>
          <p:cNvPr id="22" name="b02"/>
          <p:cNvSpPr/>
          <p:nvPr/>
        </p:nvSpPr>
        <p:spPr>
          <a:xfrm>
            <a:off x="7874000" y="3962400"/>
            <a:ext cx="203200" cy="203200"/>
          </a:xfrm>
          <a:prstGeom prst="rect">
            <a:avLst/>
          </a:prstGeom>
          <a:solidFill>
            <a:srgbClr val="1E5B4E"/>
          </a:solidFill>
          <a:ln>
            <a:noFill/>
          </a:ln>
        </p:spPr>
      </p:sp>
      <p:sp>
        <p:nvSpPr>
          <p:cNvPr id="23" name="b03"/>
          <p:cNvSpPr/>
          <p:nvPr/>
        </p:nvSpPr>
        <p:spPr>
          <a:xfrm>
            <a:off x="8128000" y="3962400"/>
            <a:ext cx="203200" cy="203200"/>
          </a:xfrm>
          <a:prstGeom prst="rect">
            <a:avLst/>
          </a:prstGeom>
          <a:solidFill>
            <a:srgbClr val="DDD9D0"/>
          </a:solidFill>
          <a:ln>
            <a:noFill/>
          </a:ln>
        </p:spPr>
      </p:sp>
      <p:sp>
        <p:nvSpPr>
          <p:cNvPr id="24" name="b04"/>
          <p:cNvSpPr/>
          <p:nvPr/>
        </p:nvSpPr>
        <p:spPr>
          <a:xfrm>
            <a:off x="8382000" y="3962400"/>
            <a:ext cx="203200" cy="203200"/>
          </a:xfrm>
          <a:prstGeom prst="rect">
            <a:avLst/>
          </a:prstGeom>
          <a:solidFill>
            <a:srgbClr val="DDD9D0"/>
          </a:solidFill>
          <a:ln>
            <a:noFill/>
          </a:ln>
        </p:spPr>
      </p:sp>
      <p:sp>
        <p:nvSpPr>
          <p:cNvPr id="25" name="b05"/>
          <p:cNvSpPr/>
          <p:nvPr/>
        </p:nvSpPr>
        <p:spPr>
          <a:xfrm>
            <a:off x="8636000" y="3962400"/>
            <a:ext cx="203200" cy="203200"/>
          </a:xfrm>
          <a:prstGeom prst="rect">
            <a:avLst/>
          </a:prstGeom>
          <a:solidFill>
            <a:srgbClr val="1E5B4E"/>
          </a:solidFill>
          <a:ln>
            <a:noFill/>
          </a:ln>
        </p:spPr>
      </p:sp>
      <p:sp>
        <p:nvSpPr>
          <p:cNvPr id="26" name="b06"/>
          <p:cNvSpPr/>
          <p:nvPr/>
        </p:nvSpPr>
        <p:spPr>
          <a:xfrm>
            <a:off x="8890000" y="3962400"/>
            <a:ext cx="203200" cy="203200"/>
          </a:xfrm>
          <a:prstGeom prst="rect">
            <a:avLst/>
          </a:prstGeom>
          <a:solidFill>
            <a:srgbClr val="DDD9D0"/>
          </a:solidFill>
          <a:ln>
            <a:noFill/>
          </a:ln>
        </p:spPr>
      </p:sp>
      <p:sp>
        <p:nvSpPr>
          <p:cNvPr id="27" name="b07"/>
          <p:cNvSpPr/>
          <p:nvPr/>
        </p:nvSpPr>
        <p:spPr>
          <a:xfrm>
            <a:off x="9144000" y="3962400"/>
            <a:ext cx="203200" cy="203200"/>
          </a:xfrm>
          <a:prstGeom prst="rect">
            <a:avLst/>
          </a:prstGeom>
          <a:solidFill>
            <a:srgbClr val="DDD9D0"/>
          </a:solidFill>
          <a:ln>
            <a:noFill/>
          </a:ln>
        </p:spPr>
      </p:sp>
      <p:sp>
        <p:nvSpPr>
          <p:cNvPr id="28" name="b08"/>
          <p:cNvSpPr/>
          <p:nvPr/>
        </p:nvSpPr>
        <p:spPr>
          <a:xfrm>
            <a:off x="9398000" y="3962400"/>
            <a:ext cx="203200" cy="203200"/>
          </a:xfrm>
          <a:prstGeom prst="rect">
            <a:avLst/>
          </a:prstGeom>
          <a:solidFill>
            <a:srgbClr val="DDD9D0"/>
          </a:solidFill>
          <a:ln>
            <a:noFill/>
          </a:ln>
        </p:spPr>
      </p:sp>
      <p:sp>
        <p:nvSpPr>
          <p:cNvPr id="29" name="b09"/>
          <p:cNvSpPr/>
          <p:nvPr/>
        </p:nvSpPr>
        <p:spPr>
          <a:xfrm>
            <a:off x="9652000" y="3962400"/>
            <a:ext cx="203200" cy="203200"/>
          </a:xfrm>
          <a:prstGeom prst="rect">
            <a:avLst/>
          </a:prstGeom>
          <a:solidFill>
            <a:srgbClr val="1E5B4E"/>
          </a:solidFill>
          <a:ln>
            <a:noFill/>
          </a:ln>
        </p:spPr>
      </p:sp>
      <p:sp>
        <p:nvSpPr>
          <p:cNvPr id="30" name="b10"/>
          <p:cNvSpPr/>
          <p:nvPr/>
        </p:nvSpPr>
        <p:spPr>
          <a:xfrm>
            <a:off x="9906000" y="3962400"/>
            <a:ext cx="203200" cy="203200"/>
          </a:xfrm>
          <a:prstGeom prst="rect">
            <a:avLst/>
          </a:prstGeom>
          <a:solidFill>
            <a:srgbClr val="DDD9D0"/>
          </a:solidFill>
          <a:ln>
            <a:noFill/>
          </a:ln>
        </p:spPr>
      </p:sp>
      <p:sp>
        <p:nvSpPr>
          <p:cNvPr id="31" name="b11"/>
          <p:cNvSpPr/>
          <p:nvPr/>
        </p:nvSpPr>
        <p:spPr>
          <a:xfrm>
            <a:off x="10160000" y="3962400"/>
            <a:ext cx="203200" cy="203200"/>
          </a:xfrm>
          <a:prstGeom prst="rect">
            <a:avLst/>
          </a:prstGeom>
          <a:solidFill>
            <a:srgbClr val="DDD9D0"/>
          </a:solidFill>
          <a:ln>
            <a:noFill/>
          </a:ln>
        </p:spPr>
      </p:sp>
      <p:sp>
        <p:nvSpPr>
          <p:cNvPr id="32" name="b12"/>
          <p:cNvSpPr/>
          <p:nvPr/>
        </p:nvSpPr>
        <p:spPr>
          <a:xfrm>
            <a:off x="10414000" y="3962400"/>
            <a:ext cx="203200" cy="203200"/>
          </a:xfrm>
          <a:prstGeom prst="rect">
            <a:avLst/>
          </a:prstGeom>
          <a:solidFill>
            <a:srgbClr val="1E5B4E"/>
          </a:solidFill>
          <a:ln>
            <a:noFill/>
          </a:ln>
        </p:spPr>
      </p:sp>
      <p:sp>
        <p:nvSpPr>
          <p:cNvPr id="33" name="b13"/>
          <p:cNvSpPr/>
          <p:nvPr/>
        </p:nvSpPr>
        <p:spPr>
          <a:xfrm>
            <a:off x="10668000" y="3962400"/>
            <a:ext cx="203200" cy="203200"/>
          </a:xfrm>
          <a:prstGeom prst="rect">
            <a:avLst/>
          </a:prstGeom>
          <a:solidFill>
            <a:srgbClr val="DDD9D0"/>
          </a:solidFill>
          <a:ln>
            <a:noFill/>
          </a:ln>
        </p:spPr>
      </p:sp>
      <p:sp>
        <p:nvSpPr>
          <p:cNvPr id="34" name="b14"/>
          <p:cNvSpPr/>
          <p:nvPr/>
        </p:nvSpPr>
        <p:spPr>
          <a:xfrm>
            <a:off x="10922000" y="3962400"/>
            <a:ext cx="203200" cy="203200"/>
          </a:xfrm>
          <a:prstGeom prst="rect">
            <a:avLst/>
          </a:prstGeom>
          <a:solidFill>
            <a:srgbClr val="DDD9D0"/>
          </a:solidFill>
          <a:ln>
            <a:noFill/>
          </a:ln>
        </p:spPr>
      </p:sp>
      <p:sp>
        <p:nvSpPr>
          <p:cNvPr id="35" name="b15"/>
          <p:cNvSpPr/>
          <p:nvPr/>
        </p:nvSpPr>
        <p:spPr>
          <a:xfrm>
            <a:off x="11176000" y="3962400"/>
            <a:ext cx="203200" cy="203200"/>
          </a:xfrm>
          <a:prstGeom prst="rect">
            <a:avLst/>
          </a:prstGeom>
          <a:solidFill>
            <a:srgbClr val="1E5B4E"/>
          </a:solidFill>
          <a:ln>
            <a:noFill/>
          </a:ln>
        </p:spPr>
      </p:sp>
      <p:sp>
        <p:nvSpPr>
          <p:cNvPr id="36" name="nums-label"/>
          <p:cNvSpPr txBox="1"/>
          <p:nvPr/>
        </p:nvSpPr>
        <p:spPr>
          <a:xfrm>
            <a:off x="7620000" y="45212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DEFAULT GEOMETRY</a:t>
            </a:r>
            <a:endParaRPr lang="en-US" sz="1000" noProof="1"/>
          </a:p>
        </p:txBody>
      </p:sp>
      <p:sp>
        <p:nvSpPr>
          <p:cNvPr id="37" name="nums-body"/>
          <p:cNvSpPr txBox="1"/>
          <p:nvPr/>
        </p:nvSpPr>
        <p:spPr>
          <a:xfrm>
            <a:off x="7620000" y="4800600"/>
            <a:ext cx="37592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P = 10</a:t>
            </a:r>
            <a:r>
              <a:rPr lang="en-US" sz="1100" noProof="1">
                <a:solidFill>
                  <a:srgbClr val="6E747B"/>
                </a:solidFill>
                <a:latin typeface="Inter"/>
                <a:ea typeface="Inter"/>
              </a:rPr>
              <a:t> — precision, soldered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M = 2¹⁰ = 1,024</a:t>
            </a:r>
            <a:r>
              <a:rPr lang="en-US" sz="1100" noProof="1">
                <a:solidFill>
                  <a:srgbClr val="6E747B"/>
                </a:solidFill>
                <a:latin typeface="Inter"/>
                <a:ea typeface="Inter"/>
              </a:rPr>
              <a:t> — registers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b = 32</a:t>
            </a:r>
            <a:r>
              <a:rPr lang="en-US" sz="1100" noProof="1">
                <a:solidFill>
                  <a:srgbClr val="6E747B"/>
                </a:solidFill>
                <a:latin typeface="Inter"/>
                <a:ea typeface="Inter"/>
              </a:rPr>
              <a:t> — bits per register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1A1D20"/>
                </a:solidFill>
                <a:latin typeface="JetBrains Mono"/>
                <a:ea typeface="JetBrains Mono"/>
              </a:rPr>
              <a:t>M·b = 32,768</a:t>
            </a:r>
            <a:r>
              <a:rPr lang="en-US" sz="1100" noProof="1">
                <a:solidFill>
                  <a:srgbClr val="6E747B"/>
                </a:solidFill>
                <a:latin typeface="Inter"/>
                <a:ea typeface="Inter"/>
              </a:rPr>
              <a:t> — sites = </a:t>
            </a:r>
            <a:r>
              <a:rPr lang="en-US" sz="1100" noProof="1" b="1">
                <a:solidFill>
                  <a:srgbClr val="6E747B"/>
                </a:solidFill>
                <a:latin typeface="Inter"/>
                <a:ea typeface="Inter"/>
              </a:rPr>
              <a:t>4 KB</a:t>
            </a:r>
            <a:r>
              <a:rPr lang="en-US" sz="1100" noProof="1">
                <a:solidFill>
                  <a:srgbClr val="6E747B"/>
                </a:solidFill>
                <a:latin typeface="Inter"/>
                <a:ea typeface="Inter"/>
              </a:rPr>
              <a:t> packed</a:t>
            </a:r>
            <a:endParaRPr lang="en-US" sz="1100" noProof="1"/>
          </a:p>
        </p:txBody>
      </p:sp>
      <p:sp>
        <p:nvSpPr>
          <p:cNvPr id="38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39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04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04 · THE STATE MACHINE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One equation: every term is an HLLSet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eq-box"/>
          <p:cNvSpPr/>
          <p:nvPr/>
        </p:nvSpPr>
        <p:spPr>
          <a:xfrm>
            <a:off x="812800" y="1574800"/>
            <a:ext cx="10566400" cy="8128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6" name="eq-main"/>
          <p:cNvSpPr txBox="1"/>
          <p:nvPr/>
        </p:nvSpPr>
        <p:spPr>
          <a:xfrm>
            <a:off x="812800" y="1574800"/>
            <a:ext cx="10566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1A1D20"/>
                </a:solidFill>
                <a:latin typeface="JetBrains Mono"/>
                <a:ea typeface="JetBrains Mono"/>
              </a:rPr>
              <a:t>H(t) = ( S(t),  H(t−1),  D,  R,  N )</a:t>
            </a:r>
            <a:endParaRPr lang="en-US" sz="2000" noProof="1"/>
          </a:p>
        </p:txBody>
      </p:sp>
      <p:sp>
        <p:nvSpPr>
          <p:cNvPr id="7" name="venn-label"/>
          <p:cNvSpPr txBox="1"/>
          <p:nvPr/>
        </p:nvSpPr>
        <p:spPr>
          <a:xfrm>
            <a:off x="812800" y="2717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THE TEMPORAL SIGNATURE OF A TRANSITION</a:t>
            </a:r>
            <a:endParaRPr lang="en-US" sz="1000" noProof="1"/>
          </a:p>
        </p:txBody>
      </p:sp>
      <p:sp>
        <p:nvSpPr>
          <p:cNvPr id="8" name="venn-s"/>
          <p:cNvSpPr/>
          <p:nvPr/>
        </p:nvSpPr>
        <p:spPr>
          <a:xfrm>
            <a:off x="1143000" y="3175000"/>
            <a:ext cx="2413000" cy="1524000"/>
          </a:xfrm>
          <a:prstGeom prst="ellipse">
            <a:avLst/>
          </a:prstGeom>
          <a:solidFill>
            <a:srgbClr val="1E5B4E">
              <a:alpha val="13333"/>
            </a:srgbClr>
          </a:solidFill>
          <a:ln w="19050">
            <a:solidFill>
              <a:srgbClr val="1E5B4E"/>
            </a:solidFill>
          </a:ln>
        </p:spPr>
      </p:sp>
      <p:sp>
        <p:nvSpPr>
          <p:cNvPr id="9" name="venn-h"/>
          <p:cNvSpPr/>
          <p:nvPr/>
        </p:nvSpPr>
        <p:spPr>
          <a:xfrm>
            <a:off x="2540000" y="3175000"/>
            <a:ext cx="2413000" cy="1524000"/>
          </a:xfrm>
          <a:prstGeom prst="ellipse">
            <a:avLst/>
          </a:prstGeom>
          <a:solidFill>
            <a:srgbClr val="C2521E">
              <a:alpha val="13333"/>
            </a:srgbClr>
          </a:solidFill>
          <a:ln w="19050">
            <a:solidFill>
              <a:srgbClr val="C2521E"/>
            </a:solidFill>
          </a:ln>
        </p:spPr>
      </p:sp>
      <p:sp>
        <p:nvSpPr>
          <p:cNvPr id="10" name="venn-n"/>
          <p:cNvSpPr txBox="1"/>
          <p:nvPr/>
        </p:nvSpPr>
        <p:spPr>
          <a:xfrm>
            <a:off x="1320800" y="3759200"/>
            <a:ext cx="101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E5B4E"/>
                </a:solidFill>
                <a:latin typeface="JetBrains Mono"/>
                <a:ea typeface="JetBrains Mono"/>
              </a:rPr>
              <a:t>N (new)</a:t>
            </a:r>
            <a:endParaRPr lang="en-US" sz="1200" noProof="1"/>
          </a:p>
        </p:txBody>
      </p:sp>
      <p:sp>
        <p:nvSpPr>
          <p:cNvPr id="11" name="venn-r"/>
          <p:cNvSpPr txBox="1"/>
          <p:nvPr/>
        </p:nvSpPr>
        <p:spPr>
          <a:xfrm>
            <a:off x="2489200" y="3759200"/>
            <a:ext cx="1117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A1D20"/>
                </a:solidFill>
                <a:latin typeface="JetBrains Mono"/>
                <a:ea typeface="JetBrains Mono"/>
              </a:rPr>
              <a:t>R</a:t>
            </a:r>
            <a:endParaRPr lang="en-US" sz="1200" noProof="1"/>
          </a:p>
        </p:txBody>
      </p:sp>
      <p:sp>
        <p:nvSpPr>
          <p:cNvPr id="12" name="venn-d"/>
          <p:cNvSpPr txBox="1"/>
          <p:nvPr/>
        </p:nvSpPr>
        <p:spPr>
          <a:xfrm>
            <a:off x="3759200" y="37592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C2521E"/>
                </a:solidFill>
                <a:latin typeface="JetBrains Mono"/>
                <a:ea typeface="JetBrains Mono"/>
              </a:rPr>
              <a:t>D</a:t>
            </a:r>
            <a:endParaRPr lang="en-US" sz="1200" noProof="1"/>
          </a:p>
        </p:txBody>
      </p:sp>
      <p:sp>
        <p:nvSpPr>
          <p:cNvPr id="13" name="venn-s-lab"/>
          <p:cNvSpPr txBox="1"/>
          <p:nvPr/>
        </p:nvSpPr>
        <p:spPr>
          <a:xfrm>
            <a:off x="1143000" y="30226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1E5B4E"/>
                </a:solidFill>
                <a:latin typeface="JetBrains Mono"/>
                <a:ea typeface="JetBrains Mono"/>
              </a:rPr>
              <a:t>S(t) — emerging</a:t>
            </a:r>
            <a:endParaRPr lang="en-US" sz="1000" noProof="1"/>
          </a:p>
        </p:txBody>
      </p:sp>
      <p:sp>
        <p:nvSpPr>
          <p:cNvPr id="14" name="venn-h-lab"/>
          <p:cNvSpPr txBox="1"/>
          <p:nvPr/>
        </p:nvSpPr>
        <p:spPr>
          <a:xfrm>
            <a:off x="3378200" y="30226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C2521E"/>
                </a:solidFill>
                <a:latin typeface="JetBrains Mono"/>
                <a:ea typeface="JetBrains Mono"/>
              </a:rPr>
              <a:t>H(t−1) — committed base</a:t>
            </a:r>
            <a:endParaRPr lang="en-US" sz="1000" noProof="1"/>
          </a:p>
        </p:txBody>
      </p:sp>
      <p:sp>
        <p:nvSpPr>
          <p:cNvPr id="15" name="venn-note"/>
          <p:cNvSpPr txBox="1"/>
          <p:nvPr/>
        </p:nvSpPr>
        <p:spPr>
          <a:xfrm>
            <a:off x="812800" y="49784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747B"/>
                </a:solidFill>
                <a:latin typeface="Inter"/>
                <a:ea typeface="Inter"/>
              </a:rPr>
              <a:t>N, R, D partition the union of the two states into three disjoint pieces — what the new turn brings, what it keeps, what it drops.</a:t>
            </a:r>
            <a:endParaRPr lang="en-US" sz="1100" noProof="1"/>
          </a:p>
        </p:txBody>
      </p:sp>
      <p:sp>
        <p:nvSpPr>
          <p:cNvPr id="16" name="defs-label"/>
          <p:cNvSpPr txBox="1"/>
          <p:nvPr/>
        </p:nvSpPr>
        <p:spPr>
          <a:xfrm>
            <a:off x="6096000" y="2717800"/>
            <a:ext cx="528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THE FIVE TERMS, AS LATTICE OPERATIONS</a:t>
            </a:r>
            <a:endParaRPr lang="en-US" sz="1000" noProof="1"/>
          </a:p>
        </p:txBody>
      </p:sp>
      <p:sp>
        <p:nvSpPr>
          <p:cNvPr id="17" name="d1-name"/>
          <p:cNvSpPr txBox="1"/>
          <p:nvPr/>
        </p:nvSpPr>
        <p:spPr>
          <a:xfrm>
            <a:off x="6096000" y="3048000"/>
            <a:ext cx="528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E5B4E"/>
                </a:solidFill>
                <a:latin typeface="JetBrains Mono"/>
                <a:ea typeface="JetBrains Mono"/>
              </a:rPr>
              <a:t>S(t) — current emerging state (work in progress)</a:t>
            </a:r>
            <a:endParaRPr lang="en-US" sz="1200" noProof="1"/>
          </a:p>
        </p:txBody>
      </p:sp>
      <p:sp>
        <p:nvSpPr>
          <p:cNvPr id="18" name="d1-desc"/>
          <p:cNvSpPr txBox="1"/>
          <p:nvPr/>
        </p:nvSpPr>
        <p:spPr>
          <a:xfrm>
            <a:off x="6096000" y="3302000"/>
            <a:ext cx="528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747B"/>
                </a:solidFill>
                <a:latin typeface="Inter"/>
                <a:ea typeface="Inter"/>
              </a:rPr>
              <a:t>advanced by union each turn:  S(t) ← S(t) ∪ H_turn</a:t>
            </a:r>
            <a:endParaRPr lang="en-US" sz="1100" noProof="1"/>
          </a:p>
        </p:txBody>
      </p:sp>
      <p:sp>
        <p:nvSpPr>
          <p:cNvPr id="19" name="rule-d1"/>
          <p:cNvSpPr/>
          <p:nvPr/>
        </p:nvSpPr>
        <p:spPr>
          <a:xfrm>
            <a:off x="6096000" y="3657600"/>
            <a:ext cx="5283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0" name="d2-name"/>
          <p:cNvSpPr txBox="1"/>
          <p:nvPr/>
        </p:nvSpPr>
        <p:spPr>
          <a:xfrm>
            <a:off x="6096000" y="3810000"/>
            <a:ext cx="528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2521E"/>
                </a:solidFill>
                <a:latin typeface="JetBrains Mono"/>
                <a:ea typeface="JetBrains Mono"/>
              </a:rPr>
              <a:t>H(t−1) — previous committed state (the base)</a:t>
            </a:r>
            <a:endParaRPr lang="en-US" sz="1200" noProof="1"/>
          </a:p>
        </p:txBody>
      </p:sp>
      <p:sp>
        <p:nvSpPr>
          <p:cNvPr id="21" name="d2-desc"/>
          <p:cNvSpPr txBox="1"/>
          <p:nvPr/>
        </p:nvSpPr>
        <p:spPr>
          <a:xfrm>
            <a:off x="6096000" y="4064000"/>
            <a:ext cx="528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747B"/>
                </a:solidFill>
                <a:latin typeface="Inter"/>
                <a:ea typeface="Inter"/>
              </a:rPr>
              <a:t>the tip of the commit DAG; immutable, content-addressed</a:t>
            </a:r>
            <a:endParaRPr lang="en-US" sz="1100" noProof="1"/>
          </a:p>
        </p:txBody>
      </p:sp>
      <p:sp>
        <p:nvSpPr>
          <p:cNvPr id="22" name="rule-d2"/>
          <p:cNvSpPr/>
          <p:nvPr/>
        </p:nvSpPr>
        <p:spPr>
          <a:xfrm>
            <a:off x="6096000" y="4419600"/>
            <a:ext cx="5283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3" name="d3-name"/>
          <p:cNvSpPr txBox="1"/>
          <p:nvPr/>
        </p:nvSpPr>
        <p:spPr>
          <a:xfrm>
            <a:off x="6096000" y="4572000"/>
            <a:ext cx="528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A1D20"/>
                </a:solidFill>
                <a:latin typeface="JetBrains Mono"/>
                <a:ea typeface="JetBrains Mono"/>
              </a:rPr>
              <a:t>N = S(t) \ H(t−1) · R = S(t) ∩ H(t−1) · D = H(t−1) \ S(t)</a:t>
            </a:r>
            <a:endParaRPr lang="en-US" sz="1200" noProof="1"/>
          </a:p>
        </p:txBody>
      </p:sp>
      <p:sp>
        <p:nvSpPr>
          <p:cNvPr id="24" name="d3-desc"/>
          <p:cNvSpPr txBox="1"/>
          <p:nvPr/>
        </p:nvSpPr>
        <p:spPr>
          <a:xfrm>
            <a:off x="6096000" y="4826000"/>
            <a:ext cx="528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747B"/>
                </a:solidFill>
                <a:latin typeface="Inter"/>
                <a:ea typeface="Inter"/>
              </a:rPr>
              <a:t>new · retained · departed — computed per transition</a:t>
            </a:r>
            <a:endParaRPr lang="en-US" sz="1100" noProof="1"/>
          </a:p>
        </p:txBody>
      </p:sp>
      <p:sp>
        <p:nvSpPr>
          <p:cNvPr id="25" name="rule-d3"/>
          <p:cNvSpPr/>
          <p:nvPr/>
        </p:nvSpPr>
        <p:spPr>
          <a:xfrm>
            <a:off x="6096000" y="5181600"/>
            <a:ext cx="5283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6" name="d4-body"/>
          <p:cNvSpPr txBox="1"/>
          <p:nvPr/>
        </p:nvSpPr>
        <p:spPr>
          <a:xfrm>
            <a:off x="6096000" y="5334000"/>
            <a:ext cx="5283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A commit records H(t) and advances the tip atomically; a no-change pass commits nothing. The decomposition is the per-transition reading that all later frames build on.</a:t>
            </a:r>
            <a:endParaRPr lang="en-US" sz="1150" noProof="1"/>
          </a:p>
        </p:txBody>
      </p:sp>
      <p:sp>
        <p:nvSpPr>
          <p:cNvPr id="27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8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05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05 · THE FOUR IDEAS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Four ideas carry the machine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n1"/>
          <p:cNvSpPr txBox="1"/>
          <p:nvPr/>
        </p:nvSpPr>
        <p:spPr>
          <a:xfrm>
            <a:off x="812800" y="1498600"/>
            <a:ext cx="558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2521E"/>
                </a:solidFill>
                <a:latin typeface="JetBrains Mono"/>
                <a:ea typeface="JetBrains Mono"/>
              </a:rPr>
              <a:t>1</a:t>
            </a:r>
            <a:endParaRPr lang="en-US" sz="2600" noProof="1"/>
          </a:p>
        </p:txBody>
      </p:sp>
      <p:sp>
        <p:nvSpPr>
          <p:cNvPr id="6" name="n1-name"/>
          <p:cNvSpPr txBox="1"/>
          <p:nvPr/>
        </p:nvSpPr>
        <p:spPr>
          <a:xfrm>
            <a:off x="1524000" y="14986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A1D20"/>
                </a:solidFill>
                <a:latin typeface="Space Grotesk"/>
                <a:ea typeface="Space Grotesk"/>
              </a:rPr>
              <a:t>One universe</a:t>
            </a:r>
            <a:endParaRPr lang="en-US" sz="1500" noProof="1"/>
          </a:p>
        </p:txBody>
      </p:sp>
      <p:sp>
        <p:nvSpPr>
          <p:cNvPr id="7" name="n1-desc"/>
          <p:cNvSpPr txBox="1"/>
          <p:nvPr/>
        </p:nvSpPr>
        <p:spPr>
          <a:xfrm>
            <a:off x="1524000" y="1778000"/>
            <a:ext cx="9855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Every HLLSet is a node of the same Boolean lattice over the bit plane. Nothing new is created; a computation names a lattice expression and discovers the node.</a:t>
            </a:r>
            <a:endParaRPr lang="en-US" sz="1150" noProof="1"/>
          </a:p>
        </p:txBody>
      </p:sp>
      <p:sp>
        <p:nvSpPr>
          <p:cNvPr id="8" name="rule-1"/>
          <p:cNvSpPr/>
          <p:nvPr/>
        </p:nvSpPr>
        <p:spPr>
          <a:xfrm>
            <a:off x="1524000" y="2362200"/>
            <a:ext cx="9855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812800" y="2514600"/>
            <a:ext cx="558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2521E"/>
                </a:solidFill>
                <a:latin typeface="JetBrains Mono"/>
                <a:ea typeface="JetBrains Mono"/>
              </a:rPr>
              <a:t>2</a:t>
            </a:r>
            <a:endParaRPr lang="en-US" sz="2600" noProof="1"/>
          </a:p>
        </p:txBody>
      </p:sp>
      <p:sp>
        <p:nvSpPr>
          <p:cNvPr id="10" name="n2-name"/>
          <p:cNvSpPr txBox="1"/>
          <p:nvPr/>
        </p:nvSpPr>
        <p:spPr>
          <a:xfrm>
            <a:off x="1524000" y="245745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A1D20"/>
                </a:solidFill>
                <a:latin typeface="Space Grotesk"/>
                <a:ea typeface="Space Grotesk"/>
              </a:rPr>
              <a:t>The morphism is the contract (IICA)</a:t>
            </a:r>
            <a:endParaRPr lang="en-US" sz="1500" noProof="1"/>
          </a:p>
        </p:txBody>
      </p:sp>
      <p:sp>
        <p:nvSpPr>
          <p:cNvPr id="11" name="n2-desc"/>
          <p:cNvSpPr txBox="1"/>
          <p:nvPr/>
        </p:nvSpPr>
        <p:spPr>
          <a:xfrm>
            <a:off x="1524000" y="2711450"/>
            <a:ext cx="9855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The token→bit connection is a chosen measurement μ. Only IICA is required — idempotent, immutable, content-addressed — and any IICA algorithm is interchangeable. Two instances appear here: the flat projection μ_flat (a join homomorphism) and windowed n-gram ingestion μ_ng (inclusion-isotonic only).</a:t>
            </a:r>
            <a:endParaRPr lang="en-US" sz="1150" noProof="1"/>
          </a:p>
        </p:txBody>
      </p:sp>
      <p:sp>
        <p:nvSpPr>
          <p:cNvPr id="12" name="rule-2"/>
          <p:cNvSpPr/>
          <p:nvPr/>
        </p:nvSpPr>
        <p:spPr>
          <a:xfrm>
            <a:off x="1524000" y="3517900"/>
            <a:ext cx="9855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812800" y="3530600"/>
            <a:ext cx="558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2521E"/>
                </a:solidFill>
                <a:latin typeface="JetBrains Mono"/>
                <a:ea typeface="JetBrains Mono"/>
              </a:rPr>
              <a:t>3</a:t>
            </a:r>
            <a:endParaRPr lang="en-US" sz="2600" noProof="1"/>
          </a:p>
        </p:txBody>
      </p:sp>
      <p:sp>
        <p:nvSpPr>
          <p:cNvPr id="14" name="n3-name"/>
          <p:cNvSpPr txBox="1"/>
          <p:nvPr/>
        </p:nvSpPr>
        <p:spPr>
          <a:xfrm>
            <a:off x="1524000" y="36195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A1D20"/>
                </a:solidFill>
                <a:latin typeface="Space Grotesk"/>
                <a:ea typeface="Space Grotesk"/>
              </a:rPr>
              <a:t>The fiber is global</a:t>
            </a:r>
            <a:endParaRPr lang="en-US" sz="1500" noProof="1"/>
          </a:p>
        </p:txBody>
      </p:sp>
      <p:sp>
        <p:nvSpPr>
          <p:cNvPr id="15" name="n3-desc"/>
          <p:cNvSpPr txBox="1"/>
          <p:nvPr/>
        </p:nvSpPr>
        <p:spPr>
          <a:xfrm>
            <a:off x="1524000" y="3873500"/>
            <a:ext cx="9855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The same bit in any HLLSet points to the same lookup-table fiber: materialization is a property of the bit address, never of the state that contains it — exact on the builders, probabilistic on the extras.</a:t>
            </a:r>
            <a:endParaRPr lang="en-US" sz="1150" noProof="1"/>
          </a:p>
        </p:txBody>
      </p:sp>
      <p:sp>
        <p:nvSpPr>
          <p:cNvPr id="16" name="rule-3"/>
          <p:cNvSpPr/>
          <p:nvPr/>
        </p:nvSpPr>
        <p:spPr>
          <a:xfrm>
            <a:off x="1524000" y="4394200"/>
            <a:ext cx="9855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7" name="n4"/>
          <p:cNvSpPr txBox="1"/>
          <p:nvPr/>
        </p:nvSpPr>
        <p:spPr>
          <a:xfrm>
            <a:off x="812800" y="4546600"/>
            <a:ext cx="558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2521E"/>
                </a:solidFill>
                <a:latin typeface="JetBrains Mono"/>
                <a:ea typeface="JetBrains Mono"/>
              </a:rPr>
              <a:t>4</a:t>
            </a:r>
            <a:endParaRPr lang="en-US" sz="2600" noProof="1"/>
          </a:p>
        </p:txBody>
      </p:sp>
      <p:sp>
        <p:nvSpPr>
          <p:cNvPr id="18" name="n4-name"/>
          <p:cNvSpPr txBox="1"/>
          <p:nvPr/>
        </p:nvSpPr>
        <p:spPr>
          <a:xfrm>
            <a:off x="1524000" y="45466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A1D20"/>
                </a:solidFill>
                <a:latin typeface="Space Grotesk"/>
                <a:ea typeface="Space Grotesk"/>
              </a:rPr>
              <a:t>Decompositions are frames (readings)</a:t>
            </a:r>
            <a:endParaRPr lang="en-US" sz="1500" noProof="1"/>
          </a:p>
        </p:txBody>
      </p:sp>
      <p:sp>
        <p:nvSpPr>
          <p:cNvPr id="19" name="n4-desc"/>
          <p:cNvSpPr txBox="1"/>
          <p:nvPr/>
        </p:nvSpPr>
        <p:spPr>
          <a:xfrm>
            <a:off x="1524000" y="4826000"/>
            <a:ext cx="9855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D/R/N, joined perceptrons, the ring basis — each is a named set of dimensions through which a node is read. A frame φ_D maps a node to coordinates, and φ_D(X(t)) over time is the state trajectory.</a:t>
            </a:r>
            <a:endParaRPr lang="en-US" sz="1150" noProof="1"/>
          </a:p>
        </p:txBody>
      </p:sp>
      <p:sp>
        <p:nvSpPr>
          <p:cNvPr id="20" name="rule-4"/>
          <p:cNvSpPr/>
          <p:nvPr/>
        </p:nvSpPr>
        <p:spPr>
          <a:xfrm>
            <a:off x="1524000" y="5410200"/>
            <a:ext cx="9855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1" name="bottom-note"/>
          <p:cNvSpPr txBox="1"/>
          <p:nvPr/>
        </p:nvSpPr>
        <p:spPr>
          <a:xfrm>
            <a:off x="812800" y="5613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The first two ideas make the state safe to share; the third makes it readable; the fourth makes it </a:t>
            </a:r>
            <a:r>
              <a:rPr lang="en-US" sz="1150" noProof="1" b="1">
                <a:solidFill>
                  <a:srgbClr val="1A1D20"/>
                </a:solidFill>
                <a:latin typeface="Inter"/>
                <a:ea typeface="Inter"/>
              </a:rPr>
              <a:t>legible over time</a:t>
            </a: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 — the trajectory is a choice of lens, not a change to the state.</a:t>
            </a:r>
            <a:endParaRPr lang="en-US" sz="1150" noProof="1"/>
          </a:p>
        </p:txBody>
      </p:sp>
      <p:sp>
        <p:nvSpPr>
          <p:cNvPr id="22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3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06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06 · EXECUTION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S(t) is the state in a stateless system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2521E"/>
                </a:solidFill>
                <a:latin typeface="JetBrains Mono"/>
                <a:ea typeface="JetBrains Mono"/>
              </a:rPr>
              <a:t>IICA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Idempotence · Immutability · Content Addressability — removes the contradiction: S(t) is an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immutable, content-addressed value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, so it is safe to share and safe to rebuild.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processing unit (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[UM]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) is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stateless and disposable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: it reads the tip, processes incoming tokens, and proposes the next state.</a:t>
            </a:r>
            <a:endParaRPr lang="en-US" sz="1250" noProof="1"/>
          </a:p>
        </p:txBody>
      </p:sp>
      <p:sp>
        <p:nvSpPr>
          <p:cNvPr id="6" name="left-body-2"/>
          <p:cNvSpPr txBox="1"/>
          <p:nvPr/>
        </p:nvSpPr>
        <p:spPr>
          <a:xfrm>
            <a:off x="812800" y="3022600"/>
            <a:ext cx="5969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S(t) and H(t−1) live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outside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the [UM] — in a shareable cache (</a:t>
            </a:r>
            <a:r>
              <a:rPr lang="en-US" sz="1250" noProof="1">
                <a:solidFill>
                  <a:srgbClr val="1A1D20"/>
                </a:solidFill>
                <a:latin typeface="JetBrains Mono"/>
                <a:ea typeface="JetBrains Mono"/>
              </a:rPr>
              <a:t>ewm-app::StateCache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) backed by a persistent store (</a:t>
            </a:r>
            <a:r>
              <a:rPr lang="en-US" sz="1250" noProof="1">
                <a:solidFill>
                  <a:srgbClr val="1A1D20"/>
                </a:solidFill>
                <a:latin typeface="JetBrains Mono"/>
                <a:ea typeface="JetBrains Mono"/>
              </a:rPr>
              <a:t>ewm-git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). A commit is the atomic advance of the tip.</a:t>
            </a:r>
            <a:endParaRPr lang="en-US" sz="1250" noProof="1"/>
          </a:p>
        </p:txBody>
      </p:sp>
      <p:sp>
        <p:nvSpPr>
          <p:cNvPr id="7" name="strip-bar"/>
          <p:cNvSpPr/>
          <p:nvPr/>
        </p:nvSpPr>
        <p:spPr>
          <a:xfrm>
            <a:off x="812800" y="4318000"/>
            <a:ext cx="38100" cy="8128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8" name="strip-text"/>
          <p:cNvSpPr txBox="1"/>
          <p:nvPr/>
        </p:nvSpPr>
        <p:spPr>
          <a:xfrm>
            <a:off x="1016000" y="43180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Recovery is a pop, not a rebuild.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Drop the broken [UM] and its cache, restore from the tip, continue with a fresh unit. Uncommitted work is reprocessed — harmless by idempotence.</a:t>
            </a:r>
            <a:endParaRPr lang="en-US" sz="1200" noProof="1"/>
          </a:p>
        </p:txBody>
      </p:sp>
      <p:sp>
        <p:nvSpPr>
          <p:cNvPr id="9" name="replay-box"/>
          <p:cNvSpPr/>
          <p:nvPr/>
        </p:nvSpPr>
        <p:spPr>
          <a:xfrm>
            <a:off x="812800" y="5435600"/>
            <a:ext cx="5969000" cy="7366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10" name="replay-text"/>
          <p:cNvSpPr txBox="1"/>
          <p:nvPr/>
        </p:nvSpPr>
        <p:spPr>
          <a:xfrm>
            <a:off x="1016000" y="5435600"/>
            <a:ext cx="5588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Safe-replay principle: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because ingestion is idempotent and the join is union, reprocessing an uncommitted turn after a crash yields the same node as processing it once. The committed stack is never mutated.</a:t>
            </a:r>
            <a:endParaRPr lang="en-US" sz="1050" noProof="1"/>
          </a:p>
        </p:txBody>
      </p:sp>
      <p:sp>
        <p:nvSpPr>
          <p:cNvPr id="11" name="store-box"/>
          <p:cNvSpPr/>
          <p:nvPr/>
        </p:nvSpPr>
        <p:spPr>
          <a:xfrm>
            <a:off x="7620000" y="1549400"/>
            <a:ext cx="3759200" cy="8128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12" name="store-text"/>
          <p:cNvSpPr txBox="1"/>
          <p:nvPr/>
        </p:nvSpPr>
        <p:spPr>
          <a:xfrm>
            <a:off x="7823200" y="1549400"/>
            <a:ext cx="3352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1A1D20"/>
                </a:solidFill>
                <a:latin typeface="JetBrains Mono"/>
                <a:ea typeface="JetBrains Mono"/>
              </a:rPr>
              <a:t>persistent store · ewm-git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the committed stack — a content-addressed DAG; head = tip</a:t>
            </a:r>
            <a:endParaRPr lang="en-US" sz="1600" noProof="1"/>
          </a:p>
        </p:txBody>
      </p:sp>
      <p:sp>
        <p:nvSpPr>
          <p:cNvPr id="13" name="arr1"/>
          <p:cNvSpPr txBox="1"/>
          <p:nvPr/>
        </p:nvSpPr>
        <p:spPr>
          <a:xfrm>
            <a:off x="7620000" y="24384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6E747B"/>
                </a:solidFill>
                <a:latin typeface="JetBrains Mono"/>
                <a:ea typeface="JetBrains Mono"/>
              </a:rPr>
              <a:t>load ↑ · commit ↓</a:t>
            </a:r>
            <a:endParaRPr lang="en-US" sz="950" noProof="1"/>
          </a:p>
        </p:txBody>
      </p:sp>
      <p:sp>
        <p:nvSpPr>
          <p:cNvPr id="14" name="cache-box"/>
          <p:cNvSpPr/>
          <p:nvPr/>
        </p:nvSpPr>
        <p:spPr>
          <a:xfrm>
            <a:off x="7620000" y="2717800"/>
            <a:ext cx="3759200" cy="1016000"/>
          </a:xfrm>
          <a:prstGeom prst="rect">
            <a:avLst/>
          </a:prstGeom>
          <a:solidFill>
            <a:srgbClr val="1E5B4E">
              <a:alpha val="7059"/>
            </a:srgbClr>
          </a:solidFill>
          <a:ln w="12700">
            <a:solidFill>
              <a:srgbClr val="1E5B4E"/>
            </a:solidFill>
          </a:ln>
        </p:spPr>
      </p:sp>
      <p:sp>
        <p:nvSpPr>
          <p:cNvPr id="15" name="cache-text"/>
          <p:cNvSpPr txBox="1"/>
          <p:nvPr/>
        </p:nvSpPr>
        <p:spPr>
          <a:xfrm>
            <a:off x="7823200" y="2819400"/>
            <a:ext cx="3352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1E5B4E"/>
                </a:solidFill>
                <a:latin typeface="JetBrains Mono"/>
                <a:ea typeface="JetBrains Mono"/>
              </a:rPr>
              <a:t>shared cache · StateCache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S(t) working set + H(t−1) materialized — a pure value, shareable between units</a:t>
            </a:r>
            <a:endParaRPr lang="en-US" sz="1600" noProof="1"/>
          </a:p>
        </p:txBody>
      </p:sp>
      <p:sp>
        <p:nvSpPr>
          <p:cNvPr id="16" name="arr2"/>
          <p:cNvSpPr txBox="1"/>
          <p:nvPr/>
        </p:nvSpPr>
        <p:spPr>
          <a:xfrm>
            <a:off x="7620000" y="38100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6E747B"/>
                </a:solidFill>
                <a:latin typeface="JetBrains Mono"/>
                <a:ea typeface="JetBrains Mono"/>
              </a:rPr>
              <a:t>read ↑ · propose ↓</a:t>
            </a:r>
            <a:endParaRPr lang="en-US" sz="950" noProof="1"/>
          </a:p>
        </p:txBody>
      </p:sp>
      <p:sp>
        <p:nvSpPr>
          <p:cNvPr id="17" name="um-box"/>
          <p:cNvSpPr/>
          <p:nvPr/>
        </p:nvSpPr>
        <p:spPr>
          <a:xfrm>
            <a:off x="7620000" y="4038600"/>
            <a:ext cx="3759200" cy="8128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18" name="um-text"/>
          <p:cNvSpPr txBox="1"/>
          <p:nvPr/>
        </p:nvSpPr>
        <p:spPr>
          <a:xfrm>
            <a:off x="7823200" y="4038600"/>
            <a:ext cx="3352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1A1D20"/>
                </a:solidFill>
                <a:latin typeface="JetBrains Mono"/>
                <a:ea typeface="JetBrains Mono"/>
              </a:rPr>
              <a:t>[UM] · ewm-app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stateless, disposable — owns only the store handle</a:t>
            </a:r>
            <a:endParaRPr lang="en-US" sz="1600" noProof="1"/>
          </a:p>
        </p:txBody>
      </p:sp>
      <p:sp>
        <p:nvSpPr>
          <p:cNvPr id="19" name="right-note"/>
          <p:cNvSpPr txBox="1"/>
          <p:nvPr/>
        </p:nvSpPr>
        <p:spPr>
          <a:xfrm>
            <a:off x="7620000" y="4978400"/>
            <a:ext cx="37592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One data structure over three locations. Caching and persistence are separated by content addressing: the cache is rebuildable from the tip, and a crash costs only the uncommitted turn.</a:t>
            </a:r>
            <a:endParaRPr lang="en-US" sz="1050" noProof="1"/>
          </a:p>
        </p:txBody>
      </p:sp>
      <p:sp>
        <p:nvSpPr>
          <p:cNvPr id="20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1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07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07 · THE ARCHITECTURE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Two layers: a foundation that knows no turns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f-label"/>
          <p:cNvSpPr txBox="1"/>
          <p:nvPr/>
        </p:nvSpPr>
        <p:spPr>
          <a:xfrm>
            <a:off x="812800" y="14732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01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FOUNDATION</a:t>
            </a:r>
            <a:endParaRPr lang="en-US" sz="1100" noProof="1"/>
          </a:p>
        </p:txBody>
      </p:sp>
      <p:sp>
        <p:nvSpPr>
          <p:cNvPr id="6" name="f-body"/>
          <p:cNvSpPr txBox="1"/>
          <p:nvPr/>
        </p:nvSpPr>
        <p:spPr>
          <a:xfrm>
            <a:off x="2667000" y="1473200"/>
            <a:ext cx="8712200" cy="10236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hllset-core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the HLLSet bit plane (a Roaring bitmap) and its set algebra · </a:t>
            </a: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hllset-lut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the LUT lattice: token interpretation, content-addressed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hllset-morphisms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ingest / materialize + default API · </a:t>
            </a: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hllset-contracts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soldered invariants: P=10, M=1024, b=32, MurmurHash3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hllset-cid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SHA-1 CIDs · </a:t>
            </a: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hllset-storage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memory + sled persistence</a:t>
            </a:r>
            <a:endParaRPr lang="en-US" sz="1100" noProof="1"/>
          </a:p>
        </p:txBody>
      </p:sp>
      <p:sp>
        <p:nvSpPr>
          <p:cNvPr id="7" name="f-note"/>
          <p:cNvSpPr txBox="1"/>
          <p:nvPr/>
        </p:nvSpPr>
        <p:spPr>
          <a:xfrm>
            <a:off x="2667000" y="2768600"/>
            <a:ext cx="8712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vocabulary-agnostic — no notion of a "turn" or a "world"</a:t>
            </a:r>
            <a:endParaRPr lang="en-US" sz="1000" noProof="1"/>
          </a:p>
        </p:txBody>
      </p:sp>
      <p:sp>
        <p:nvSpPr>
          <p:cNvPr id="8" name="rule-f"/>
          <p:cNvSpPr/>
          <p:nvPr/>
        </p:nvSpPr>
        <p:spPr>
          <a:xfrm>
            <a:off x="812800" y="305435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9" name="s-label"/>
          <p:cNvSpPr txBox="1"/>
          <p:nvPr/>
        </p:nvSpPr>
        <p:spPr>
          <a:xfrm>
            <a:off x="812800" y="326009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02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STATE LAYER</a:t>
            </a:r>
            <a:endParaRPr lang="en-US" sz="1100" noProof="1"/>
          </a:p>
        </p:txBody>
      </p:sp>
      <p:sp>
        <p:nvSpPr>
          <p:cNvPr id="10" name="s-body"/>
          <p:cNvSpPr txBox="1"/>
          <p:nvPr/>
        </p:nvSpPr>
        <p:spPr>
          <a:xfrm>
            <a:off x="2667000" y="3149600"/>
            <a:ext cx="8712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ewm-git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the committed stack: commit DAG, tip, recovery · </a:t>
            </a: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ewm-app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the stateless [UM] harness + shared StateCache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context-tree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Merkle tree over the working set (S(t) presentation) · </a:t>
            </a: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ewm-cache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Arrow-backed extended cache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ewm-boolring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the GF(2) ring: BoolWindow + RingStats · </a:t>
            </a: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ewm-ops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content-addressed operational graph (value / program lattice)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ewm-sm-explore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read-only explorer of the three-layer state</a:t>
            </a:r>
            <a:endParaRPr lang="en-US" sz="1100" noProof="1"/>
          </a:p>
        </p:txBody>
      </p:sp>
      <p:sp>
        <p:nvSpPr>
          <p:cNvPr id="11" name="s-note"/>
          <p:cNvSpPr txBox="1"/>
          <p:nvPr/>
        </p:nvSpPr>
        <p:spPr>
          <a:xfrm>
            <a:off x="2667000" y="4724400"/>
            <a:ext cx="8712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where the machine lives</a:t>
            </a:r>
            <a:endParaRPr lang="en-US" sz="1000" noProof="1"/>
          </a:p>
        </p:txBody>
      </p:sp>
      <p:sp>
        <p:nvSpPr>
          <p:cNvPr id="12" name="rule-s"/>
          <p:cNvSpPr/>
          <p:nvPr/>
        </p:nvSpPr>
        <p:spPr>
          <a:xfrm>
            <a:off x="812800" y="505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3" name="h-label"/>
          <p:cNvSpPr txBox="1"/>
          <p:nvPr/>
        </p:nvSpPr>
        <p:spPr>
          <a:xfrm>
            <a:off x="812800" y="52324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03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HOSTS</a:t>
            </a:r>
            <a:endParaRPr lang="en-US" sz="1100" noProof="1"/>
          </a:p>
        </p:txBody>
      </p:sp>
      <p:sp>
        <p:nvSpPr>
          <p:cNvPr id="14" name="h-body"/>
          <p:cNvSpPr txBox="1"/>
          <p:nvPr/>
        </p:nvSpPr>
        <p:spPr>
          <a:xfrm>
            <a:off x="2667000" y="5232400"/>
            <a:ext cx="8712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ewm-scene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LLM ↔ HLLSet side-car helper (direct morphisms) · </a:t>
            </a: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ewm-flux-host</a:t>
            </a:r>
            <a:r>
              <a:rPr lang="en-US" sz="1100" noProof="1">
                <a:solidFill>
                  <a:srgbClr val="1A1D20"/>
                </a:solidFill>
                <a:latin typeface="Inter"/>
                <a:ea typeface="Inter"/>
              </a:rPr>
              <a:t> — side-car host adapter for a rectified-flow sampler</a:t>
            </a:r>
            <a:endParaRPr lang="en-US" sz="1100" noProof="1"/>
          </a:p>
        </p:txBody>
      </p:sp>
      <p:sp>
        <p:nvSpPr>
          <p:cNvPr id="15" name="h-note"/>
          <p:cNvSpPr txBox="1"/>
          <p:nvPr/>
        </p:nvSpPr>
        <p:spPr>
          <a:xfrm>
            <a:off x="2667000" y="5969000"/>
            <a:ext cx="8712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the host is never modified — the state layer attaches beside it</a:t>
            </a:r>
            <a:endParaRPr lang="en-US" sz="1000" noProof="1"/>
          </a:p>
        </p:txBody>
      </p:sp>
      <p:sp>
        <p:nvSpPr>
          <p:cNvPr id="16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08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08 · THE SIDE-CAR LOOP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One vocabulary-aware step; everything below is generic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step1-box"/>
          <p:cNvSpPr/>
          <p:nvPr/>
        </p:nvSpPr>
        <p:spPr>
          <a:xfrm>
            <a:off x="812800" y="1778000"/>
            <a:ext cx="1625600" cy="98171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6" name="step1-text"/>
          <p:cNvSpPr txBox="1"/>
          <p:nvPr/>
        </p:nvSpPr>
        <p:spPr>
          <a:xfrm>
            <a:off x="914400" y="1778000"/>
            <a:ext cx="1422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1A1D20"/>
                </a:solidFill>
                <a:latin typeface="JetBrains Mono"/>
                <a:ea typeface="JetBrains Mono"/>
              </a:rPr>
              <a:t>host encodings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f32 vectors</a:t>
            </a:r>
            <a:endParaRPr lang="en-US" sz="1600" noProof="1"/>
          </a:p>
        </p:txBody>
      </p:sp>
      <p:sp>
        <p:nvSpPr>
          <p:cNvPr id="7" name="arrow1"/>
          <p:cNvSpPr txBox="1"/>
          <p:nvPr/>
        </p:nvSpPr>
        <p:spPr>
          <a:xfrm>
            <a:off x="2489200" y="1778000"/>
            <a:ext cx="304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6E747B"/>
                </a:solidFill>
                <a:latin typeface="JetBrains Mono"/>
                <a:ea typeface="JetBrains Mono"/>
              </a:rPr>
              <a:t>→</a:t>
            </a:r>
            <a:endParaRPr lang="en-US" sz="1300" noProof="1"/>
          </a:p>
        </p:txBody>
      </p:sp>
      <p:sp>
        <p:nvSpPr>
          <p:cNvPr id="8" name="step2-box"/>
          <p:cNvSpPr/>
          <p:nvPr/>
        </p:nvSpPr>
        <p:spPr>
          <a:xfrm>
            <a:off x="2844800" y="1778000"/>
            <a:ext cx="1905000" cy="981710"/>
          </a:xfrm>
          <a:prstGeom prst="rect">
            <a:avLst/>
          </a:prstGeom>
          <a:solidFill>
            <a:srgbClr val="C2521E">
              <a:alpha val="7843"/>
            </a:srgbClr>
          </a:solidFill>
          <a:ln w="12700">
            <a:solidFill>
              <a:srgbClr val="C2521E"/>
            </a:solidFill>
          </a:ln>
        </p:spPr>
      </p:sp>
      <p:sp>
        <p:nvSpPr>
          <p:cNvPr id="9" name="step2-text"/>
          <p:cNvSpPr txBox="1"/>
          <p:nvPr/>
        </p:nvSpPr>
        <p:spPr>
          <a:xfrm>
            <a:off x="2946400" y="1863090"/>
            <a:ext cx="1701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C2521E"/>
                </a:solidFill>
                <a:latin typeface="JetBrains Mono"/>
                <a:ea typeface="JetBrains Mono"/>
              </a:rPr>
              <a:t>codebook encoder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only vocabulary-aware step</a:t>
            </a:r>
            <a:endParaRPr lang="en-US" sz="1600" noProof="1"/>
          </a:p>
        </p:txBody>
      </p:sp>
      <p:sp>
        <p:nvSpPr>
          <p:cNvPr id="10" name="arrow2"/>
          <p:cNvSpPr txBox="1"/>
          <p:nvPr/>
        </p:nvSpPr>
        <p:spPr>
          <a:xfrm>
            <a:off x="4800600" y="1778000"/>
            <a:ext cx="304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6E747B"/>
                </a:solidFill>
                <a:latin typeface="JetBrains Mono"/>
                <a:ea typeface="JetBrains Mono"/>
              </a:rPr>
              <a:t>→</a:t>
            </a:r>
            <a:endParaRPr lang="en-US" sz="1300" noProof="1"/>
          </a:p>
        </p:txBody>
      </p:sp>
      <p:sp>
        <p:nvSpPr>
          <p:cNvPr id="11" name="step3-box"/>
          <p:cNvSpPr/>
          <p:nvPr/>
        </p:nvSpPr>
        <p:spPr>
          <a:xfrm>
            <a:off x="5156200" y="1778000"/>
            <a:ext cx="1625600" cy="981710"/>
          </a:xfrm>
          <a:prstGeom prst="rect">
            <a:avLst/>
          </a:prstGeom>
          <a:solidFill>
            <a:srgbClr val="1E5B4E">
              <a:alpha val="7843"/>
            </a:srgbClr>
          </a:solidFill>
          <a:ln w="12700">
            <a:solidFill>
              <a:srgbClr val="1E5B4E"/>
            </a:solidFill>
          </a:ln>
        </p:spPr>
      </p:sp>
      <p:sp>
        <p:nvSpPr>
          <p:cNvPr id="12" name="step3-text"/>
          <p:cNvSpPr txBox="1"/>
          <p:nvPr/>
        </p:nvSpPr>
        <p:spPr>
          <a:xfrm>
            <a:off x="5257800" y="1778000"/>
            <a:ext cx="1422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1E5B4E"/>
                </a:solidFill>
                <a:latin typeface="JetBrains Mono"/>
                <a:ea typeface="JetBrains Mono"/>
              </a:rPr>
              <a:t>ingest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tid stream → HLLSets</a:t>
            </a:r>
            <a:endParaRPr lang="en-US" sz="1600" noProof="1"/>
          </a:p>
        </p:txBody>
      </p:sp>
      <p:sp>
        <p:nvSpPr>
          <p:cNvPr id="13" name="arrow3"/>
          <p:cNvSpPr txBox="1"/>
          <p:nvPr/>
        </p:nvSpPr>
        <p:spPr>
          <a:xfrm>
            <a:off x="6832600" y="1778000"/>
            <a:ext cx="304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6E747B"/>
                </a:solidFill>
                <a:latin typeface="JetBrains Mono"/>
                <a:ea typeface="JetBrains Mono"/>
              </a:rPr>
              <a:t>→</a:t>
            </a:r>
            <a:endParaRPr lang="en-US" sz="1300" noProof="1"/>
          </a:p>
        </p:txBody>
      </p:sp>
      <p:sp>
        <p:nvSpPr>
          <p:cNvPr id="14" name="step4-box"/>
          <p:cNvSpPr/>
          <p:nvPr/>
        </p:nvSpPr>
        <p:spPr>
          <a:xfrm>
            <a:off x="7188200" y="1778000"/>
            <a:ext cx="1905000" cy="981710"/>
          </a:xfrm>
          <a:prstGeom prst="rect">
            <a:avLst/>
          </a:prstGeom>
          <a:solidFill>
            <a:srgbClr val="1E5B4E">
              <a:alpha val="7843"/>
            </a:srgbClr>
          </a:solidFill>
          <a:ln w="12700">
            <a:solidFill>
              <a:srgbClr val="1E5B4E"/>
            </a:solidFill>
          </a:ln>
        </p:spPr>
      </p:sp>
      <p:sp>
        <p:nvSpPr>
          <p:cNvPr id="15" name="step4-text"/>
          <p:cNvSpPr txBox="1"/>
          <p:nvPr/>
        </p:nvSpPr>
        <p:spPr>
          <a:xfrm>
            <a:off x="7289800" y="1778000"/>
            <a:ext cx="1701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1E5B4E"/>
                </a:solidFill>
                <a:latin typeface="JetBrains Mono"/>
                <a:ea typeface="JetBrains Mono"/>
              </a:rPr>
              <a:t>lattice state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S(t), D/R/N, ring</a:t>
            </a:r>
            <a:endParaRPr lang="en-US" sz="1600" noProof="1"/>
          </a:p>
        </p:txBody>
      </p:sp>
      <p:sp>
        <p:nvSpPr>
          <p:cNvPr id="16" name="arrow4"/>
          <p:cNvSpPr txBox="1"/>
          <p:nvPr/>
        </p:nvSpPr>
        <p:spPr>
          <a:xfrm>
            <a:off x="9144000" y="1778000"/>
            <a:ext cx="304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6E747B"/>
                </a:solidFill>
                <a:latin typeface="JetBrains Mono"/>
                <a:ea typeface="JetBrains Mono"/>
              </a:rPr>
              <a:t>→</a:t>
            </a:r>
            <a:endParaRPr lang="en-US" sz="1300" noProof="1"/>
          </a:p>
        </p:txBody>
      </p:sp>
      <p:sp>
        <p:nvSpPr>
          <p:cNvPr id="17" name="step5-box"/>
          <p:cNvSpPr/>
          <p:nvPr/>
        </p:nvSpPr>
        <p:spPr>
          <a:xfrm>
            <a:off x="9499600" y="1778000"/>
            <a:ext cx="1879600" cy="981710"/>
          </a:xfrm>
          <a:prstGeom prst="rect">
            <a:avLst/>
          </a:prstGeom>
          <a:solidFill>
            <a:srgbClr val="1E5B4E">
              <a:alpha val="7843"/>
            </a:srgbClr>
          </a:solidFill>
          <a:ln w="12700">
            <a:solidFill>
              <a:srgbClr val="1E5B4E"/>
            </a:solidFill>
          </a:ln>
        </p:spPr>
      </p:sp>
      <p:sp>
        <p:nvSpPr>
          <p:cNvPr id="18" name="step5-text"/>
          <p:cNvSpPr txBox="1"/>
          <p:nvPr/>
        </p:nvSpPr>
        <p:spPr>
          <a:xfrm>
            <a:off x="9601200" y="1778000"/>
            <a:ext cx="1676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1E5B4E"/>
                </a:solidFill>
                <a:latin typeface="JetBrains Mono"/>
                <a:ea typeface="JetBrains Mono"/>
              </a:rPr>
              <a:t>materialize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ordered tid stream → host</a:t>
            </a:r>
            <a:endParaRPr lang="en-US" sz="1600" noProof="1"/>
          </a:p>
        </p:txBody>
      </p:sp>
      <p:sp>
        <p:nvSpPr>
          <p:cNvPr id="19" name="left-body"/>
          <p:cNvSpPr txBox="1"/>
          <p:nvPr/>
        </p:nvSpPr>
        <p:spPr>
          <a:xfrm>
            <a:off x="812800" y="3048000"/>
            <a:ext cx="5969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encoder quantizes host encodings to a shared codebook and emits </a:t>
            </a:r>
            <a:r>
              <a:rPr lang="en-US" sz="1250" noProof="1">
                <a:solidFill>
                  <a:srgbClr val="1A1D20"/>
                </a:solidFill>
                <a:latin typeface="JetBrains Mono"/>
                <a:ea typeface="JetBrains Mono"/>
              </a:rPr>
              <a:t>tid{n}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tokens. Everything below it is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vocabulary-agnostic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: any stream that can be tokenized can drive the same state machine.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That is what makes the layer a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side-car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rather than a model: it does not interpret content — it accumulates and reads structure.</a:t>
            </a:r>
            <a:endParaRPr lang="en-US" sz="1250" noProof="1"/>
          </a:p>
        </p:txBody>
      </p:sp>
      <p:sp>
        <p:nvSpPr>
          <p:cNvPr id="20" name="strip-bar"/>
          <p:cNvSpPr/>
          <p:nvPr/>
        </p:nvSpPr>
        <p:spPr>
          <a:xfrm>
            <a:off x="812800" y="5029200"/>
            <a:ext cx="38100" cy="5588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21" name="strip-text"/>
          <p:cNvSpPr txBox="1"/>
          <p:nvPr/>
        </p:nvSpPr>
        <p:spPr>
          <a:xfrm>
            <a:off x="1016000" y="5029200"/>
            <a:ext cx="596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An LLM, an OCR encoder, a vision model, a planner — the host is left untouched; the state layer attaches beside it.</a:t>
            </a:r>
            <a:endParaRPr lang="en-US" sz="1200" noProof="1"/>
          </a:p>
        </p:txBody>
      </p:sp>
      <p:sp>
        <p:nvSpPr>
          <p:cNvPr id="22" name="right-head"/>
          <p:cNvSpPr txBox="1"/>
          <p:nvPr/>
        </p:nvSpPr>
        <p:spPr>
          <a:xfrm>
            <a:off x="7620000" y="30480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WHERE EACH STEP LIVES</a:t>
            </a:r>
            <a:endParaRPr lang="en-US" sz="1000" noProof="1"/>
          </a:p>
        </p:txBody>
      </p:sp>
      <p:sp>
        <p:nvSpPr>
          <p:cNvPr id="23" name="r1-name"/>
          <p:cNvSpPr txBox="1"/>
          <p:nvPr/>
        </p:nvSpPr>
        <p:spPr>
          <a:xfrm>
            <a:off x="7620000" y="33528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1A1D20"/>
                </a:solidFill>
                <a:latin typeface="JetBrains Mono"/>
                <a:ea typeface="JetBrains Mono"/>
              </a:rPr>
              <a:t>encode → CodebookEncoder</a:t>
            </a:r>
            <a:endParaRPr lang="en-US" sz="1050" noProof="1"/>
          </a:p>
        </p:txBody>
      </p:sp>
      <p:sp>
        <p:nvSpPr>
          <p:cNvPr id="24" name="r1-note"/>
          <p:cNvSpPr txBox="1"/>
          <p:nvPr/>
        </p:nvSpPr>
        <p:spPr>
          <a:xfrm>
            <a:off x="7620000" y="3581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per-host, the only custom piece</a:t>
            </a:r>
            <a:endParaRPr lang="en-US" sz="1000" noProof="1"/>
          </a:p>
        </p:txBody>
      </p:sp>
      <p:sp>
        <p:nvSpPr>
          <p:cNvPr id="25" name="r2-name"/>
          <p:cNvSpPr txBox="1"/>
          <p:nvPr/>
        </p:nvSpPr>
        <p:spPr>
          <a:xfrm>
            <a:off x="7620000" y="38862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1A1D20"/>
                </a:solidFill>
                <a:latin typeface="JetBrains Mono"/>
                <a:ea typeface="JetBrains Mono"/>
              </a:rPr>
              <a:t>ingest → hllset-morphisms</a:t>
            </a:r>
            <a:endParaRPr lang="en-US" sz="1050" noProof="1"/>
          </a:p>
        </p:txBody>
      </p:sp>
      <p:sp>
        <p:nvSpPr>
          <p:cNvPr id="26" name="r2-note"/>
          <p:cNvSpPr txBox="1"/>
          <p:nvPr/>
        </p:nvSpPr>
        <p:spPr>
          <a:xfrm>
            <a:off x="7620000" y="41148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the IICA measurement μ</a:t>
            </a:r>
            <a:endParaRPr lang="en-US" sz="1000" noProof="1"/>
          </a:p>
        </p:txBody>
      </p:sp>
      <p:sp>
        <p:nvSpPr>
          <p:cNvPr id="27" name="r3-name"/>
          <p:cNvSpPr txBox="1"/>
          <p:nvPr/>
        </p:nvSpPr>
        <p:spPr>
          <a:xfrm>
            <a:off x="7620000" y="44196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1A1D20"/>
                </a:solidFill>
                <a:latin typeface="JetBrains Mono"/>
                <a:ea typeface="JetBrains Mono"/>
              </a:rPr>
              <a:t>state → ewm-app · ewm-git · ewm-boolring</a:t>
            </a:r>
            <a:endParaRPr lang="en-US" sz="1050" noProof="1"/>
          </a:p>
        </p:txBody>
      </p:sp>
      <p:sp>
        <p:nvSpPr>
          <p:cNvPr id="28" name="r3-note"/>
          <p:cNvSpPr txBox="1"/>
          <p:nvPr/>
        </p:nvSpPr>
        <p:spPr>
          <a:xfrm>
            <a:off x="7620000" y="46482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working set, commit stack, ring basis</a:t>
            </a:r>
            <a:endParaRPr lang="en-US" sz="1000" noProof="1"/>
          </a:p>
        </p:txBody>
      </p:sp>
      <p:sp>
        <p:nvSpPr>
          <p:cNvPr id="29" name="r4-name"/>
          <p:cNvSpPr txBox="1"/>
          <p:nvPr/>
        </p:nvSpPr>
        <p:spPr>
          <a:xfrm>
            <a:off x="7620000" y="49530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1A1D20"/>
                </a:solidFill>
                <a:latin typeface="JetBrains Mono"/>
                <a:ea typeface="JetBrains Mono"/>
              </a:rPr>
              <a:t>materialize → LUT-first inverse read</a:t>
            </a:r>
            <a:endParaRPr lang="en-US" sz="1050" noProof="1"/>
          </a:p>
        </p:txBody>
      </p:sp>
      <p:sp>
        <p:nvSpPr>
          <p:cNvPr id="30" name="r4-note"/>
          <p:cNvSpPr txBox="1"/>
          <p:nvPr/>
        </p:nvSpPr>
        <p:spPr>
          <a:xfrm>
            <a:off x="7620000" y="5181600"/>
            <a:ext cx="3759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bits lowered back to tokens for the host, on demand</a:t>
            </a:r>
            <a:endParaRPr lang="en-US" sz="1000" noProof="1"/>
          </a:p>
        </p:txBody>
      </p:sp>
      <p:sp>
        <p:nvSpPr>
          <p:cNvPr id="31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32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09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09 · TRANSFORMATIONS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One turn: six steps, each exact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812800" y="14732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A turn is the unit of transformation. Given a token list, every step below is a lattice operation, a Gaussian step, or a commit.</a:t>
            </a:r>
            <a:endParaRPr lang="en-US" sz="1200" noProof="1"/>
          </a:p>
        </p:txBody>
      </p:sp>
      <p:sp>
        <p:nvSpPr>
          <p:cNvPr id="6" name="s1-n"/>
          <p:cNvSpPr txBox="1"/>
          <p:nvPr/>
        </p:nvSpPr>
        <p:spPr>
          <a:xfrm>
            <a:off x="812800" y="19304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2521E"/>
                </a:solidFill>
                <a:latin typeface="JetBrains Mono"/>
                <a:ea typeface="JetBrains Mono"/>
              </a:rPr>
              <a:t>1</a:t>
            </a:r>
            <a:endParaRPr lang="en-US" sz="1400" noProof="1"/>
          </a:p>
        </p:txBody>
      </p:sp>
      <p:sp>
        <p:nvSpPr>
          <p:cNvPr id="7" name="s1-name"/>
          <p:cNvSpPr txBox="1"/>
          <p:nvPr/>
        </p:nvSpPr>
        <p:spPr>
          <a:xfrm>
            <a:off x="1397000" y="19304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A1D20"/>
                </a:solidFill>
                <a:latin typeface="JetBrains Mono"/>
                <a:ea typeface="JetBrains Mono"/>
              </a:rPr>
              <a:t>encode</a:t>
            </a:r>
            <a:endParaRPr lang="en-US" sz="1250" noProof="1"/>
          </a:p>
        </p:txBody>
      </p:sp>
      <p:sp>
        <p:nvSpPr>
          <p:cNvPr id="8" name="s1-desc"/>
          <p:cNvSpPr txBox="1"/>
          <p:nvPr/>
        </p:nvSpPr>
        <p:spPr>
          <a:xfrm>
            <a:off x="3810000" y="1930400"/>
            <a:ext cx="7569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Host encodings are quantized to a tid stream by the shared codebook encoder — the only vocabulary-aware step.</a:t>
            </a:r>
            <a:endParaRPr lang="en-US" sz="1150" noProof="1"/>
          </a:p>
        </p:txBody>
      </p:sp>
      <p:sp>
        <p:nvSpPr>
          <p:cNvPr id="9" name="s2-n"/>
          <p:cNvSpPr txBox="1"/>
          <p:nvPr/>
        </p:nvSpPr>
        <p:spPr>
          <a:xfrm>
            <a:off x="812800" y="25146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2521E"/>
                </a:solidFill>
                <a:latin typeface="JetBrains Mono"/>
                <a:ea typeface="JetBrains Mono"/>
              </a:rPr>
              <a:t>2</a:t>
            </a:r>
            <a:endParaRPr lang="en-US" sz="1400" noProof="1"/>
          </a:p>
        </p:txBody>
      </p:sp>
      <p:sp>
        <p:nvSpPr>
          <p:cNvPr id="10" name="s2-name"/>
          <p:cNvSpPr txBox="1"/>
          <p:nvPr/>
        </p:nvSpPr>
        <p:spPr>
          <a:xfrm>
            <a:off x="1397000" y="25146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A1D20"/>
                </a:solidFill>
                <a:latin typeface="JetBrains Mono"/>
                <a:ea typeface="JetBrains Mono"/>
              </a:rPr>
              <a:t>ingest</a:t>
            </a:r>
            <a:endParaRPr lang="en-US" sz="1250" noProof="1"/>
          </a:p>
        </p:txBody>
      </p:sp>
      <p:sp>
        <p:nvSpPr>
          <p:cNvPr id="11" name="s2-desc"/>
          <p:cNvSpPr txBox="1"/>
          <p:nvPr/>
        </p:nvSpPr>
        <p:spPr>
          <a:xfrm>
            <a:off x="3810000" y="2514600"/>
            <a:ext cx="7569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The stream is measured by the IICA morphism; the turn's current projection is its original H_T.</a:t>
            </a:r>
            <a:endParaRPr lang="en-US" sz="1150" noProof="1"/>
          </a:p>
        </p:txBody>
      </p:sp>
      <p:sp>
        <p:nvSpPr>
          <p:cNvPr id="12" name="s3-n"/>
          <p:cNvSpPr txBox="1"/>
          <p:nvPr/>
        </p:nvSpPr>
        <p:spPr>
          <a:xfrm>
            <a:off x="812800" y="30988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2521E"/>
                </a:solidFill>
                <a:latin typeface="JetBrains Mono"/>
                <a:ea typeface="JetBrains Mono"/>
              </a:rPr>
              <a:t>3</a:t>
            </a:r>
            <a:endParaRPr lang="en-US" sz="1400" noProof="1"/>
          </a:p>
        </p:txBody>
      </p:sp>
      <p:sp>
        <p:nvSpPr>
          <p:cNvPr id="13" name="s3-name"/>
          <p:cNvSpPr txBox="1"/>
          <p:nvPr/>
        </p:nvSpPr>
        <p:spPr>
          <a:xfrm>
            <a:off x="1397000" y="30988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A1D20"/>
                </a:solidFill>
                <a:latin typeface="JetBrains Mono"/>
                <a:ea typeface="JetBrains Mono"/>
              </a:rPr>
              <a:t>join</a:t>
            </a:r>
            <a:endParaRPr lang="en-US" sz="1250" noProof="1"/>
          </a:p>
        </p:txBody>
      </p:sp>
      <p:sp>
        <p:nvSpPr>
          <p:cNvPr id="14" name="s3-desc"/>
          <p:cNvSpPr txBox="1"/>
          <p:nvPr/>
        </p:nvSpPr>
        <p:spPr>
          <a:xfrm>
            <a:off x="3810000" y="3098800"/>
            <a:ext cx="7569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S(t) ← S(t) ∪ H_T. Union is idempotent, commutative, associative — independent turns accumulate without coordination.</a:t>
            </a:r>
            <a:endParaRPr lang="en-US" sz="1150" noProof="1"/>
          </a:p>
        </p:txBody>
      </p:sp>
      <p:sp>
        <p:nvSpPr>
          <p:cNvPr id="15" name="s4-n"/>
          <p:cNvSpPr txBox="1"/>
          <p:nvPr/>
        </p:nvSpPr>
        <p:spPr>
          <a:xfrm>
            <a:off x="812800" y="36830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2521E"/>
                </a:solidFill>
                <a:latin typeface="JetBrains Mono"/>
                <a:ea typeface="JetBrains Mono"/>
              </a:rPr>
              <a:t>4</a:t>
            </a:r>
            <a:endParaRPr lang="en-US" sz="1400" noProof="1"/>
          </a:p>
        </p:txBody>
      </p:sp>
      <p:sp>
        <p:nvSpPr>
          <p:cNvPr id="16" name="s4-name"/>
          <p:cNvSpPr txBox="1"/>
          <p:nvPr/>
        </p:nvSpPr>
        <p:spPr>
          <a:xfrm>
            <a:off x="1397000" y="36830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A1D20"/>
                </a:solidFill>
                <a:latin typeface="JetBrains Mono"/>
                <a:ea typeface="JetBrains Mono"/>
              </a:rPr>
              <a:t>ring push</a:t>
            </a:r>
            <a:endParaRPr lang="en-US" sz="1250" noProof="1"/>
          </a:p>
        </p:txBody>
      </p:sp>
      <p:sp>
        <p:nvSpPr>
          <p:cNvPr id="17" name="s4-desc"/>
          <p:cNvSpPr txBox="1"/>
          <p:nvPr/>
        </p:nvSpPr>
        <p:spPr>
          <a:xfrm>
            <a:off x="3810000" y="3683000"/>
            <a:ext cx="7569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The original enters the GF(2) ring: one Gaussian step against the basis; returns novelty statistics (RingStats).</a:t>
            </a:r>
            <a:endParaRPr lang="en-US" sz="1150" noProof="1"/>
          </a:p>
        </p:txBody>
      </p:sp>
      <p:sp>
        <p:nvSpPr>
          <p:cNvPr id="18" name="s5-n"/>
          <p:cNvSpPr txBox="1"/>
          <p:nvPr/>
        </p:nvSpPr>
        <p:spPr>
          <a:xfrm>
            <a:off x="812800" y="42672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2521E"/>
                </a:solidFill>
                <a:latin typeface="JetBrains Mono"/>
                <a:ea typeface="JetBrains Mono"/>
              </a:rPr>
              <a:t>5</a:t>
            </a:r>
            <a:endParaRPr lang="en-US" sz="1400" noProof="1"/>
          </a:p>
        </p:txBody>
      </p:sp>
      <p:sp>
        <p:nvSpPr>
          <p:cNvPr id="19" name="s5-name"/>
          <p:cNvSpPr txBox="1"/>
          <p:nvPr/>
        </p:nvSpPr>
        <p:spPr>
          <a:xfrm>
            <a:off x="1397000" y="42672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A1D20"/>
                </a:solidFill>
                <a:latin typeface="JetBrains Mono"/>
                <a:ea typeface="JetBrains Mono"/>
              </a:rPr>
              <a:t>commit</a:t>
            </a:r>
            <a:endParaRPr lang="en-US" sz="1250" noProof="1"/>
          </a:p>
        </p:txBody>
      </p:sp>
      <p:sp>
        <p:nvSpPr>
          <p:cNvPr id="20" name="s5-desc"/>
          <p:cNvSpPr txBox="1"/>
          <p:nvPr/>
        </p:nvSpPr>
        <p:spPr>
          <a:xfrm>
            <a:off x="3810000" y="4267200"/>
            <a:ext cx="7569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H(t) is committed when the pass brings new bits or the ring basis changed; a basis change alone is a structural commit. A no-change pass commits nothing.</a:t>
            </a:r>
            <a:endParaRPr lang="en-US" sz="1150" noProof="1"/>
          </a:p>
        </p:txBody>
      </p:sp>
      <p:sp>
        <p:nvSpPr>
          <p:cNvPr id="21" name="s6-n"/>
          <p:cNvSpPr txBox="1"/>
          <p:nvPr/>
        </p:nvSpPr>
        <p:spPr>
          <a:xfrm>
            <a:off x="812800" y="48514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2521E"/>
                </a:solidFill>
                <a:latin typeface="JetBrains Mono"/>
                <a:ea typeface="JetBrains Mono"/>
              </a:rPr>
              <a:t>6</a:t>
            </a:r>
            <a:endParaRPr lang="en-US" sz="1400" noProof="1"/>
          </a:p>
        </p:txBody>
      </p:sp>
      <p:sp>
        <p:nvSpPr>
          <p:cNvPr id="22" name="s6-name"/>
          <p:cNvSpPr txBox="1"/>
          <p:nvPr/>
        </p:nvSpPr>
        <p:spPr>
          <a:xfrm>
            <a:off x="1397000" y="48514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A1D20"/>
                </a:solidFill>
                <a:latin typeface="JetBrains Mono"/>
                <a:ea typeface="JetBrains Mono"/>
              </a:rPr>
              <a:t>materialize</a:t>
            </a:r>
            <a:endParaRPr lang="en-US" sz="1250" noProof="1"/>
          </a:p>
        </p:txBody>
      </p:sp>
      <p:sp>
        <p:nvSpPr>
          <p:cNvPr id="23" name="s6-desc"/>
          <p:cNvSpPr txBox="1"/>
          <p:nvPr/>
        </p:nvSpPr>
        <p:spPr>
          <a:xfrm>
            <a:off x="3810000" y="4851400"/>
            <a:ext cx="7569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On demand, bits are lowered back to tokens (LUT-first, probabilistic restoration) for the host.</a:t>
            </a:r>
            <a:endParaRPr lang="en-US" sz="1150" noProof="1"/>
          </a:p>
        </p:txBody>
      </p:sp>
      <p:sp>
        <p:nvSpPr>
          <p:cNvPr id="24" name="rule-bottom"/>
          <p:cNvSpPr/>
          <p:nvPr/>
        </p:nvSpPr>
        <p:spPr>
          <a:xfrm>
            <a:off x="812800" y="55372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5" name="note"/>
          <p:cNvSpPr txBox="1"/>
          <p:nvPr/>
        </p:nvSpPr>
        <p:spPr>
          <a:xfrm>
            <a:off x="812800" y="5740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The D/R/N decomposition is computed from S(t) and H(t−1) at every commit — the per-transition reading that later frames build on. A commit records </a:t>
            </a:r>
            <a:r>
              <a:rPr lang="en-US" sz="1150" noProof="1">
                <a:solidFill>
                  <a:srgbClr val="1A1D20"/>
                </a:solidFill>
                <a:latin typeface="JetBrains Mono"/>
                <a:ea typeface="JetBrains Mono"/>
              </a:rPr>
              <a:t>ewm-app::run_turn</a:t>
            </a: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 → tip advance in </a:t>
            </a:r>
            <a:r>
              <a:rPr lang="en-US" sz="1150" noProof="1">
                <a:solidFill>
                  <a:srgbClr val="1A1D20"/>
                </a:solidFill>
                <a:latin typeface="JetBrains Mono"/>
                <a:ea typeface="JetBrains Mono"/>
              </a:rPr>
              <a:t>ewm-git</a:t>
            </a: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.</a:t>
            </a:r>
            <a:endParaRPr lang="en-US" sz="1150" noProof="1"/>
          </a:p>
        </p:txBody>
      </p:sp>
      <p:sp>
        <p:nvSpPr>
          <p:cNvPr id="26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7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10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10 · THE RING TRANSFORMATION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XOR arithmetic turns originals into a coordinate system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Work in a world where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adding means toggling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. For sets of bits, "add" is symmetric difference (XOR): a bit that appears twice cancels out — x + x = 0. That one rule, called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GF(2) arithmetic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, is the whole algebra.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ring keeps a growing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reference list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of originals (a basis). Pushing a new original is one reduction step: XOR away the references it overlaps.</a:t>
            </a:r>
            <a:endParaRPr lang="en-US" sz="1250" noProof="1"/>
          </a:p>
        </p:txBody>
      </p:sp>
      <p:sp>
        <p:nvSpPr>
          <p:cNvPr id="6" name="case1-box"/>
          <p:cNvSpPr/>
          <p:nvPr/>
        </p:nvSpPr>
        <p:spPr>
          <a:xfrm>
            <a:off x="812800" y="3276600"/>
            <a:ext cx="5969000" cy="9144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7" name="case1-text"/>
          <p:cNvSpPr txBox="1"/>
          <p:nvPr/>
        </p:nvSpPr>
        <p:spPr>
          <a:xfrm>
            <a:off x="1016000" y="3276600"/>
            <a:ext cx="558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1E5B4E"/>
                </a:solidFill>
                <a:latin typeface="JetBrains Mono"/>
                <a:ea typeface="JetBrains Mono"/>
              </a:rPr>
              <a:t>nothing left → already known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the original is exactly a combination of references — nothing changes (residual = ∅, "in span")</a:t>
            </a:r>
            <a:endParaRPr lang="en-US" sz="1600" noProof="1"/>
          </a:p>
        </p:txBody>
      </p:sp>
      <p:sp>
        <p:nvSpPr>
          <p:cNvPr id="8" name="case2-box"/>
          <p:cNvSpPr/>
          <p:nvPr/>
        </p:nvSpPr>
        <p:spPr>
          <a:xfrm>
            <a:off x="812800" y="4343400"/>
            <a:ext cx="5969000" cy="914400"/>
          </a:xfrm>
          <a:prstGeom prst="rect">
            <a:avLst/>
          </a:prstGeom>
          <a:solidFill>
            <a:srgbClr val="C2521E">
              <a:alpha val="7059"/>
            </a:srgbClr>
          </a:solidFill>
          <a:ln w="12700">
            <a:solidFill>
              <a:srgbClr val="C2521E"/>
            </a:solidFill>
          </a:ln>
        </p:spPr>
      </p:sp>
      <p:sp>
        <p:nvSpPr>
          <p:cNvPr id="9" name="case2-text"/>
          <p:cNvSpPr txBox="1"/>
          <p:nvPr/>
        </p:nvSpPr>
        <p:spPr>
          <a:xfrm>
            <a:off x="1016000" y="4343400"/>
            <a:ext cx="558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C2521E"/>
                </a:solidFill>
                <a:latin typeface="JetBrains Mono"/>
                <a:ea typeface="JetBrains Mono"/>
              </a:rPr>
              <a:t>something left → new direction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6E747B"/>
                </a:solidFill>
                <a:latin typeface="Inter"/>
                <a:ea typeface="Inter"/>
              </a:rPr>
              <a:t>the leftover (residual) joins the reference list — the space of combinations grows by one</a:t>
            </a:r>
            <a:endParaRPr lang="en-US" sz="1600" noProof="1"/>
          </a:p>
        </p:txBody>
      </p:sp>
      <p:sp>
        <p:nvSpPr>
          <p:cNvPr id="10" name="left-note"/>
          <p:cNvSpPr txBox="1"/>
          <p:nvPr/>
        </p:nvSpPr>
        <p:spPr>
          <a:xfrm>
            <a:off x="812800" y="5486400"/>
            <a:ext cx="5969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commit HLLSet is what a commit pushes; a base HLLSet is an entry in the reference list. Every update to the list is one of two kinds: extension and rotation.</a:t>
            </a:r>
            <a:endParaRPr lang="en-US" sz="1050" noProof="1"/>
          </a:p>
        </p:txBody>
      </p:sp>
      <p:sp>
        <p:nvSpPr>
          <p:cNvPr id="11" name="r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WHAT AN UPDATE REPORTS — RingStats</a:t>
            </a:r>
            <a:endParaRPr lang="en-US" sz="1000" noProof="1"/>
          </a:p>
        </p:txBody>
      </p:sp>
      <p:sp>
        <p:nvSpPr>
          <p:cNvPr id="12" name="rs1"/>
          <p:cNvSpPr txBox="1"/>
          <p:nvPr/>
        </p:nvSpPr>
        <p:spPr>
          <a:xfrm>
            <a:off x="7620000" y="1879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extension — a new reference</a:t>
            </a:r>
            <a:endParaRPr lang="en-US" sz="1100" noProof="1"/>
          </a:p>
        </p:txBody>
      </p:sp>
      <p:sp>
        <p:nvSpPr>
          <p:cNvPr id="13" name="rs1-d"/>
          <p:cNvSpPr txBox="1"/>
          <p:nvPr/>
        </p:nvSpPr>
        <p:spPr>
          <a:xfrm>
            <a:off x="7620000" y="2133600"/>
            <a:ext cx="3759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leftover becomes a new direction in the list</a:t>
            </a:r>
            <a:endParaRPr lang="en-US" sz="1050" noProof="1"/>
          </a:p>
        </p:txBody>
      </p:sp>
      <p:sp>
        <p:nvSpPr>
          <p:cNvPr id="14" name="rule-r1"/>
          <p:cNvSpPr/>
          <p:nvPr/>
        </p:nvSpPr>
        <p:spPr>
          <a:xfrm>
            <a:off x="7620000" y="26162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5" name="rs2"/>
          <p:cNvSpPr txBox="1"/>
          <p:nvPr/>
        </p:nvSpPr>
        <p:spPr>
          <a:xfrm>
            <a:off x="7620000" y="2768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rotation — re-indexing</a:t>
            </a:r>
            <a:endParaRPr lang="en-US" sz="1100" noProof="1"/>
          </a:p>
        </p:txBody>
      </p:sp>
      <p:sp>
        <p:nvSpPr>
          <p:cNvPr id="16" name="rs2-d"/>
          <p:cNvSpPr txBox="1"/>
          <p:nvPr/>
        </p:nvSpPr>
        <p:spPr>
          <a:xfrm>
            <a:off x="7620000" y="30226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every reference sharing the new leading bit is re-expressed by XOR with the leftover, so leading bits stay distinct</a:t>
            </a:r>
            <a:endParaRPr lang="en-US" sz="1050" noProof="1"/>
          </a:p>
        </p:txBody>
      </p:sp>
      <p:sp>
        <p:nvSpPr>
          <p:cNvPr id="17" name="rule-r2"/>
          <p:cNvSpPr/>
          <p:nvPr/>
        </p:nvSpPr>
        <p:spPr>
          <a:xfrm>
            <a:off x="7620000" y="36830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8" name="rs3"/>
          <p:cNvSpPr txBox="1"/>
          <p:nvPr/>
        </p:nvSpPr>
        <p:spPr>
          <a:xfrm>
            <a:off x="7620000" y="38354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A1D20"/>
                </a:solidFill>
                <a:latin typeface="JetBrains Mono"/>
                <a:ea typeface="JetBrains Mono"/>
              </a:rPr>
              <a:t>rotation_count · rotation_mass</a:t>
            </a:r>
            <a:endParaRPr lang="en-US" sz="1100" noProof="1"/>
          </a:p>
        </p:txBody>
      </p:sp>
      <p:sp>
        <p:nvSpPr>
          <p:cNvPr id="19" name="rs3-d"/>
          <p:cNvSpPr txBox="1"/>
          <p:nvPr/>
        </p:nvSpPr>
        <p:spPr>
          <a:xfrm>
            <a:off x="7620000" y="40894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how many references were re-indexed · total bit change across the old list (= count × leftover)</a:t>
            </a:r>
            <a:endParaRPr lang="en-US" sz="1050" noProof="1"/>
          </a:p>
        </p:txBody>
      </p:sp>
      <p:sp>
        <p:nvSpPr>
          <p:cNvPr id="20" name="rule-r3"/>
          <p:cNvSpPr/>
          <p:nvPr/>
        </p:nvSpPr>
        <p:spPr>
          <a:xfrm>
            <a:off x="7620000" y="47498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1" name="rs4"/>
          <p:cNvSpPr txBox="1"/>
          <p:nvPr/>
        </p:nvSpPr>
        <p:spPr>
          <a:xfrm>
            <a:off x="7620000" y="49022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A1D20"/>
                </a:solidFill>
                <a:latin typeface="JetBrains Mono"/>
                <a:ea typeface="JetBrains Mono"/>
              </a:rPr>
              <a:t>residual · in_span · dimension</a:t>
            </a:r>
            <a:endParaRPr lang="en-US" sz="1100" noProof="1"/>
          </a:p>
        </p:txBody>
      </p:sp>
      <p:sp>
        <p:nvSpPr>
          <p:cNvPr id="22" name="rs4-d"/>
          <p:cNvSpPr txBox="1"/>
          <p:nvPr/>
        </p:nvSpPr>
        <p:spPr>
          <a:xfrm>
            <a:off x="7620000" y="5156200"/>
            <a:ext cx="3759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unexplained leftover (a novelty reading) · whether anything changed · the current number of directions</a:t>
            </a:r>
            <a:endParaRPr lang="en-US" sz="1050" noProof="1"/>
          </a:p>
        </p:txBody>
      </p:sp>
      <p:sp>
        <p:nvSpPr>
          <p:cNvPr id="23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4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11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11 · TRANSFORMATIONS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The reference list only grows — so coordinates carry over exactly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ring separates two roles: a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reference list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over every commit HLLSet ever pushed — it only ever grows — and a bounded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visibility window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of recent commits used as context. Eviction moves the window; it never removes a reference.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So the space of XOR-combinations (the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span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) only grows — and nothing once expressible ever stops being expressible: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once known, always known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.</a:t>
            </a:r>
            <a:endParaRPr lang="en-US" sz="1250" noProof="1"/>
          </a:p>
        </p:txBody>
      </p:sp>
      <p:sp>
        <p:nvSpPr>
          <p:cNvPr id="6" name="left-body-2"/>
          <p:cNvSpPr txBox="1"/>
          <p:nvPr/>
        </p:nvSpPr>
        <p:spPr>
          <a:xfrm>
            <a:off x="812800" y="3454400"/>
            <a:ext cx="5969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Coordinates answer one question: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which references XOR together to make this set?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When the list grows, every old reference keeps a unique answer — a conversion table M carries old coordinates a to a·M,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exactly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Every list version carries a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generation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stamp.</a:t>
            </a:r>
            <a:endParaRPr lang="en-US" sz="1250" noProof="1"/>
          </a:p>
        </p:txBody>
      </p:sp>
      <p:sp>
        <p:nvSpPr>
          <p:cNvPr id="7" name="strip-bar"/>
          <p:cNvSpPr/>
          <p:nvPr/>
        </p:nvSpPr>
        <p:spPr>
          <a:xfrm>
            <a:off x="812800" y="5207000"/>
            <a:ext cx="38100" cy="8128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8" name="strip-text"/>
          <p:cNvSpPr txBox="1"/>
          <p:nvPr/>
        </p:nvSpPr>
        <p:spPr>
          <a:xfrm>
            <a:off x="1016000" y="52070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Exact transport (proposition).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When a monotone list grows, every old reference has unique coordinates in the new one — anything expressible yesterday stays expressible today, and the table M carries the coordinates over exactly.</a:t>
            </a:r>
            <a:endParaRPr lang="en-US" sz="1200" noProof="1"/>
          </a:p>
        </p:txBody>
      </p:sp>
      <p:sp>
        <p:nvSpPr>
          <p:cNvPr id="9" name="viz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THE SPACE ONLY GROWS</a:t>
            </a:r>
            <a:endParaRPr lang="en-US" sz="1000" noProof="1"/>
          </a:p>
        </p:txBody>
      </p:sp>
      <p:sp>
        <p:nvSpPr>
          <p:cNvPr id="10" name="span1"/>
          <p:cNvSpPr/>
          <p:nvPr/>
        </p:nvSpPr>
        <p:spPr>
          <a:xfrm>
            <a:off x="7823200" y="3683000"/>
            <a:ext cx="762000" cy="762000"/>
          </a:xfrm>
          <a:prstGeom prst="ellipse">
            <a:avLst/>
          </a:prstGeom>
          <a:solidFill>
            <a:srgbClr val="1E5B4E">
              <a:alpha val="9412"/>
            </a:srgbClr>
          </a:solidFill>
          <a:ln w="19050">
            <a:solidFill>
              <a:srgbClr val="1E5B4E"/>
            </a:solidFill>
          </a:ln>
        </p:spPr>
      </p:sp>
      <p:sp>
        <p:nvSpPr>
          <p:cNvPr id="11" name="span1-lab"/>
          <p:cNvSpPr txBox="1"/>
          <p:nvPr/>
        </p:nvSpPr>
        <p:spPr>
          <a:xfrm>
            <a:off x="7823200" y="3962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1E5B4E"/>
                </a:solidFill>
                <a:latin typeface="JetBrains Mono"/>
                <a:ea typeface="JetBrains Mono"/>
              </a:rPr>
              <a:t>span t−1</a:t>
            </a:r>
            <a:endParaRPr lang="en-US" sz="950" noProof="1"/>
          </a:p>
        </p:txBody>
      </p:sp>
      <p:sp>
        <p:nvSpPr>
          <p:cNvPr id="12" name="span2"/>
          <p:cNvSpPr/>
          <p:nvPr/>
        </p:nvSpPr>
        <p:spPr>
          <a:xfrm>
            <a:off x="8890000" y="3429000"/>
            <a:ext cx="1270000" cy="1270000"/>
          </a:xfrm>
          <a:prstGeom prst="ellipse">
            <a:avLst/>
          </a:prstGeom>
          <a:solidFill>
            <a:srgbClr val="1E5B4E">
              <a:alpha val="6275"/>
            </a:srgbClr>
          </a:solidFill>
          <a:ln w="19050">
            <a:solidFill>
              <a:srgbClr val="1E5B4E"/>
            </a:solidFill>
          </a:ln>
        </p:spPr>
      </p:sp>
      <p:sp>
        <p:nvSpPr>
          <p:cNvPr id="13" name="span2-lab"/>
          <p:cNvSpPr txBox="1"/>
          <p:nvPr/>
        </p:nvSpPr>
        <p:spPr>
          <a:xfrm>
            <a:off x="8890000" y="3962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1E5B4E"/>
                </a:solidFill>
                <a:latin typeface="JetBrains Mono"/>
                <a:ea typeface="JetBrains Mono"/>
              </a:rPr>
              <a:t>span t</a:t>
            </a:r>
            <a:endParaRPr lang="en-US" sz="950" noProof="1"/>
          </a:p>
        </p:txBody>
      </p:sp>
      <p:sp>
        <p:nvSpPr>
          <p:cNvPr id="14" name="span3"/>
          <p:cNvSpPr/>
          <p:nvPr/>
        </p:nvSpPr>
        <p:spPr>
          <a:xfrm>
            <a:off x="10363200" y="3175000"/>
            <a:ext cx="1016000" cy="1778000"/>
          </a:xfrm>
          <a:prstGeom prst="ellipse">
            <a:avLst/>
          </a:prstGeom>
          <a:solidFill>
            <a:srgbClr val="1E5B4E">
              <a:alpha val="3137"/>
            </a:srgbClr>
          </a:solidFill>
          <a:ln w="12700">
            <a:solidFill>
              <a:srgbClr val="6E747B"/>
            </a:solidFill>
            <a:prstDash val="dash"/>
          </a:ln>
        </p:spPr>
      </p:sp>
      <p:sp>
        <p:nvSpPr>
          <p:cNvPr id="15" name="span3-lab"/>
          <p:cNvSpPr txBox="1"/>
          <p:nvPr/>
        </p:nvSpPr>
        <p:spPr>
          <a:xfrm>
            <a:off x="10363200" y="3962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6E747B"/>
                </a:solidFill>
                <a:latin typeface="JetBrains Mono"/>
                <a:ea typeface="JetBrains Mono"/>
              </a:rPr>
              <a:t>span t+1</a:t>
            </a:r>
            <a:endParaRPr lang="en-US" sz="950" noProof="1"/>
          </a:p>
        </p:txBody>
      </p:sp>
      <p:sp>
        <p:nvSpPr>
          <p:cNvPr id="16" name="viz-note"/>
          <p:cNvSpPr txBox="1"/>
          <p:nvPr/>
        </p:nvSpPr>
        <p:spPr>
          <a:xfrm>
            <a:off x="7620000" y="5080000"/>
            <a:ext cx="3759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space never shrinks; every larger list keeps all old coordinates recoverable through the table M.</a:t>
            </a:r>
            <a:endParaRPr lang="en-US" sz="1050" noProof="1"/>
          </a:p>
        </p:txBody>
      </p:sp>
      <p:sp>
        <p:nvSpPr>
          <p:cNvPr id="17" name="gen-label"/>
          <p:cNvSpPr txBox="1"/>
          <p:nvPr/>
        </p:nvSpPr>
        <p:spPr>
          <a:xfrm>
            <a:off x="7620000" y="5740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LIST GENERATIONS</a:t>
            </a:r>
            <a:endParaRPr lang="en-US" sz="1000" noProof="1"/>
          </a:p>
        </p:txBody>
      </p:sp>
      <p:sp>
        <p:nvSpPr>
          <p:cNvPr id="18" name="gen-body"/>
          <p:cNvSpPr txBox="1"/>
          <p:nvPr/>
        </p:nvSpPr>
        <p:spPr>
          <a:xfrm>
            <a:off x="7620000" y="5994400"/>
            <a:ext cx="3759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every reading is valid only relative to the list generation it was taken in</a:t>
            </a:r>
            <a:endParaRPr lang="en-US" sz="1050" noProof="1"/>
          </a:p>
        </p:txBody>
      </p:sp>
      <p:sp>
        <p:nvSpPr>
          <p:cNvPr id="19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12</a:t>
            </a:r>
            <a:endParaRPr lang="en-US" sz="9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12 · TRANSFORMATIONS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What XOR arithmetic cannot see — and why that is useful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Toggling understands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combinations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symmetric differences — but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not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intersections, unions, or differences. For two representable sets A and B, all three compounds are representable together or not at all, because each is one intersection away from a combination:</a:t>
            </a:r>
            <a:endParaRPr lang="en-US" sz="1250" noProof="1"/>
          </a:p>
        </p:txBody>
      </p:sp>
      <p:sp>
        <p:nvSpPr>
          <p:cNvPr id="6" name="eq-box"/>
          <p:cNvSpPr/>
          <p:nvPr/>
        </p:nvSpPr>
        <p:spPr>
          <a:xfrm>
            <a:off x="812800" y="2921000"/>
            <a:ext cx="5969000" cy="9144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7" name="eq-text"/>
          <p:cNvSpPr txBox="1"/>
          <p:nvPr/>
        </p:nvSpPr>
        <p:spPr>
          <a:xfrm>
            <a:off x="1066800" y="2921000"/>
            <a:ext cx="5461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70000"/>
              </a:lnSpc>
            </a:pPr>
            <a:r>
              <a:rPr lang="en-US" sz="1250" noProof="1">
                <a:solidFill>
                  <a:srgbClr val="1A1D20"/>
                </a:solidFill>
                <a:latin typeface="JetBrains Mono"/>
                <a:ea typeface="JetBrains Mono"/>
              </a:rPr>
              <a:t>A ∪ B = A Δ B Δ (A ∩ B)</a:t>
            </a:r>
            <a:endParaRPr lang="en-US" sz="1250" noProof="1"/>
          </a:p>
          <a:p>
            <a:pPr algn="l">
              <a:lnSpc>
                <a:spcPct val="170000"/>
              </a:lnSpc>
            </a:pPr>
            <a:r>
              <a:rPr lang="en-US" sz="1250" noProof="1">
                <a:solidFill>
                  <a:srgbClr val="1A1D20"/>
                </a:solidFill>
                <a:latin typeface="JetBrains Mono"/>
                <a:ea typeface="JetBrains Mono"/>
              </a:rPr>
              <a:t>A \ B = A Δ (A ∩ B)</a:t>
            </a:r>
            <a:endParaRPr lang="en-US" sz="1250" noProof="1"/>
          </a:p>
        </p:txBody>
      </p:sp>
      <p:sp>
        <p:nvSpPr>
          <p:cNvPr id="8" name="left-body-2"/>
          <p:cNvSpPr txBox="1"/>
          <p:nvPr/>
        </p:nvSpPr>
        <p:spPr>
          <a:xfrm>
            <a:off x="812800" y="40894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The intersection is the single obstruction.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A lattice expression is representable exactly when its intersection content is. The test for any set X: reduce it against the reference list and check that nothing is left — res(X) = ∅.</a:t>
            </a:r>
            <a:endParaRPr lang="en-US" sz="1250" noProof="1"/>
          </a:p>
        </p:txBody>
      </p:sp>
      <p:sp>
        <p:nvSpPr>
          <p:cNvPr id="9" name="strip-bar"/>
          <p:cNvSpPr/>
          <p:nvPr/>
        </p:nvSpPr>
        <p:spPr>
          <a:xfrm>
            <a:off x="812800" y="5486400"/>
            <a:ext cx="38100" cy="6604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0" name="strip-text"/>
          <p:cNvSpPr txBox="1"/>
          <p:nvPr/>
        </p:nvSpPr>
        <p:spPr>
          <a:xfrm>
            <a:off x="1016000" y="5486400"/>
            <a:ext cx="5969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This blind spot is a feature: the leftover measures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how far a set is from any combination of the current context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 — an exact novelty signal, not a heuristic score.</a:t>
            </a:r>
            <a:endParaRPr lang="en-US" sz="1200" noProof="1"/>
          </a:p>
        </p:txBody>
      </p:sp>
      <p:sp>
        <p:nvSpPr>
          <p:cNvPr id="11" name="r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MEASURED ON THE 10×10 CLIP</a:t>
            </a:r>
            <a:endParaRPr lang="en-US" sz="1000" noProof="1"/>
          </a:p>
        </p:txBody>
      </p:sp>
      <p:sp>
        <p:nvSpPr>
          <p:cNvPr id="12" name="m1-num"/>
          <p:cNvSpPr txBox="1"/>
          <p:nvPr/>
        </p:nvSpPr>
        <p:spPr>
          <a:xfrm>
            <a:off x="7620000" y="18796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E5B4E"/>
                </a:solidFill>
                <a:latin typeface="JetBrains Mono"/>
                <a:ea typeface="JetBrains Mono"/>
              </a:rPr>
              <a:t>394/394</a:t>
            </a:r>
            <a:endParaRPr lang="en-US" sz="1400" noProof="1"/>
          </a:p>
        </p:txBody>
      </p:sp>
      <p:sp>
        <p:nvSpPr>
          <p:cNvPr id="13" name="m1-lab"/>
          <p:cNvSpPr txBox="1"/>
          <p:nvPr/>
        </p:nvSpPr>
        <p:spPr>
          <a:xfrm>
            <a:off x="9220200" y="1879600"/>
            <a:ext cx="2159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XOR combinations representable</a:t>
            </a:r>
            <a:endParaRPr lang="en-US" sz="1050" noProof="1"/>
          </a:p>
        </p:txBody>
      </p:sp>
      <p:sp>
        <p:nvSpPr>
          <p:cNvPr id="14" name="rule-m1"/>
          <p:cNvSpPr/>
          <p:nvPr/>
        </p:nvSpPr>
        <p:spPr>
          <a:xfrm>
            <a:off x="7620000" y="24130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5" name="m2-num"/>
          <p:cNvSpPr txBox="1"/>
          <p:nvPr/>
        </p:nvSpPr>
        <p:spPr>
          <a:xfrm>
            <a:off x="7620000" y="25654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2521E"/>
                </a:solidFill>
                <a:latin typeface="JetBrains Mono"/>
                <a:ea typeface="JetBrains Mono"/>
              </a:rPr>
              <a:t>0/394</a:t>
            </a:r>
            <a:endParaRPr lang="en-US" sz="1400" noProof="1"/>
          </a:p>
        </p:txBody>
      </p:sp>
      <p:sp>
        <p:nvSpPr>
          <p:cNvPr id="16" name="m2-lab"/>
          <p:cNvSpPr txBox="1"/>
          <p:nvPr/>
        </p:nvSpPr>
        <p:spPr>
          <a:xfrm>
            <a:off x="9220200" y="2565400"/>
            <a:ext cx="2159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∩, ∪, \ representable (this data)</a:t>
            </a:r>
            <a:endParaRPr lang="en-US" sz="1050" noProof="1"/>
          </a:p>
        </p:txBody>
      </p:sp>
      <p:sp>
        <p:nvSpPr>
          <p:cNvPr id="17" name="rule-m2"/>
          <p:cNvSpPr/>
          <p:nvPr/>
        </p:nvSpPr>
        <p:spPr>
          <a:xfrm>
            <a:off x="7620000" y="30988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8" name="m3-num"/>
          <p:cNvSpPr txBox="1"/>
          <p:nvPr/>
        </p:nvSpPr>
        <p:spPr>
          <a:xfrm>
            <a:off x="7620000" y="32512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A1D20"/>
                </a:solidFill>
                <a:latin typeface="JetBrains Mono"/>
                <a:ea typeface="JetBrains Mono"/>
              </a:rPr>
              <a:t>394/394</a:t>
            </a:r>
            <a:endParaRPr lang="en-US" sz="1400" noProof="1"/>
          </a:p>
        </p:txBody>
      </p:sp>
      <p:sp>
        <p:nvSpPr>
          <p:cNvPr id="19" name="m3-lab"/>
          <p:cNvSpPr txBox="1"/>
          <p:nvPr/>
        </p:nvSpPr>
        <p:spPr>
          <a:xfrm>
            <a:off x="9220200" y="3251200"/>
            <a:ext cx="2159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pairs with equal leftover after reduction</a:t>
            </a:r>
            <a:endParaRPr lang="en-US" sz="1050" noProof="1"/>
          </a:p>
        </p:txBody>
      </p:sp>
      <p:sp>
        <p:nvSpPr>
          <p:cNvPr id="20" name="rule-m3"/>
          <p:cNvSpPr/>
          <p:nvPr/>
        </p:nvSpPr>
        <p:spPr>
          <a:xfrm>
            <a:off x="7620000" y="37846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1" name="rem-label"/>
          <p:cNvSpPr txBox="1"/>
          <p:nvPr/>
        </p:nvSpPr>
        <p:spPr>
          <a:xfrm>
            <a:off x="7620000" y="40640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ONE HONEST CAVEAT</a:t>
            </a:r>
            <a:endParaRPr lang="en-US" sz="1000" noProof="1"/>
          </a:p>
        </p:txBody>
      </p:sp>
      <p:sp>
        <p:nvSpPr>
          <p:cNvPr id="22" name="rem-body"/>
          <p:cNvSpPr txBox="1"/>
          <p:nvPr/>
        </p:nvSpPr>
        <p:spPr>
          <a:xfrm>
            <a:off x="7620000" y="4343400"/>
            <a:ext cx="3759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leftover is one representative of an equivalence class, not a canonical one: reduction stops at row-echelon form, so equivalent sets can leave different leftovers. The fact the tests rely on is exact — res(X) = ∅ ⇔ X can be built from the references.</a:t>
            </a:r>
            <a:endParaRPr lang="en-US" sz="1050" noProof="1"/>
          </a:p>
        </p:txBody>
      </p:sp>
      <p:sp>
        <p:nvSpPr>
          <p:cNvPr id="23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4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13</a:t>
            </a:r>
            <a:endParaRPr lang="en-US" sz="9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13 · WORKED EXAMPLE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The whole ring in four 8-bit vectors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strip1-bar"/>
          <p:cNvSpPr/>
          <p:nvPr/>
        </p:nvSpPr>
        <p:spPr>
          <a:xfrm>
            <a:off x="812800" y="1549400"/>
            <a:ext cx="38100" cy="508000"/>
          </a:xfrm>
          <a:prstGeom prst="rect">
            <a:avLst/>
          </a:prstGeom>
          <a:solidFill>
            <a:srgbClr val="1E5B4E"/>
          </a:solidFill>
          <a:ln>
            <a:noFill/>
          </a:ln>
        </p:spPr>
      </p:sp>
      <p:sp>
        <p:nvSpPr>
          <p:cNvPr id="6" name="strip1"/>
          <p:cNvSpPr txBox="1"/>
          <p:nvPr/>
        </p:nvSpPr>
        <p:spPr>
          <a:xfrm>
            <a:off x="1016000" y="15494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150" noProof="1" b="1">
                <a:solidFill>
                  <a:srgbClr val="1A1D20"/>
                </a:solidFill>
                <a:latin typeface="Inter"/>
                <a:ea typeface="Inter"/>
              </a:rPr>
              <a:t>XOR is toggling.</a:t>
            </a: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 10110011 Δ 01101110 = 11011101 — matching bits cancel, differing bits stay.</a:t>
            </a:r>
            <a:endParaRPr lang="en-US" sz="1150" noProof="1"/>
          </a:p>
        </p:txBody>
      </p:sp>
      <p:sp>
        <p:nvSpPr>
          <p:cNvPr id="7" name="box1"/>
          <p:cNvSpPr/>
          <p:nvPr/>
        </p:nvSpPr>
        <p:spPr>
          <a:xfrm>
            <a:off x="812800" y="2209800"/>
            <a:ext cx="5080000" cy="18796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8" name="box1-head"/>
          <p:cNvSpPr txBox="1"/>
          <p:nvPr/>
        </p:nvSpPr>
        <p:spPr>
          <a:xfrm>
            <a:off x="1016000" y="2336800"/>
            <a:ext cx="4673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1 · PUSH A — LIST IS EMPTY</a:t>
            </a:r>
            <a:endParaRPr lang="en-US" sz="1000" noProof="1"/>
          </a:p>
        </p:txBody>
      </p:sp>
      <p:sp>
        <p:nvSpPr>
          <p:cNvPr id="9" name="box1-code"/>
          <p:cNvSpPr txBox="1"/>
          <p:nvPr/>
        </p:nvSpPr>
        <p:spPr>
          <a:xfrm>
            <a:off x="1016000" y="2616200"/>
            <a:ext cx="467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A = 10110011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nothing to reduce against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list ← [ A ]</a:t>
            </a:r>
            <a:endParaRPr lang="en-US" sz="1050" noProof="1"/>
          </a:p>
        </p:txBody>
      </p:sp>
      <p:sp>
        <p:nvSpPr>
          <p:cNvPr id="10" name="box1-verdict"/>
          <p:cNvSpPr txBox="1"/>
          <p:nvPr/>
        </p:nvSpPr>
        <p:spPr>
          <a:xfrm>
            <a:off x="1016000" y="34036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C2521E"/>
                </a:solidFill>
                <a:latin typeface="Inter"/>
                <a:ea typeface="Inter"/>
              </a:rPr>
              <a:t>extension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a first direction; span grows by one.</a:t>
            </a:r>
            <a:endParaRPr lang="en-US" sz="1050" noProof="1"/>
          </a:p>
        </p:txBody>
      </p:sp>
      <p:sp>
        <p:nvSpPr>
          <p:cNvPr id="11" name="box2"/>
          <p:cNvSpPr/>
          <p:nvPr/>
        </p:nvSpPr>
        <p:spPr>
          <a:xfrm>
            <a:off x="6299200" y="2209800"/>
            <a:ext cx="5080000" cy="18796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12" name="box2-head"/>
          <p:cNvSpPr txBox="1"/>
          <p:nvPr/>
        </p:nvSpPr>
        <p:spPr>
          <a:xfrm>
            <a:off x="6502400" y="2336800"/>
            <a:ext cx="4673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2 · PUSH B — NO OVERLAP AT THE FRONT</a:t>
            </a:r>
            <a:endParaRPr lang="en-US" sz="1000" noProof="1"/>
          </a:p>
        </p:txBody>
      </p:sp>
      <p:sp>
        <p:nvSpPr>
          <p:cNvPr id="13" name="box2-code"/>
          <p:cNvSpPr txBox="1"/>
          <p:nvPr/>
        </p:nvSpPr>
        <p:spPr>
          <a:xfrm>
            <a:off x="6502400" y="2616200"/>
            <a:ext cx="467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B = 01101110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leading bit not in the list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list ← [ A, B ]</a:t>
            </a:r>
            <a:endParaRPr lang="en-US" sz="1050" noProof="1"/>
          </a:p>
        </p:txBody>
      </p:sp>
      <p:sp>
        <p:nvSpPr>
          <p:cNvPr id="14" name="box2-verdict"/>
          <p:cNvSpPr txBox="1"/>
          <p:nvPr/>
        </p:nvSpPr>
        <p:spPr>
          <a:xfrm>
            <a:off x="6502400" y="34036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C2521E"/>
                </a:solidFill>
                <a:latin typeface="Inter"/>
                <a:ea typeface="Inter"/>
              </a:rPr>
              <a:t>extension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a second, independent direction.</a:t>
            </a:r>
            <a:endParaRPr lang="en-US" sz="1050" noProof="1"/>
          </a:p>
        </p:txBody>
      </p:sp>
      <p:sp>
        <p:nvSpPr>
          <p:cNvPr id="15" name="box3"/>
          <p:cNvSpPr/>
          <p:nvPr/>
        </p:nvSpPr>
        <p:spPr>
          <a:xfrm>
            <a:off x="812800" y="4241800"/>
            <a:ext cx="5080000" cy="18796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16" name="box3-head"/>
          <p:cNvSpPr txBox="1"/>
          <p:nvPr/>
        </p:nvSpPr>
        <p:spPr>
          <a:xfrm>
            <a:off x="1016000" y="4368800"/>
            <a:ext cx="4673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3 · PUSH C — REDUCE, SOMETHING LEFT</a:t>
            </a:r>
            <a:endParaRPr lang="en-US" sz="1000" noProof="1"/>
          </a:p>
        </p:txBody>
      </p:sp>
      <p:sp>
        <p:nvSpPr>
          <p:cNvPr id="17" name="box3-code"/>
          <p:cNvSpPr txBox="1"/>
          <p:nvPr/>
        </p:nvSpPr>
        <p:spPr>
          <a:xfrm>
            <a:off x="1016000" y="4648200"/>
            <a:ext cx="467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C       = 11010101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C Δ A   = 01100110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C Δ A Δ B = 00001000 → list ← [ A, B, D ]</a:t>
            </a:r>
            <a:endParaRPr lang="en-US" sz="1050" noProof="1"/>
          </a:p>
        </p:txBody>
      </p:sp>
      <p:sp>
        <p:nvSpPr>
          <p:cNvPr id="18" name="box3-verdict"/>
          <p:cNvSpPr txBox="1"/>
          <p:nvPr/>
        </p:nvSpPr>
        <p:spPr>
          <a:xfrm>
            <a:off x="1016000" y="54356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C2521E"/>
                </a:solidFill>
                <a:latin typeface="Inter"/>
                <a:ea typeface="Inter"/>
              </a:rPr>
              <a:t>extension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the leftover D is C's new contribution; rotation re-indexes A and B.</a:t>
            </a:r>
            <a:endParaRPr lang="en-US" sz="1050" noProof="1"/>
          </a:p>
        </p:txBody>
      </p:sp>
      <p:sp>
        <p:nvSpPr>
          <p:cNvPr id="19" name="box4"/>
          <p:cNvSpPr/>
          <p:nvPr/>
        </p:nvSpPr>
        <p:spPr>
          <a:xfrm>
            <a:off x="6299200" y="4241800"/>
            <a:ext cx="5080000" cy="1879600"/>
          </a:xfrm>
          <a:prstGeom prst="rect">
            <a:avLst/>
          </a:prstGeom>
          <a:solidFill>
            <a:srgbClr val="C2521E">
              <a:alpha val="7059"/>
            </a:srgbClr>
          </a:solidFill>
          <a:ln w="12700">
            <a:solidFill>
              <a:srgbClr val="C2521E"/>
            </a:solidFill>
          </a:ln>
        </p:spPr>
      </p:sp>
      <p:sp>
        <p:nvSpPr>
          <p:cNvPr id="20" name="box4-head"/>
          <p:cNvSpPr txBox="1"/>
          <p:nvPr/>
        </p:nvSpPr>
        <p:spPr>
          <a:xfrm>
            <a:off x="6502400" y="4368800"/>
            <a:ext cx="4673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4 · PUSH D — NOTHING LEFT</a:t>
            </a:r>
            <a:endParaRPr lang="en-US" sz="1000" noProof="1"/>
          </a:p>
        </p:txBody>
      </p:sp>
      <p:sp>
        <p:nvSpPr>
          <p:cNvPr id="21" name="box4-code"/>
          <p:cNvSpPr txBox="1"/>
          <p:nvPr/>
        </p:nvSpPr>
        <p:spPr>
          <a:xfrm>
            <a:off x="6502400" y="4648200"/>
            <a:ext cx="467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D = 00001000 = A Δ B Δ C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D Δ D = 00000000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coordinates(D) = {A, B, C} — span stays 3 of 8</a:t>
            </a:r>
            <a:endParaRPr lang="en-US" sz="1050" noProof="1"/>
          </a:p>
        </p:txBody>
      </p:sp>
      <p:sp>
        <p:nvSpPr>
          <p:cNvPr id="22" name="box4-verdict"/>
          <p:cNvSpPr txBox="1"/>
          <p:nvPr/>
        </p:nvSpPr>
        <p:spPr>
          <a:xfrm>
            <a:off x="6502400" y="54356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1E5B4E"/>
                </a:solidFill>
                <a:latin typeface="Inter"/>
                <a:ea typeface="Inter"/>
              </a:rPr>
              <a:t>already known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res = ∅ and in_span = true; a genuinely new E would leave res ≠ ∅.</a:t>
            </a:r>
            <a:endParaRPr lang="en-US" sz="1050" noProof="1"/>
          </a:p>
        </p:txBody>
      </p:sp>
      <p:sp>
        <p:nvSpPr>
          <p:cNvPr id="23" name="bottom-note"/>
          <p:cNvSpPr txBox="1"/>
          <p:nvPr/>
        </p:nvSpPr>
        <p:spPr>
          <a:xfrm>
            <a:off x="812800" y="62230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Same vectors, read two ways: D is old news (a combination); 11011101 = A Δ B reduces to nothing as well — the list decides what counts as new.</a:t>
            </a:r>
            <a:endParaRPr lang="en-US" sz="1050" noProof="1"/>
          </a:p>
        </p:txBody>
      </p:sp>
      <p:sp>
        <p:nvSpPr>
          <p:cNvPr id="24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5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14</a:t>
            </a:r>
            <a:endParaRPr lang="en-US" sz="9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14 · STORAGE DISCIPLINE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Views, not stored compounds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96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Exact transport fixes what the store keeps. Only two kinds of node are materialized: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originals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(the IICA sketches of measured streams) and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base HLLSets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(the monotone ring basis) — each content-addressed as </a:t>
            </a:r>
            <a:r>
              <a:rPr lang="en-US" sz="1250" noProof="1">
                <a:solidFill>
                  <a:srgbClr val="1A1D20"/>
                </a:solidFill>
                <a:latin typeface="JetBrains Mono"/>
                <a:ea typeface="JetBrains Mono"/>
              </a:rPr>
              <a:t>h:&lt;sha1&gt;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and immutable.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Everything else — unions S(t), D/R/N, residuals, soft keys, covers, projections — is a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view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: an expression plus its provenance (the ordered SHA-1 identifiers of its sources). A view stores no bits of its own.</a:t>
            </a:r>
            <a:endParaRPr lang="en-US" sz="1250" noProof="1"/>
          </a:p>
        </p:txBody>
      </p:sp>
      <p:sp>
        <p:nvSpPr>
          <p:cNvPr id="6" name="left-body-2"/>
          <p:cNvSpPr txBox="1"/>
          <p:nvPr/>
        </p:nvSpPr>
        <p:spPr>
          <a:xfrm>
            <a:off x="812800" y="3683000"/>
            <a:ext cx="5969000" cy="1333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Why: coordinates are basis-relative and the basis moves. A compound frozen as bits or coordinates in one base is stale in another — the recipe never is. The reader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recreates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the compound against the base current at read time; recreation is deterministic and idempotent because the sources are IICA.</a:t>
            </a:r>
            <a:endParaRPr lang="en-US" sz="1250" noProof="1"/>
          </a:p>
        </p:txBody>
      </p:sp>
      <p:sp>
        <p:nvSpPr>
          <p:cNvPr id="7" name="strip-bar"/>
          <p:cNvSpPr/>
          <p:nvPr/>
        </p:nvSpPr>
        <p:spPr>
          <a:xfrm>
            <a:off x="812800" y="5207000"/>
            <a:ext cx="38100" cy="8128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8" name="strip-text"/>
          <p:cNvSpPr txBox="1"/>
          <p:nvPr/>
        </p:nvSpPr>
        <p:spPr>
          <a:xfrm>
            <a:off x="1016000" y="52070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Storage is proportional to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originals + base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, not to the number of compounds ever named — the operational form of "discover, do not create." Cached views are stamped with their basis generation and re-projected lazily, never wholesale.</a:t>
            </a:r>
            <a:endParaRPr lang="en-US" sz="1200" noProof="1"/>
          </a:p>
        </p:txBody>
      </p:sp>
      <p:sp>
        <p:nvSpPr>
          <p:cNvPr id="9" name="r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A VIEW RECORD (ABBREVIATED)</a:t>
            </a:r>
            <a:endParaRPr lang="en-US" sz="1000" noProof="1"/>
          </a:p>
        </p:txBody>
      </p:sp>
      <p:sp>
        <p:nvSpPr>
          <p:cNvPr id="10" name="view-box"/>
          <p:cNvSpPr/>
          <p:nvPr/>
        </p:nvSpPr>
        <p:spPr>
          <a:xfrm>
            <a:off x="7620000" y="1854200"/>
            <a:ext cx="3759200" cy="18796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11" name="view-text"/>
          <p:cNvSpPr txBox="1"/>
          <p:nvPr/>
        </p:nvSpPr>
        <p:spPr>
          <a:xfrm>
            <a:off x="7797800" y="1955800"/>
            <a:ext cx="34544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950" noProof="1">
                <a:solidFill>
                  <a:srgbClr val="1A1D20"/>
                </a:solidFill>
                <a:latin typeface="JetBrains Mono"/>
                <a:ea typeface="JetBrains Mono"/>
              </a:rPr>
              <a:t>{</a:t>
            </a:r>
            <a:endParaRPr lang="en-US" sz="950" noProof="1"/>
          </a:p>
          <a:p>
            <a:pPr>
              <a:lnSpc>
                <a:spcPct val="155000"/>
              </a:lnSpc>
            </a:pPr>
            <a:r>
              <a:rPr lang="en-US" sz="950" noProof="1">
                <a:solidFill>
                  <a:srgbClr val="1A1D20"/>
                </a:solidFill>
                <a:latin typeface="JetBrains Mono"/>
                <a:ea typeface="JetBrains Mono"/>
              </a:rPr>
              <a:t>  "view":   "p:9f2c1d…",</a:t>
            </a:r>
            <a:endParaRPr lang="en-US" sz="950" noProof="1"/>
          </a:p>
          <a:p>
            <a:pPr>
              <a:lnSpc>
                <a:spcPct val="155000"/>
              </a:lnSpc>
            </a:pPr>
            <a:r>
              <a:rPr lang="en-US" sz="950" noProof="1">
                <a:solidFill>
                  <a:srgbClr val="1A1D20"/>
                </a:solidFill>
                <a:latin typeface="JetBrains Mono"/>
                <a:ea typeface="JetBrains Mono"/>
              </a:rPr>
              <a:t>  "expr":   "union",</a:t>
            </a:r>
            <a:endParaRPr lang="en-US" sz="950" noProof="1"/>
          </a:p>
          <a:p>
            <a:pPr>
              <a:lnSpc>
                <a:spcPct val="155000"/>
              </a:lnSpc>
            </a:pPr>
            <a:r>
              <a:rPr lang="en-US" sz="950" noProof="1">
                <a:solidFill>
                  <a:srgbClr val="1A1D20"/>
                </a:solidFill>
                <a:latin typeface="JetBrains Mono"/>
                <a:ea typeface="JetBrains Mono"/>
              </a:rPr>
              <a:t>  "sources": ["h:1a7e…", "h:4b02…",</a:t>
            </a:r>
            <a:endParaRPr lang="en-US" sz="950" noProof="1"/>
          </a:p>
          <a:p>
            <a:pPr>
              <a:lnSpc>
                <a:spcPct val="155000"/>
              </a:lnSpc>
            </a:pPr>
            <a:r>
              <a:rPr lang="en-US" sz="950" noProof="1">
                <a:solidFill>
                  <a:srgbClr val="1A1D20"/>
                </a:solidFill>
                <a:latin typeface="JetBrains Mono"/>
                <a:ea typeface="JetBrains Mono"/>
              </a:rPr>
              <a:t>              "h:cd91…"],</a:t>
            </a:r>
            <a:endParaRPr lang="en-US" sz="950" noProof="1"/>
          </a:p>
          <a:p>
            <a:pPr>
              <a:lnSpc>
                <a:spcPct val="155000"/>
              </a:lnSpc>
            </a:pPr>
            <a:r>
              <a:rPr lang="en-US" sz="950" noProof="1">
                <a:solidFill>
                  <a:srgbClr val="1A1D20"/>
                </a:solidFill>
                <a:latin typeface="JetBrains Mono"/>
                <a:ea typeface="JetBrains Mono"/>
              </a:rPr>
              <a:t>  "basis_generation": 37,</a:t>
            </a:r>
            <a:endParaRPr lang="en-US" sz="950" noProof="1"/>
          </a:p>
          <a:p>
            <a:pPr>
              <a:lnSpc>
                <a:spcPct val="155000"/>
              </a:lnSpc>
            </a:pPr>
            <a:r>
              <a:rPr lang="en-US" sz="950" noProof="1">
                <a:solidFill>
                  <a:srgbClr val="1A1D20"/>
                </a:solidFill>
                <a:latin typeface="JetBrains Mono"/>
                <a:ea typeface="JetBrains Mono"/>
              </a:rPr>
              <a:t>  "materialized": false</a:t>
            </a:r>
            <a:endParaRPr lang="en-US" sz="950" noProof="1"/>
          </a:p>
          <a:p>
            <a:pPr>
              <a:lnSpc>
                <a:spcPct val="155000"/>
              </a:lnSpc>
            </a:pPr>
            <a:r>
              <a:rPr lang="en-US" sz="950" noProof="1">
                <a:solidFill>
                  <a:srgbClr val="1A1D20"/>
                </a:solidFill>
                <a:latin typeface="JetBrains Mono"/>
                <a:ea typeface="JetBrains Mono"/>
              </a:rPr>
              <a:t>}</a:t>
            </a:r>
            <a:endParaRPr lang="en-US" sz="950" noProof="1"/>
          </a:p>
        </p:txBody>
      </p:sp>
      <p:sp>
        <p:nvSpPr>
          <p:cNvPr id="12" name="tbl-label"/>
          <p:cNvSpPr txBox="1"/>
          <p:nvPr/>
        </p:nvSpPr>
        <p:spPr>
          <a:xfrm>
            <a:off x="7620000" y="39878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STORED AS → READ AS</a:t>
            </a:r>
            <a:endParaRPr lang="en-US" sz="1000" noProof="1"/>
          </a:p>
        </p:txBody>
      </p:sp>
      <p:sp>
        <p:nvSpPr>
          <p:cNvPr id="13" name="tr1-a"/>
          <p:cNvSpPr txBox="1"/>
          <p:nvPr/>
        </p:nvSpPr>
        <p:spPr>
          <a:xfrm>
            <a:off x="7620000" y="42926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 noProof="1" b="1">
                <a:solidFill>
                  <a:srgbClr val="1E5B4E"/>
                </a:solidFill>
                <a:latin typeface="JetBrains Mono"/>
                <a:ea typeface="JetBrains Mono"/>
              </a:rPr>
              <a:t>originals · base</a:t>
            </a:r>
            <a:endParaRPr lang="en-US" sz="950" noProof="1"/>
          </a:p>
        </p:txBody>
      </p:sp>
      <p:sp>
        <p:nvSpPr>
          <p:cNvPr id="14" name="tr1-b"/>
          <p:cNvSpPr txBox="1"/>
          <p:nvPr/>
        </p:nvSpPr>
        <p:spPr>
          <a:xfrm>
            <a:off x="9474200" y="4292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bits, h:&lt;sha1&gt; → itself</a:t>
            </a:r>
            <a:endParaRPr lang="en-US" sz="1000" noProof="1"/>
          </a:p>
        </p:txBody>
      </p:sp>
      <p:sp>
        <p:nvSpPr>
          <p:cNvPr id="15" name="rule-tr1"/>
          <p:cNvSpPr/>
          <p:nvPr/>
        </p:nvSpPr>
        <p:spPr>
          <a:xfrm>
            <a:off x="7620000" y="47244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6" name="tr2-a"/>
          <p:cNvSpPr txBox="1"/>
          <p:nvPr/>
        </p:nvSpPr>
        <p:spPr>
          <a:xfrm>
            <a:off x="7620000" y="48768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 noProof="1" b="1">
                <a:solidFill>
                  <a:srgbClr val="1A1D20"/>
                </a:solidFill>
                <a:latin typeface="JetBrains Mono"/>
                <a:ea typeface="JetBrains Mono"/>
              </a:rPr>
              <a:t>union, D/R/N</a:t>
            </a:r>
            <a:endParaRPr lang="en-US" sz="950" noProof="1"/>
          </a:p>
        </p:txBody>
      </p:sp>
      <p:sp>
        <p:nvSpPr>
          <p:cNvPr id="17" name="tr2-b"/>
          <p:cNvSpPr txBox="1"/>
          <p:nvPr/>
        </p:nvSpPr>
        <p:spPr>
          <a:xfrm>
            <a:off x="9474200" y="48768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expression + provenance → recomputed</a:t>
            </a:r>
            <a:endParaRPr lang="en-US" sz="1000" noProof="1"/>
          </a:p>
        </p:txBody>
      </p:sp>
      <p:sp>
        <p:nvSpPr>
          <p:cNvPr id="18" name="rule-tr2"/>
          <p:cNvSpPr/>
          <p:nvPr/>
        </p:nvSpPr>
        <p:spPr>
          <a:xfrm>
            <a:off x="7620000" y="53086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9" name="tr3-a"/>
          <p:cNvSpPr txBox="1"/>
          <p:nvPr/>
        </p:nvSpPr>
        <p:spPr>
          <a:xfrm>
            <a:off x="7620000" y="5461000"/>
            <a:ext cx="177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 noProof="1" b="1">
                <a:solidFill>
                  <a:srgbClr val="1A1D20"/>
                </a:solidFill>
                <a:latin typeface="JetBrains Mono"/>
                <a:ea typeface="JetBrains Mono"/>
              </a:rPr>
              <a:t>residual, soft key, cover</a:t>
            </a:r>
            <a:endParaRPr lang="en-US" sz="950" noProof="1"/>
          </a:p>
        </p:txBody>
      </p:sp>
      <p:sp>
        <p:nvSpPr>
          <p:cNvPr id="20" name="tr3-b"/>
          <p:cNvSpPr txBox="1"/>
          <p:nvPr/>
        </p:nvSpPr>
        <p:spPr>
          <a:xfrm>
            <a:off x="9474200" y="54610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+ basis generation → recomputed; cache generation-stamped</a:t>
            </a:r>
            <a:endParaRPr lang="en-US" sz="1000" noProof="1"/>
          </a:p>
        </p:txBody>
      </p:sp>
      <p:sp>
        <p:nvSpPr>
          <p:cNvPr id="21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15</a:t>
            </a:r>
            <a:endParaRPr lang="en-US" sz="9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15 · TRAJECTORY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Frames: the trajectory is a choice of lens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A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frame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is a named set of dimensions D = (D₁,…,D_m); its coordinate map reads a node through BSS similarity, and φ_D(X(t)) over t is the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state trajectory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in that frame.</a:t>
            </a:r>
            <a:endParaRPr lang="en-US" sz="1250" noProof="1"/>
          </a:p>
        </p:txBody>
      </p:sp>
      <p:sp>
        <p:nvSpPr>
          <p:cNvPr id="6" name="eq-box"/>
          <p:cNvSpPr/>
          <p:nvPr/>
        </p:nvSpPr>
        <p:spPr>
          <a:xfrm>
            <a:off x="812800" y="2768600"/>
            <a:ext cx="5969000" cy="711200"/>
          </a:xfrm>
          <a:prstGeom prst="rect">
            <a:avLst/>
          </a:prstGeom>
          <a:solidFill>
            <a:srgbClr val="F1EFE9"/>
          </a:solidFill>
          <a:ln w="12700">
            <a:solidFill>
              <a:srgbClr val="DCD8CF"/>
            </a:solidFill>
          </a:ln>
        </p:spPr>
      </p:sp>
      <p:sp>
        <p:nvSpPr>
          <p:cNvPr id="7" name="eq-text"/>
          <p:cNvSpPr txBox="1"/>
          <p:nvPr/>
        </p:nvSpPr>
        <p:spPr>
          <a:xfrm>
            <a:off x="1066800" y="2768600"/>
            <a:ext cx="5461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A1D20"/>
                </a:solidFill>
                <a:latin typeface="JetBrains Mono"/>
                <a:ea typeface="JetBrains Mono"/>
              </a:rPr>
              <a:t>φ_D(X) = ( BSS(X,D₁),…,BSS(X,D_m) ),   BSS = |X ∩ Dᵢ| / |Dᵢ|</a:t>
            </a:r>
            <a:endParaRPr lang="en-US" sz="1200" noProof="1"/>
          </a:p>
        </p:txBody>
      </p:sp>
      <p:sp>
        <p:nvSpPr>
          <p:cNvPr id="8" name="left-body-2"/>
          <p:cNvSpPr txBox="1"/>
          <p:nvPr/>
        </p:nvSpPr>
        <p:spPr>
          <a:xfrm>
            <a:off x="812800" y="3733800"/>
            <a:ext cx="5969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Different frames are different readings of the same nodes: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D/R/N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is the temporal frame, the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ring basis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is the linear frame, joined perceptrons are the structural frame, a codebook gate is a per-user frame. Varying the frame changes what we see — not what the state is.</a:t>
            </a:r>
            <a:endParaRPr lang="en-US" sz="1250" noProof="1"/>
          </a:p>
        </p:txBody>
      </p:sp>
      <p:sp>
        <p:nvSpPr>
          <p:cNvPr id="9" name="strip-bar"/>
          <p:cNvSpPr/>
          <p:nvPr/>
        </p:nvSpPr>
        <p:spPr>
          <a:xfrm>
            <a:off x="812800" y="5080000"/>
            <a:ext cx="38100" cy="5588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0" name="strip-text"/>
          <p:cNvSpPr txBox="1"/>
          <p:nvPr/>
        </p:nvSpPr>
        <p:spPr>
          <a:xfrm>
            <a:off x="1016000" y="5080000"/>
            <a:ext cx="596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Basis frames also enable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time travel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: project the present into the first recorded basis; the spill |X \ cover(F₀)| measures the error of reading the present through the past's lens.</a:t>
            </a:r>
            <a:endParaRPr lang="en-US" sz="1200" noProof="1"/>
          </a:p>
        </p:txBody>
      </p:sp>
      <p:sp>
        <p:nvSpPr>
          <p:cNvPr id="11" name="sig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FOUR TRAJECTORY SIGNALS</a:t>
            </a:r>
            <a:endParaRPr lang="en-US" sz="1000" noProof="1"/>
          </a:p>
        </p:txBody>
      </p:sp>
      <p:sp>
        <p:nvSpPr>
          <p:cNvPr id="12" name="g1-name"/>
          <p:cNvSpPr txBox="1"/>
          <p:nvPr/>
        </p:nvSpPr>
        <p:spPr>
          <a:xfrm>
            <a:off x="7620000" y="18542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linear novelty — res(X)</a:t>
            </a:r>
            <a:endParaRPr lang="en-US" sz="1100" noProof="1"/>
          </a:p>
        </p:txBody>
      </p:sp>
      <p:sp>
        <p:nvSpPr>
          <p:cNvPr id="13" name="g1-desc"/>
          <p:cNvSpPr txBox="1"/>
          <p:nvPr/>
        </p:nvSpPr>
        <p:spPr>
          <a:xfrm>
            <a:off x="7620000" y="2108200"/>
            <a:ext cx="3759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part no XOR of originals can express — a higher-order "new"</a:t>
            </a:r>
            <a:endParaRPr lang="en-US" sz="1050" noProof="1"/>
          </a:p>
        </p:txBody>
      </p:sp>
      <p:sp>
        <p:nvSpPr>
          <p:cNvPr id="14" name="rule-g1"/>
          <p:cNvSpPr/>
          <p:nvPr/>
        </p:nvSpPr>
        <p:spPr>
          <a:xfrm>
            <a:off x="7620000" y="25908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5" name="g2-name"/>
          <p:cNvSpPr txBox="1"/>
          <p:nvPr/>
        </p:nvSpPr>
        <p:spPr>
          <a:xfrm>
            <a:off x="7620000" y="27432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rotation — rotation_count</a:t>
            </a:r>
            <a:endParaRPr lang="en-US" sz="1100" noProof="1"/>
          </a:p>
        </p:txBody>
      </p:sp>
      <p:sp>
        <p:nvSpPr>
          <p:cNvPr id="16" name="g2-desc"/>
          <p:cNvSpPr txBox="1"/>
          <p:nvPr/>
        </p:nvSpPr>
        <p:spPr>
          <a:xfrm>
            <a:off x="7620000" y="2997200"/>
            <a:ext cx="3759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how many existing directions re-index through a new one; zero when residual is zero</a:t>
            </a:r>
            <a:endParaRPr lang="en-US" sz="1050" noProof="1"/>
          </a:p>
        </p:txBody>
      </p:sp>
      <p:sp>
        <p:nvSpPr>
          <p:cNvPr id="17" name="rule-g2"/>
          <p:cNvSpPr/>
          <p:nvPr/>
        </p:nvSpPr>
        <p:spPr>
          <a:xfrm>
            <a:off x="7620000" y="34798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8" name="g3-name"/>
          <p:cNvSpPr txBox="1"/>
          <p:nvPr/>
        </p:nvSpPr>
        <p:spPr>
          <a:xfrm>
            <a:off x="7620000" y="36322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bit novelty — N_bit = X \ cover</a:t>
            </a:r>
            <a:endParaRPr lang="en-US" sz="1100" noProof="1"/>
          </a:p>
        </p:txBody>
      </p:sp>
      <p:sp>
        <p:nvSpPr>
          <p:cNvPr id="19" name="g3-desc"/>
          <p:cNvSpPr txBox="1"/>
          <p:nvPr/>
        </p:nvSpPr>
        <p:spPr>
          <a:xfrm>
            <a:off x="7620000" y="38862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part no span member can contain; cover identity ∪basis = ∪originals holds exactly; N_bit ⊆ res(X)</a:t>
            </a:r>
            <a:endParaRPr lang="en-US" sz="1050" noProof="1"/>
          </a:p>
        </p:txBody>
      </p:sp>
      <p:sp>
        <p:nvSpPr>
          <p:cNvPr id="20" name="rule-g3"/>
          <p:cNvSpPr/>
          <p:nvPr/>
        </p:nvSpPr>
        <p:spPr>
          <a:xfrm>
            <a:off x="7620000" y="45212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1" name="g4-name"/>
          <p:cNvSpPr txBox="1"/>
          <p:nvPr/>
        </p:nvSpPr>
        <p:spPr>
          <a:xfrm>
            <a:off x="7620000" y="4673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basis frames — spill</a:t>
            </a:r>
            <a:endParaRPr lang="en-US" sz="1100" noProof="1"/>
          </a:p>
        </p:txBody>
      </p:sp>
      <p:sp>
        <p:nvSpPr>
          <p:cNvPr id="22" name="g4-desc"/>
          <p:cNvSpPr txBox="1"/>
          <p:nvPr/>
        </p:nvSpPr>
        <p:spPr>
          <a:xfrm>
            <a:off x="7620000" y="49276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every frame also projected into the first recorded basis, with the spill measuring past-lens error</a:t>
            </a:r>
            <a:endParaRPr lang="en-US" sz="1050" noProof="1"/>
          </a:p>
        </p:txBody>
      </p:sp>
      <p:sp>
        <p:nvSpPr>
          <p:cNvPr id="23" name="tools-label"/>
          <p:cNvSpPr txBox="1"/>
          <p:nvPr/>
        </p:nvSpPr>
        <p:spPr>
          <a:xfrm>
            <a:off x="7620000" y="5638800"/>
            <a:ext cx="375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EXACTNESS IS PART OF THE SPEC</a:t>
            </a:r>
            <a:endParaRPr lang="en-US" sz="1000" noProof="1"/>
          </a:p>
        </p:txBody>
      </p:sp>
      <p:sp>
        <p:nvSpPr>
          <p:cNvPr id="24" name="tools-body"/>
          <p:cNvSpPr txBox="1"/>
          <p:nvPr/>
        </p:nvSpPr>
        <p:spPr>
          <a:xfrm>
            <a:off x="7620000" y="5867400"/>
            <a:ext cx="3759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E747B"/>
                </a:solidFill>
                <a:latin typeface="Inter"/>
                <a:ea typeface="Inter"/>
              </a:rPr>
              <a:t>change of basis: exact matrix · cover: exact · BSS transform: not linear — re-project, or climb the meet-order ladder · minimal cover: unique support in span, greedy H(d) otherwise</a:t>
            </a:r>
            <a:endParaRPr lang="en-US" sz="1000" noProof="1"/>
          </a:p>
        </p:txBody>
      </p:sp>
      <p:sp>
        <p:nvSpPr>
          <p:cNvPr id="25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6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16</a:t>
            </a:r>
            <a:endParaRPr lang="en-US" sz="9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16 · ROTATING COORDINATES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The basis is a rotating coordinate system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ring's basis is not a fixed frame. Each commit appends a commit HLLSet (extension) and re-pivots some existing ones (rotation), so the basis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moves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— a node that does not change still changes its coordinates. On the 10×10 clip,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534 coordinates re-pivot over 100 commits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(mean 5.34 per commit): the frame moves on almost every step.</a:t>
            </a:r>
            <a:endParaRPr lang="en-US" sz="1250" noProof="1"/>
          </a:p>
        </p:txBody>
      </p:sp>
      <p:sp>
        <p:nvSpPr>
          <p:cNvPr id="6" name="left-body-2"/>
          <p:cNvSpPr txBox="1"/>
          <p:nvPr/>
        </p:nvSpPr>
        <p:spPr>
          <a:xfrm>
            <a:off x="812800" y="2946400"/>
            <a:ext cx="5969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Each commit's </a:t>
            </a:r>
            <a:r>
              <a:rPr lang="en-US" sz="1250" noProof="1" b="1">
                <a:solidFill>
                  <a:srgbClr val="1A1D20"/>
                </a:solidFill>
                <a:latin typeface="Inter"/>
                <a:ea typeface="Inter"/>
              </a:rPr>
              <a:t>top state</a:t>
            </a: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 U(t) is read in the coordinates current when it arrived, B(t−1) — the context it is measured against — yielding three exact objects. Arranged as a matrix with base coordinates on Y and commits on X, the trajectory becomes one readable picture.</a:t>
            </a:r>
            <a:endParaRPr lang="en-US" sz="1250" noProof="1"/>
          </a:p>
        </p:txBody>
      </p:sp>
      <p:sp>
        <p:nvSpPr>
          <p:cNvPr id="7" name="matrix-label"/>
          <p:cNvSpPr txBox="1"/>
          <p:nvPr/>
        </p:nvSpPr>
        <p:spPr>
          <a:xfrm>
            <a:off x="812800" y="4470400"/>
            <a:ext cx="596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THE COORDINATE–TIME MATRIX SHOWS THREE STRUCTURES</a:t>
            </a:r>
            <a:endParaRPr lang="en-US" sz="1000" noProof="1"/>
          </a:p>
        </p:txBody>
      </p:sp>
      <p:sp>
        <p:nvSpPr>
          <p:cNvPr id="8" name="mx1-name"/>
          <p:cNvSpPr txBox="1"/>
          <p:nvPr/>
        </p:nvSpPr>
        <p:spPr>
          <a:xfrm>
            <a:off x="812800" y="47752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frontier</a:t>
            </a:r>
            <a:endParaRPr lang="en-US" sz="1100" noProof="1"/>
          </a:p>
        </p:txBody>
      </p:sp>
      <p:sp>
        <p:nvSpPr>
          <p:cNvPr id="9" name="mx1-desc"/>
          <p:cNvSpPr txBox="1"/>
          <p:nvPr/>
        </p:nvSpPr>
        <p:spPr>
          <a:xfrm>
            <a:off x="2540000" y="4775200"/>
            <a:ext cx="4241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white line of the span dimension — grows monotonically, bounds what exists yet</a:t>
            </a:r>
            <a:endParaRPr lang="en-US" sz="1050" noProof="1"/>
          </a:p>
        </p:txBody>
      </p:sp>
      <p:sp>
        <p:nvSpPr>
          <p:cNvPr id="10" name="mx2-name"/>
          <p:cNvSpPr txBox="1"/>
          <p:nvPr/>
        </p:nvSpPr>
        <p:spPr>
          <a:xfrm>
            <a:off x="812800" y="52578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rows</a:t>
            </a:r>
            <a:endParaRPr lang="en-US" sz="1100" noProof="1"/>
          </a:p>
        </p:txBody>
      </p:sp>
      <p:sp>
        <p:nvSpPr>
          <p:cNvPr id="11" name="mx2-desc"/>
          <p:cNvSpPr txBox="1"/>
          <p:nvPr/>
        </p:nvSpPr>
        <p:spPr>
          <a:xfrm>
            <a:off x="2540000" y="5257800"/>
            <a:ext cx="4241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born as coordinates appear; bright = stable context direction; dimming = rotated away</a:t>
            </a:r>
            <a:endParaRPr lang="en-US" sz="1050" noProof="1"/>
          </a:p>
        </p:txBody>
      </p:sp>
      <p:sp>
        <p:nvSpPr>
          <p:cNvPr id="12" name="mx3-name"/>
          <p:cNvSpPr txBox="1"/>
          <p:nvPr/>
        </p:nvSpPr>
        <p:spPr>
          <a:xfrm>
            <a:off x="812800" y="57404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residual panel</a:t>
            </a:r>
            <a:endParaRPr lang="en-US" sz="1100" noProof="1"/>
          </a:p>
        </p:txBody>
      </p:sp>
      <p:sp>
        <p:nvSpPr>
          <p:cNvPr id="13" name="mx3-desc"/>
          <p:cNvSpPr txBox="1"/>
          <p:nvPr/>
        </p:nvSpPr>
        <p:spPr>
          <a:xfrm>
            <a:off x="2540000" y="5740400"/>
            <a:ext cx="4241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spikes at transitions — a representation-independent event signal</a:t>
            </a:r>
            <a:endParaRPr lang="en-US" sz="1050" noProof="1"/>
          </a:p>
        </p:txBody>
      </p:sp>
      <p:sp>
        <p:nvSpPr>
          <p:cNvPr id="14" name="key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DECOMPOSING THE TOP STATE U(t)</a:t>
            </a:r>
            <a:endParaRPr lang="en-US" sz="1000" noProof="1"/>
          </a:p>
        </p:txBody>
      </p:sp>
      <p:sp>
        <p:nvSpPr>
          <p:cNvPr id="15" name="k1-name"/>
          <p:cNvSpPr txBox="1"/>
          <p:nvPr/>
        </p:nvSpPr>
        <p:spPr>
          <a:xfrm>
            <a:off x="7620000" y="18542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soft key — w_i ∈ [0,1]</a:t>
            </a:r>
            <a:endParaRPr lang="en-US" sz="1100" noProof="1"/>
          </a:p>
        </p:txBody>
      </p:sp>
      <p:sp>
        <p:nvSpPr>
          <p:cNvPr id="16" name="k1-desc"/>
          <p:cNvSpPr txBox="1"/>
          <p:nvPr/>
        </p:nvSpPr>
        <p:spPr>
          <a:xfrm>
            <a:off x="7620000" y="21082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w_i = |U ∩ B_i| / |B_i| — where the new state lands in the current coordinates; always defined</a:t>
            </a:r>
            <a:endParaRPr lang="en-US" sz="1050" noProof="1"/>
          </a:p>
        </p:txBody>
      </p:sp>
      <p:sp>
        <p:nvSpPr>
          <p:cNvPr id="17" name="rule-k1"/>
          <p:cNvSpPr/>
          <p:nvPr/>
        </p:nvSpPr>
        <p:spPr>
          <a:xfrm>
            <a:off x="7620000" y="27432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8" name="k2-name"/>
          <p:cNvSpPr txBox="1"/>
          <p:nvPr/>
        </p:nvSpPr>
        <p:spPr>
          <a:xfrm>
            <a:off x="7620000" y="2895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hard key — coordinates c(t)</a:t>
            </a:r>
            <a:endParaRPr lang="en-US" sz="1100" noProof="1"/>
          </a:p>
        </p:txBody>
      </p:sp>
      <p:sp>
        <p:nvSpPr>
          <p:cNvPr id="19" name="k2-desc"/>
          <p:cNvSpPr txBox="1"/>
          <p:nvPr/>
        </p:nvSpPr>
        <p:spPr>
          <a:xfrm>
            <a:off x="7620000" y="31496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unique XOR combination with U = Δ_i c_i B_i — defined exactly when the residual is empty</a:t>
            </a:r>
            <a:endParaRPr lang="en-US" sz="1050" noProof="1"/>
          </a:p>
        </p:txBody>
      </p:sp>
      <p:sp>
        <p:nvSpPr>
          <p:cNvPr id="20" name="rule-k2"/>
          <p:cNvSpPr/>
          <p:nvPr/>
        </p:nvSpPr>
        <p:spPr>
          <a:xfrm>
            <a:off x="7620000" y="37846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1" name="k3-name"/>
          <p:cNvSpPr txBox="1"/>
          <p:nvPr/>
        </p:nvSpPr>
        <p:spPr>
          <a:xfrm>
            <a:off x="7620000" y="39370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residual — the off-span part</a:t>
            </a:r>
            <a:endParaRPr lang="en-US" sz="1100" noProof="1"/>
          </a:p>
        </p:txBody>
      </p:sp>
      <p:sp>
        <p:nvSpPr>
          <p:cNvPr id="22" name="k3-desc"/>
          <p:cNvSpPr txBox="1"/>
          <p:nvPr/>
        </p:nvSpPr>
        <p:spPr>
          <a:xfrm>
            <a:off x="7620000" y="41910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completes the exact decomposition U = P Δ res — what no current coordinate can express</a:t>
            </a:r>
            <a:endParaRPr lang="en-US" sz="1050" noProof="1"/>
          </a:p>
        </p:txBody>
      </p:sp>
      <p:sp>
        <p:nvSpPr>
          <p:cNvPr id="23" name="rule-k3"/>
          <p:cNvSpPr/>
          <p:nvPr/>
        </p:nvSpPr>
        <p:spPr>
          <a:xfrm>
            <a:off x="7620000" y="48260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4" name="k-stats"/>
          <p:cNvSpPr txBox="1"/>
          <p:nvPr/>
        </p:nvSpPr>
        <p:spPr>
          <a:xfrm>
            <a:off x="7620000" y="5003800"/>
            <a:ext cx="37592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On the clip: no top state fully inside the prior span (0/100) — every frame carries new drift. Mean soft-key 0.091, max 0.804: most coordinates barely touched, a few carry the frame.</a:t>
            </a:r>
            <a:endParaRPr lang="en-US" sz="1050" noProof="1"/>
          </a:p>
        </p:txBody>
      </p:sp>
      <p:sp>
        <p:nvSpPr>
          <p:cNvPr id="25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26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17</a:t>
            </a:r>
            <a:endParaRPr lang="en-US" sz="9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17 · EVIDENCE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Measured, not asymptotic: a 10×10 scene clip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eft-body"/>
          <p:cNvSpPr txBox="1"/>
          <p:nvPr/>
        </p:nvSpPr>
        <p:spPr>
          <a:xfrm>
            <a:off x="812800" y="1549400"/>
            <a:ext cx="5969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1A1D20"/>
                </a:solidFill>
                <a:latin typeface="Inter"/>
                <a:ea typeface="Inter"/>
              </a:rPr>
              <a:t>The clip has known structure: 10 scenes × 10 frames, each frame a 200-token scene vocabulary plus 56 tokens of per-frame drift; scene cuts at frames 11, 21, …, 91. Analyzed incrementally as frames arrive, and reproducible by the repo's notebooks (a bit-exact Python mirror of the ring) and the Rust test suite.</a:t>
            </a:r>
            <a:endParaRPr lang="en-US" sz="1250" noProof="1"/>
          </a:p>
        </p:txBody>
      </p:sp>
      <p:sp>
        <p:nvSpPr>
          <p:cNvPr id="6" name="cuts-label"/>
          <p:cNvSpPr txBox="1"/>
          <p:nvPr/>
        </p:nvSpPr>
        <p:spPr>
          <a:xfrm>
            <a:off x="812800" y="2717800"/>
            <a:ext cx="596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NOVELTY AT SCENE CUTS VS IN-SCENE DRIFT</a:t>
            </a:r>
            <a:endParaRPr lang="en-US" sz="1000" noProof="1"/>
          </a:p>
        </p:txBody>
      </p:sp>
      <p:sp>
        <p:nvSpPr>
          <p:cNvPr id="7" name="th"/>
          <p:cNvSpPr txBox="1"/>
          <p:nvPr/>
        </p:nvSpPr>
        <p:spPr>
          <a:xfrm>
            <a:off x="812800" y="30226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747B"/>
                </a:solidFill>
                <a:latin typeface="JetBrains Mono"/>
                <a:ea typeface="JetBrains Mono"/>
              </a:rPr>
              <a:t>signal (morphism)                  cut mean   in-scene   separation </a:t>
            </a:r>
            <a:endParaRPr lang="en-US" sz="950" noProof="1"/>
          </a:p>
        </p:txBody>
      </p:sp>
      <p:sp>
        <p:nvSpPr>
          <p:cNvPr id="8" name="tr1"/>
          <p:cNvSpPr txBox="1"/>
          <p:nvPr/>
        </p:nvSpPr>
        <p:spPr>
          <a:xfrm>
            <a:off x="812800" y="33020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residual, windowed (μ_ng)         782.9      271.4      2.9× </a:t>
            </a:r>
            <a:endParaRPr lang="en-US" sz="1050" noProof="1"/>
          </a:p>
        </p:txBody>
      </p:sp>
      <p:sp>
        <p:nvSpPr>
          <p:cNvPr id="9" name="rule-tr1"/>
          <p:cNvSpPr/>
          <p:nvPr/>
        </p:nvSpPr>
        <p:spPr>
          <a:xfrm>
            <a:off x="812800" y="3581400"/>
            <a:ext cx="59690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0" name="tr2"/>
          <p:cNvSpPr txBox="1"/>
          <p:nvPr/>
        </p:nvSpPr>
        <p:spPr>
          <a:xfrm>
            <a:off x="812800" y="37084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1A1D20"/>
                </a:solidFill>
                <a:latin typeface="JetBrains Mono"/>
                <a:ea typeface="JetBrains Mono"/>
              </a:rPr>
              <a:t>residual, monotone (μ_flat)       612.6      328.3      1.9× </a:t>
            </a:r>
            <a:endParaRPr lang="en-US" sz="1050" noProof="1"/>
          </a:p>
        </p:txBody>
      </p:sp>
      <p:sp>
        <p:nvSpPr>
          <p:cNvPr id="11" name="rule-tr2"/>
          <p:cNvSpPr/>
          <p:nvPr/>
        </p:nvSpPr>
        <p:spPr>
          <a:xfrm>
            <a:off x="812800" y="3987800"/>
            <a:ext cx="59690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2" name="tr3"/>
          <p:cNvSpPr txBox="1"/>
          <p:nvPr/>
        </p:nvSpPr>
        <p:spPr>
          <a:xfrm>
            <a:off x="812800" y="41148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C2521E"/>
                </a:solidFill>
                <a:latin typeface="JetBrains Mono"/>
                <a:ea typeface="JetBrains Mono"/>
              </a:rPr>
              <a:t>bit novelty N, monotone (μ_flat)  99.0       26.4       3.75× </a:t>
            </a:r>
            <a:endParaRPr lang="en-US" sz="1050" noProof="1"/>
          </a:p>
        </p:txBody>
      </p:sp>
      <p:sp>
        <p:nvSpPr>
          <p:cNvPr id="13" name="cuts-note"/>
          <p:cNvSpPr txBox="1"/>
          <p:nvPr/>
        </p:nvSpPr>
        <p:spPr>
          <a:xfrm>
            <a:off x="812800" y="44704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windowed linear residual flags all 9/9 cuts (each above in-scene mean + 2σ); bit novelty is the sharpest signal on the flat morphism. The two morphisms are different measurements — scales are not comparable; the structural conclusions are morphism-agnostic.</a:t>
            </a:r>
            <a:endParaRPr lang="en-US" sz="1050" noProof="1"/>
          </a:p>
        </p:txBody>
      </p:sp>
      <p:sp>
        <p:nvSpPr>
          <p:cNvPr id="14" name="repr-label"/>
          <p:cNvSpPr txBox="1"/>
          <p:nvPr/>
        </p:nvSpPr>
        <p:spPr>
          <a:xfrm>
            <a:off x="812800" y="5384800"/>
            <a:ext cx="596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REPRESENTABILITY, MEASURED</a:t>
            </a:r>
            <a:endParaRPr lang="en-US" sz="1000" noProof="1"/>
          </a:p>
        </p:txBody>
      </p:sp>
      <p:sp>
        <p:nvSpPr>
          <p:cNvPr id="15" name="repr-body"/>
          <p:cNvSpPr txBox="1"/>
          <p:nvPr/>
        </p:nvSpPr>
        <p:spPr>
          <a:xfrm>
            <a:off x="812800" y="5638800"/>
            <a:ext cx="5969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A1D20"/>
                </a:solidFill>
                <a:latin typeface="Inter"/>
                <a:ea typeface="Inter"/>
              </a:rPr>
              <a:t>Δ always in span (394/394); ∩ ∪ \ never (0/394) — the meet obstruction, as predicted. Change of basis 50→100 is sparse (density 0.038); all 50 old basis elements stay representable; the coordinate round-trip is the identity.</a:t>
            </a:r>
            <a:endParaRPr lang="en-US" sz="1150" noProof="1"/>
          </a:p>
        </p:txBody>
      </p:sp>
      <p:sp>
        <p:nvSpPr>
          <p:cNvPr id="16" name="stat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HEADLINE NUMBERS</a:t>
            </a:r>
            <a:endParaRPr lang="en-US" sz="1000" noProof="1"/>
          </a:p>
        </p:txBody>
      </p:sp>
      <p:sp>
        <p:nvSpPr>
          <p:cNvPr id="17" name="st1-num"/>
          <p:cNvSpPr txBox="1"/>
          <p:nvPr/>
        </p:nvSpPr>
        <p:spPr>
          <a:xfrm>
            <a:off x="7620000" y="1879600"/>
            <a:ext cx="3759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1A1D20"/>
                </a:solidFill>
                <a:latin typeface="Space Grotesk"/>
                <a:ea typeface="Space Grotesk"/>
              </a:rPr>
              <a:t>9 / 9</a:t>
            </a:r>
            <a:endParaRPr lang="en-US" sz="2000" noProof="1"/>
          </a:p>
        </p:txBody>
      </p:sp>
      <p:sp>
        <p:nvSpPr>
          <p:cNvPr id="18" name="st1-lab"/>
          <p:cNvSpPr txBox="1"/>
          <p:nvPr/>
        </p:nvSpPr>
        <p:spPr>
          <a:xfrm>
            <a:off x="7620000" y="22606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scene cuts detected by the linear residual</a:t>
            </a:r>
            <a:endParaRPr lang="en-US" sz="1050" noProof="1"/>
          </a:p>
        </p:txBody>
      </p:sp>
      <p:sp>
        <p:nvSpPr>
          <p:cNvPr id="19" name="rule-s1"/>
          <p:cNvSpPr/>
          <p:nvPr/>
        </p:nvSpPr>
        <p:spPr>
          <a:xfrm>
            <a:off x="7620000" y="25908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0" name="st2-num"/>
          <p:cNvSpPr txBox="1"/>
          <p:nvPr/>
        </p:nvSpPr>
        <p:spPr>
          <a:xfrm>
            <a:off x="7620000" y="2743200"/>
            <a:ext cx="3759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1A1D20"/>
                </a:solidFill>
                <a:latin typeface="Space Grotesk"/>
                <a:ea typeface="Space Grotesk"/>
              </a:rPr>
              <a:t>3.75×</a:t>
            </a:r>
            <a:endParaRPr lang="en-US" sz="2000" noProof="1"/>
          </a:p>
        </p:txBody>
      </p:sp>
      <p:sp>
        <p:nvSpPr>
          <p:cNvPr id="21" name="st2-lab"/>
          <p:cNvSpPr txBox="1"/>
          <p:nvPr/>
        </p:nvSpPr>
        <p:spPr>
          <a:xfrm>
            <a:off x="7620000" y="31242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bit-novelty separation of cuts from in-scene drift</a:t>
            </a:r>
            <a:endParaRPr lang="en-US" sz="1050" noProof="1"/>
          </a:p>
        </p:txBody>
      </p:sp>
      <p:sp>
        <p:nvSpPr>
          <p:cNvPr id="22" name="rule-s2"/>
          <p:cNvSpPr/>
          <p:nvPr/>
        </p:nvSpPr>
        <p:spPr>
          <a:xfrm>
            <a:off x="7620000" y="34544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3" name="st3-num"/>
          <p:cNvSpPr txBox="1"/>
          <p:nvPr/>
        </p:nvSpPr>
        <p:spPr>
          <a:xfrm>
            <a:off x="7620000" y="3606800"/>
            <a:ext cx="3759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1A1D20"/>
                </a:solidFill>
                <a:latin typeface="Space Grotesk"/>
                <a:ea typeface="Space Grotesk"/>
              </a:rPr>
              <a:t>534</a:t>
            </a:r>
            <a:endParaRPr lang="en-US" sz="2000" noProof="1"/>
          </a:p>
        </p:txBody>
      </p:sp>
      <p:sp>
        <p:nvSpPr>
          <p:cNvPr id="24" name="st3-lab"/>
          <p:cNvSpPr txBox="1"/>
          <p:nvPr/>
        </p:nvSpPr>
        <p:spPr>
          <a:xfrm>
            <a:off x="7620000" y="3987800"/>
            <a:ext cx="3911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coordinates re-pivoted over 100 commits — the frame moves</a:t>
            </a:r>
            <a:endParaRPr lang="en-US" sz="1050" noProof="1"/>
          </a:p>
        </p:txBody>
      </p:sp>
      <p:sp>
        <p:nvSpPr>
          <p:cNvPr id="25" name="rule-s3"/>
          <p:cNvSpPr/>
          <p:nvPr/>
        </p:nvSpPr>
        <p:spPr>
          <a:xfrm>
            <a:off x="7620000" y="439420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6" name="st4-num"/>
          <p:cNvSpPr txBox="1"/>
          <p:nvPr/>
        </p:nvSpPr>
        <p:spPr>
          <a:xfrm>
            <a:off x="7620000" y="4648200"/>
            <a:ext cx="3759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1A1D20"/>
                </a:solidFill>
                <a:latin typeface="Space Grotesk"/>
                <a:ea typeface="Space Grotesk"/>
              </a:rPr>
              <a:t>442 → 12</a:t>
            </a:r>
            <a:endParaRPr lang="en-US" sz="2000" noProof="1"/>
          </a:p>
        </p:txBody>
      </p:sp>
      <p:sp>
        <p:nvSpPr>
          <p:cNvPr id="27" name="st4-lab"/>
          <p:cNvSpPr txBox="1"/>
          <p:nvPr/>
        </p:nvSpPr>
        <p:spPr>
          <a:xfrm>
            <a:off x="7620000" y="4978400"/>
            <a:ext cx="3759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minimal cover compresses a five-frame context of 442 bits into 12 basis elements, full coverage</a:t>
            </a:r>
            <a:endParaRPr lang="en-US" sz="1050" noProof="1"/>
          </a:p>
        </p:txBody>
      </p:sp>
      <p:sp>
        <p:nvSpPr>
          <p:cNvPr id="28" name="rule-s4"/>
          <p:cNvSpPr/>
          <p:nvPr/>
        </p:nvSpPr>
        <p:spPr>
          <a:xfrm>
            <a:off x="7620000" y="5480050"/>
            <a:ext cx="37592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29" name="aud-note"/>
          <p:cNvSpPr txBox="1"/>
          <p:nvPr/>
        </p:nvSpPr>
        <p:spPr>
          <a:xfrm>
            <a:off x="7620000" y="5638800"/>
            <a:ext cx="3759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The residual is not a heuristic score bolted onto a buffer — it is the distance from a node to the span of the context, computed exactly, incrementally, cheaply.</a:t>
            </a:r>
            <a:endParaRPr lang="en-US" sz="1050" noProof="1"/>
          </a:p>
        </p:txBody>
      </p:sp>
      <p:sp>
        <p:nvSpPr>
          <p:cNvPr id="30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31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18</a:t>
            </a:r>
            <a:endParaRPr lang="en-US" sz="9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6E747B"/>
                </a:solidFill>
                <a:latin typeface="JetBrains Mono"/>
                <a:ea typeface="JetBrains Mono"/>
              </a:rPr>
              <a:t>18 · POSITION &amp; LIMITS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60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A1D20"/>
                </a:solidFill>
                <a:latin typeface="Space Grotesk"/>
                <a:ea typeface="Space Grotesk"/>
              </a:rPr>
              <a:t>Where this sits — and what it costs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5" name="l-label"/>
          <p:cNvSpPr txBox="1"/>
          <p:nvPr/>
        </p:nvSpPr>
        <p:spPr>
          <a:xfrm>
            <a:off x="812800" y="1549400"/>
            <a:ext cx="596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POSITIONING — WHAT THIS IS, WHAT IT IS NOT</a:t>
            </a:r>
            <a:endParaRPr lang="en-US" sz="1000" noProof="1"/>
          </a:p>
        </p:txBody>
      </p:sp>
      <p:sp>
        <p:nvSpPr>
          <p:cNvPr id="6" name="p1-head"/>
          <p:cNvSpPr txBox="1"/>
          <p:nvPr/>
        </p:nvSpPr>
        <p:spPr>
          <a:xfrm>
            <a:off x="812800" y="18796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SKETCHES</a:t>
            </a:r>
            <a:endParaRPr lang="en-US" sz="1100" noProof="1"/>
          </a:p>
        </p:txBody>
      </p:sp>
      <p:sp>
        <p:nvSpPr>
          <p:cNvPr id="7" name="p1-body"/>
          <p:cNvSpPr txBox="1"/>
          <p:nvPr/>
        </p:nvSpPr>
        <p:spPr>
          <a:xfrm>
            <a:off x="2794000" y="1854200"/>
            <a:ext cx="3987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HLL, Bloom, min-wise estimate cardinality. We do not estimate — </a:t>
            </a: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the sketch is the state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.</a:t>
            </a:r>
            <a:endParaRPr lang="en-US" sz="1050" noProof="1"/>
          </a:p>
        </p:txBody>
      </p:sp>
      <p:sp>
        <p:nvSpPr>
          <p:cNvPr id="8" name="rule-p1"/>
          <p:cNvSpPr/>
          <p:nvPr/>
        </p:nvSpPr>
        <p:spPr>
          <a:xfrm>
            <a:off x="812800" y="2413000"/>
            <a:ext cx="59690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9" name="p2-head"/>
          <p:cNvSpPr txBox="1"/>
          <p:nvPr/>
        </p:nvSpPr>
        <p:spPr>
          <a:xfrm>
            <a:off x="812800" y="25654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CONTENT ADDRESSING</a:t>
            </a:r>
            <a:endParaRPr lang="en-US" sz="1100" noProof="1"/>
          </a:p>
        </p:txBody>
      </p:sp>
      <p:sp>
        <p:nvSpPr>
          <p:cNvPr id="10" name="p2-body"/>
          <p:cNvSpPr txBox="1"/>
          <p:nvPr/>
        </p:nvSpPr>
        <p:spPr>
          <a:xfrm>
            <a:off x="2794000" y="2540000"/>
            <a:ext cx="3987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Merkle trees, Git, IPFS: immutable, hash-identified objects. We add a lattice the objects live on.</a:t>
            </a:r>
            <a:endParaRPr lang="en-US" sz="1050" noProof="1"/>
          </a:p>
        </p:txBody>
      </p:sp>
      <p:sp>
        <p:nvSpPr>
          <p:cNvPr id="11" name="rule-p2"/>
          <p:cNvSpPr/>
          <p:nvPr/>
        </p:nvSpPr>
        <p:spPr>
          <a:xfrm>
            <a:off x="812800" y="3098800"/>
            <a:ext cx="59690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2" name="p3-head"/>
          <p:cNvSpPr txBox="1"/>
          <p:nvPr/>
        </p:nvSpPr>
        <p:spPr>
          <a:xfrm>
            <a:off x="812800" y="3251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CRDTs</a:t>
            </a:r>
            <a:endParaRPr lang="en-US" sz="1100" noProof="1"/>
          </a:p>
        </p:txBody>
      </p:sp>
      <p:sp>
        <p:nvSpPr>
          <p:cNvPr id="13" name="p3-body"/>
          <p:cNvSpPr txBox="1"/>
          <p:nvPr/>
        </p:nvSpPr>
        <p:spPr>
          <a:xfrm>
            <a:off x="2794000" y="3225800"/>
            <a:ext cx="3987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Join is set union on a grow-only set; idempotence comes from IICA, not from a protocol.</a:t>
            </a:r>
            <a:endParaRPr lang="en-US" sz="1050" noProof="1"/>
          </a:p>
        </p:txBody>
      </p:sp>
      <p:sp>
        <p:nvSpPr>
          <p:cNvPr id="14" name="rule-p3"/>
          <p:cNvSpPr/>
          <p:nvPr/>
        </p:nvSpPr>
        <p:spPr>
          <a:xfrm>
            <a:off x="812800" y="3784600"/>
            <a:ext cx="5969000" cy="12700"/>
          </a:xfrm>
          <a:prstGeom prst="rect">
            <a:avLst/>
          </a:prstGeom>
          <a:solidFill>
            <a:srgbClr val="DCD8CF"/>
          </a:solidFill>
          <a:ln>
            <a:noFill/>
          </a:ln>
        </p:spPr>
      </p:sp>
      <p:sp>
        <p:nvSpPr>
          <p:cNvPr id="15" name="p4-head"/>
          <p:cNvSpPr txBox="1"/>
          <p:nvPr/>
        </p:nvSpPr>
        <p:spPr>
          <a:xfrm>
            <a:off x="812800" y="393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E5B4E"/>
                </a:solidFill>
                <a:latin typeface="JetBrains Mono"/>
                <a:ea typeface="JetBrains Mono"/>
              </a:rPr>
              <a:t>WORLD MODELS</a:t>
            </a:r>
            <a:endParaRPr lang="en-US" sz="1100" noProof="1"/>
          </a:p>
        </p:txBody>
      </p:sp>
      <p:sp>
        <p:nvSpPr>
          <p:cNvPr id="16" name="p4-body"/>
          <p:cNvSpPr txBox="1"/>
          <p:nvPr/>
        </p:nvSpPr>
        <p:spPr>
          <a:xfrm>
            <a:off x="2794000" y="3911600"/>
            <a:ext cx="3987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JEPA, RAG and friends learn or retrieve. The side-car is orthogonal: it does not learn the world, it holds the state.</a:t>
            </a:r>
            <a:endParaRPr lang="en-US" sz="1050" noProof="1"/>
          </a:p>
        </p:txBody>
      </p:sp>
      <p:sp>
        <p:nvSpPr>
          <p:cNvPr id="17" name="strip-bar"/>
          <p:cNvSpPr/>
          <p:nvPr/>
        </p:nvSpPr>
        <p:spPr>
          <a:xfrm>
            <a:off x="812800" y="5384800"/>
            <a:ext cx="38100" cy="7112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8" name="strip-text"/>
          <p:cNvSpPr txBox="1"/>
          <p:nvPr/>
        </p:nvSpPr>
        <p:spPr>
          <a:xfrm>
            <a:off x="1016000" y="5384800"/>
            <a:ext cx="5765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The claim is narrow and checkable: one shared lattice, exact comparisons, measurable novelty — </a:t>
            </a:r>
            <a:r>
              <a:rPr lang="en-US" sz="1200" noProof="1" b="1">
                <a:solidFill>
                  <a:srgbClr val="1A1D20"/>
                </a:solidFill>
                <a:latin typeface="Inter"/>
                <a:ea typeface="Inter"/>
              </a:rPr>
              <a:t>with the costs measured, not hidden</a:t>
            </a:r>
            <a:r>
              <a:rPr lang="en-US" sz="1200" noProof="1">
                <a:solidFill>
                  <a:srgbClr val="1A1D20"/>
                </a:solidFill>
                <a:latin typeface="Inter"/>
                <a:ea typeface="Inter"/>
              </a:rPr>
              <a:t>.</a:t>
            </a:r>
            <a:endParaRPr lang="en-US" sz="1200" noProof="1"/>
          </a:p>
        </p:txBody>
      </p:sp>
      <p:sp>
        <p:nvSpPr>
          <p:cNvPr id="19" name="r-label"/>
          <p:cNvSpPr txBox="1"/>
          <p:nvPr/>
        </p:nvSpPr>
        <p:spPr>
          <a:xfrm>
            <a:off x="7620000" y="15494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47B"/>
                </a:solidFill>
                <a:latin typeface="JetBrains Mono"/>
                <a:ea typeface="JetBrains Mono"/>
              </a:rPr>
              <a:t>LIMITATIONS — STATED PLAINLY</a:t>
            </a:r>
            <a:endParaRPr lang="en-US" sz="1000" noProof="1"/>
          </a:p>
        </p:txBody>
      </p:sp>
      <p:sp>
        <p:nvSpPr>
          <p:cNvPr id="20" name="x1-num"/>
          <p:cNvSpPr txBox="1"/>
          <p:nvPr/>
        </p:nvSpPr>
        <p:spPr>
          <a:xfrm>
            <a:off x="7620000" y="18796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01</a:t>
            </a:r>
            <a:endParaRPr lang="en-US" sz="1100" noProof="1"/>
          </a:p>
        </p:txBody>
      </p:sp>
      <p:sp>
        <p:nvSpPr>
          <p:cNvPr id="21" name="x1-body"/>
          <p:cNvSpPr txBox="1"/>
          <p:nvPr/>
        </p:nvSpPr>
        <p:spPr>
          <a:xfrm>
            <a:off x="8026400" y="1854200"/>
            <a:ext cx="335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No canonical basis.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Row-echelon, not fully reduced: bases are valid, not unique.</a:t>
            </a:r>
            <a:endParaRPr lang="en-US" sz="1050" noProof="1"/>
          </a:p>
        </p:txBody>
      </p:sp>
      <p:sp>
        <p:nvSpPr>
          <p:cNvPr id="22" name="x2-num"/>
          <p:cNvSpPr txBox="1"/>
          <p:nvPr/>
        </p:nvSpPr>
        <p:spPr>
          <a:xfrm>
            <a:off x="7620000" y="24892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02</a:t>
            </a:r>
            <a:endParaRPr lang="en-US" sz="1100" noProof="1"/>
          </a:p>
        </p:txBody>
      </p:sp>
      <p:sp>
        <p:nvSpPr>
          <p:cNvPr id="23" name="x2-body"/>
          <p:cNvSpPr txBox="1"/>
          <p:nvPr/>
        </p:nvSpPr>
        <p:spPr>
          <a:xfrm>
            <a:off x="8026400" y="2463800"/>
            <a:ext cx="335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Remainder is a coset representative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congruent sets can return different remainders.</a:t>
            </a:r>
            <a:endParaRPr lang="en-US" sz="1050" noProof="1"/>
          </a:p>
        </p:txBody>
      </p:sp>
      <p:sp>
        <p:nvSpPr>
          <p:cNvPr id="24" name="x3-num"/>
          <p:cNvSpPr txBox="1"/>
          <p:nvPr/>
        </p:nvSpPr>
        <p:spPr>
          <a:xfrm>
            <a:off x="7620000" y="30988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03</a:t>
            </a:r>
            <a:endParaRPr lang="en-US" sz="1100" noProof="1"/>
          </a:p>
        </p:txBody>
      </p:sp>
      <p:sp>
        <p:nvSpPr>
          <p:cNvPr id="25" name="x3-body"/>
          <p:cNvSpPr txBox="1"/>
          <p:nvPr/>
        </p:nvSpPr>
        <p:spPr>
          <a:xfrm>
            <a:off x="8026400" y="3073400"/>
            <a:ext cx="335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Monotone growth costs memory.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The windowed mode trades exact replay for a bounded basis.</a:t>
            </a:r>
            <a:endParaRPr lang="en-US" sz="1050" noProof="1"/>
          </a:p>
        </p:txBody>
      </p:sp>
      <p:sp>
        <p:nvSpPr>
          <p:cNvPr id="26" name="x4-num"/>
          <p:cNvSpPr txBox="1"/>
          <p:nvPr/>
        </p:nvSpPr>
        <p:spPr>
          <a:xfrm>
            <a:off x="7620000" y="37084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04</a:t>
            </a:r>
            <a:endParaRPr lang="en-US" sz="1100" noProof="1"/>
          </a:p>
        </p:txBody>
      </p:sp>
      <p:sp>
        <p:nvSpPr>
          <p:cNvPr id="27" name="x4-body"/>
          <p:cNvSpPr txBox="1"/>
          <p:nvPr/>
        </p:nvSpPr>
        <p:spPr>
          <a:xfrm>
            <a:off x="8026400" y="3683000"/>
            <a:ext cx="335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Windowed semantics weaken algebra.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Under μ_ng, union identities survive only as inclusions.</a:t>
            </a:r>
            <a:endParaRPr lang="en-US" sz="1050" noProof="1"/>
          </a:p>
        </p:txBody>
      </p:sp>
      <p:sp>
        <p:nvSpPr>
          <p:cNvPr id="28" name="x5-num"/>
          <p:cNvSpPr txBox="1"/>
          <p:nvPr/>
        </p:nvSpPr>
        <p:spPr>
          <a:xfrm>
            <a:off x="7620000" y="43180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2521E"/>
                </a:solidFill>
                <a:latin typeface="JetBrains Mono"/>
                <a:ea typeface="JetBrains Mono"/>
              </a:rPr>
              <a:t>05</a:t>
            </a:r>
            <a:endParaRPr lang="en-US" sz="1100" noProof="1"/>
          </a:p>
        </p:txBody>
      </p:sp>
      <p:sp>
        <p:nvSpPr>
          <p:cNvPr id="29" name="x5-body"/>
          <p:cNvSpPr txBox="1"/>
          <p:nvPr/>
        </p:nvSpPr>
        <p:spPr>
          <a:xfrm>
            <a:off x="8026400" y="4292600"/>
            <a:ext cx="335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747B"/>
                </a:solidFill>
                <a:latin typeface="Inter"/>
                <a:ea typeface="Inter"/>
              </a:rPr>
              <a:t>Recomputation is the price of correctness</a:t>
            </a: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 — mitigated by generation-stamped caching, not eliminated.</a:t>
            </a:r>
            <a:endParaRPr lang="en-US" sz="1050" noProof="1"/>
          </a:p>
        </p:txBody>
      </p:sp>
      <p:sp>
        <p:nvSpPr>
          <p:cNvPr id="30" name="r-note"/>
          <p:cNvSpPr txBox="1"/>
          <p:nvPr/>
        </p:nvSpPr>
        <p:spPr>
          <a:xfrm>
            <a:off x="7620000" y="5384800"/>
            <a:ext cx="3759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747B"/>
                </a:solidFill>
                <a:latin typeface="Inter"/>
                <a:ea typeface="Inter"/>
              </a:rPr>
              <a:t>None of these breaks the core guarantees: every commit is still idempotent, immutable and content-addressed, and the span test res(X) = ∅ stays exact.</a:t>
            </a:r>
            <a:endParaRPr lang="en-US" sz="1050" noProof="1"/>
          </a:p>
        </p:txBody>
      </p:sp>
      <p:sp>
        <p:nvSpPr>
          <p:cNvPr id="31" name="footer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ewm-state-machine · transformations &amp; trajectories</a:t>
            </a:r>
            <a:endParaRPr lang="en-US" sz="900" noProof="1"/>
          </a:p>
        </p:txBody>
      </p:sp>
      <p:sp>
        <p:nvSpPr>
          <p:cNvPr id="32" name="page-num"/>
          <p:cNvSpPr txBox="1"/>
          <p:nvPr/>
        </p:nvSpPr>
        <p:spPr>
          <a:xfrm>
            <a:off x="10947400" y="6502400"/>
            <a:ext cx="431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747B"/>
                </a:solidFill>
                <a:latin typeface="JetBrains Mono"/>
                <a:ea typeface="JetBrains Mono"/>
              </a:rPr>
              <a:t>19</a:t>
            </a:r>
            <a:endParaRPr lang="en-US" sz="9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5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7112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C2521E"/>
                </a:solidFill>
                <a:latin typeface="JetBrains Mono"/>
                <a:ea typeface="JetBrains Mono"/>
              </a:rPr>
              <a:t>ONE LATTICE · CHEAP TO ADVANCE · EXACT TO COMPARE · SAFE TO REPLAY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041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F5F3EE"/>
                </a:solidFill>
                <a:latin typeface="Space Grotesk"/>
                <a:ea typeface="Space Grotesk"/>
              </a:rPr>
              <a:t>Any token-producing model can be given a state.</a:t>
            </a:r>
            <a:endParaRPr lang="en-US" sz="3200" noProof="1"/>
          </a:p>
        </p:txBody>
      </p:sp>
      <p:sp>
        <p:nvSpPr>
          <p:cNvPr id="4" name="idea-1"/>
          <p:cNvSpPr txBox="1"/>
          <p:nvPr/>
        </p:nvSpPr>
        <p:spPr>
          <a:xfrm>
            <a:off x="812800" y="19812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F5F3EE"/>
                </a:solidFill>
                <a:latin typeface="Inter"/>
                <a:ea typeface="Inter"/>
              </a:rPr>
              <a:t>Cheap to advance</a:t>
            </a:r>
            <a:r>
              <a:rPr lang="en-US" sz="1200" noProof="1">
                <a:solidFill>
                  <a:srgbClr val="B9BEC4"/>
                </a:solidFill>
                <a:latin typeface="Inter"/>
                <a:ea typeface="Inter"/>
              </a:rPr>
              <a:t> — one set join and a ring push per commit; no retraining, no extra forward pass.</a:t>
            </a:r>
            <a:endParaRPr lang="en-US" sz="1200" noProof="1"/>
          </a:p>
        </p:txBody>
      </p:sp>
      <p:sp>
        <p:nvSpPr>
          <p:cNvPr id="5" name="idea-2"/>
          <p:cNvSpPr txBox="1"/>
          <p:nvPr/>
        </p:nvSpPr>
        <p:spPr>
          <a:xfrm>
            <a:off x="812800" y="28448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F5F3EE"/>
                </a:solidFill>
                <a:latin typeface="Inter"/>
                <a:ea typeface="Inter"/>
              </a:rPr>
              <a:t>Exact to compare</a:t>
            </a:r>
            <a:r>
              <a:rPr lang="en-US" sz="1200" noProof="1">
                <a:solidFill>
                  <a:srgbClr val="B9BEC4"/>
                </a:solidFill>
                <a:latin typeface="Inter"/>
                <a:ea typeface="Inter"/>
              </a:rPr>
              <a:t> — D / R / N per commit with a conservation balance, not a similarity score.</a:t>
            </a:r>
            <a:endParaRPr lang="en-US" sz="1200" noProof="1"/>
          </a:p>
        </p:txBody>
      </p:sp>
      <p:sp>
        <p:nvSpPr>
          <p:cNvPr id="6" name="idea-3"/>
          <p:cNvSpPr txBox="1"/>
          <p:nvPr/>
        </p:nvSpPr>
        <p:spPr>
          <a:xfrm>
            <a:off x="812800" y="3708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F5F3EE"/>
                </a:solidFill>
                <a:latin typeface="Inter"/>
                <a:ea typeface="Inter"/>
              </a:rPr>
              <a:t>Safe to replay</a:t>
            </a:r>
            <a:r>
              <a:rPr lang="en-US" sz="1200" noProof="1">
                <a:solidFill>
                  <a:srgbClr val="B9BEC4"/>
                </a:solidFill>
                <a:latin typeface="Inter"/>
                <a:ea typeface="Inter"/>
              </a:rPr>
              <a:t> — immutable, content-addressed commits; every state is re-derivable from the log.</a:t>
            </a:r>
            <a:endParaRPr lang="en-US" sz="1200" noProof="1"/>
          </a:p>
        </p:txBody>
      </p:sp>
      <p:sp>
        <p:nvSpPr>
          <p:cNvPr id="7" name="idea-4"/>
          <p:cNvSpPr txBox="1"/>
          <p:nvPr/>
        </p:nvSpPr>
        <p:spPr>
          <a:xfrm>
            <a:off x="812800" y="4572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F5F3EE"/>
                </a:solidFill>
                <a:latin typeface="Inter"/>
                <a:ea typeface="Inter"/>
              </a:rPr>
              <a:t>Measurable novelty</a:t>
            </a:r>
            <a:r>
              <a:rPr lang="en-US" sz="1200" noProof="1">
                <a:solidFill>
                  <a:srgbClr val="B9BEC4"/>
                </a:solidFill>
                <a:latin typeface="Inter"/>
                <a:ea typeface="Inter"/>
              </a:rPr>
              <a:t> — residual, rotation count and bit novelty read off a monotone basis, cut by cut.</a:t>
            </a:r>
            <a:endParaRPr lang="en-US" sz="1200" noProof="1"/>
          </a:p>
        </p:txBody>
      </p:sp>
      <p:sp>
        <p:nvSpPr>
          <p:cNvPr id="8" name="next-head"/>
          <p:cNvSpPr txBox="1"/>
          <p:nvPr/>
        </p:nvSpPr>
        <p:spPr>
          <a:xfrm>
            <a:off x="6858000" y="1981200"/>
            <a:ext cx="4521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2E7D64"/>
                </a:solidFill>
                <a:latin typeface="JetBrains Mono"/>
                <a:ea typeface="JetBrains Mono"/>
              </a:rPr>
              <a:t>WHAT IS NEXT</a:t>
            </a:r>
            <a:endParaRPr lang="en-US" sz="1100" noProof="1"/>
          </a:p>
        </p:txBody>
      </p:sp>
      <p:sp>
        <p:nvSpPr>
          <p:cNvPr id="9" name="next-1"/>
          <p:cNvSpPr txBox="1"/>
          <p:nvPr/>
        </p:nvSpPr>
        <p:spPr>
          <a:xfrm>
            <a:off x="6858000" y="2336800"/>
            <a:ext cx="4521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F5F3EE"/>
                </a:solidFill>
                <a:latin typeface="Inter"/>
                <a:ea typeface="Inter"/>
              </a:rPr>
              <a:t>Trajectory-stability study</a:t>
            </a:r>
            <a:r>
              <a:rPr lang="en-US" sz="1150" noProof="1">
                <a:solidFill>
                  <a:srgbClr val="B9BEC4"/>
                </a:solidFill>
                <a:latin typeface="Inter"/>
                <a:ea typeface="Inter"/>
              </a:rPr>
              <a:t> — how frames and rotations behave over long horizons.</a:t>
            </a:r>
            <a:endParaRPr lang="en-US" sz="1150" noProof="1"/>
          </a:p>
        </p:txBody>
      </p:sp>
      <p:sp>
        <p:nvSpPr>
          <p:cNvPr id="10" name="next-2"/>
          <p:cNvSpPr txBox="1"/>
          <p:nvPr/>
        </p:nvSpPr>
        <p:spPr>
          <a:xfrm>
            <a:off x="6858000" y="2997200"/>
            <a:ext cx="4521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F5F3EE"/>
                </a:solidFill>
                <a:latin typeface="Inter"/>
                <a:ea typeface="Inter"/>
              </a:rPr>
              <a:t>Multi-world extension</a:t>
            </a:r>
            <a:r>
              <a:rPr lang="en-US" sz="1150" noProof="1">
                <a:solidFill>
                  <a:srgbClr val="B9BEC4"/>
                </a:solidFill>
                <a:latin typeface="Inter"/>
                <a:ea typeface="Inter"/>
              </a:rPr>
              <a:t> — many agents on one lattice, separated at the interpretation layer.</a:t>
            </a:r>
            <a:endParaRPr lang="en-US" sz="1150" noProof="1"/>
          </a:p>
        </p:txBody>
      </p:sp>
      <p:sp>
        <p:nvSpPr>
          <p:cNvPr id="11" name="next-3"/>
          <p:cNvSpPr txBox="1"/>
          <p:nvPr/>
        </p:nvSpPr>
        <p:spPr>
          <a:xfrm>
            <a:off x="6858000" y="3657600"/>
            <a:ext cx="4521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F5F3EE"/>
                </a:solidFill>
                <a:latin typeface="Inter"/>
                <a:ea typeface="Inter"/>
              </a:rPr>
              <a:t>Closing the loop</a:t>
            </a:r>
            <a:r>
              <a:rPr lang="en-US" sz="1150" noProof="1">
                <a:solidFill>
                  <a:srgbClr val="B9BEC4"/>
                </a:solidFill>
                <a:latin typeface="Inter"/>
                <a:ea typeface="Inter"/>
              </a:rPr>
              <a:t> — memory plus a curiosity controller driving the host.</a:t>
            </a:r>
            <a:endParaRPr lang="en-US" sz="1150" noProof="1"/>
          </a:p>
        </p:txBody>
      </p:sp>
      <p:sp>
        <p:nvSpPr>
          <p:cNvPr id="12" name="next-4"/>
          <p:cNvSpPr txBox="1"/>
          <p:nvPr/>
        </p:nvSpPr>
        <p:spPr>
          <a:xfrm>
            <a:off x="6858000" y="4318000"/>
            <a:ext cx="4521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F5F3EE"/>
                </a:solidFill>
                <a:latin typeface="Inter"/>
                <a:ea typeface="Inter"/>
              </a:rPr>
              <a:t>Scaled evaluation</a:t>
            </a:r>
            <a:r>
              <a:rPr lang="en-US" sz="1150" noProof="1">
                <a:solidFill>
                  <a:srgbClr val="B9BEC4"/>
                </a:solidFill>
                <a:latin typeface="Inter"/>
                <a:ea typeface="Inter"/>
              </a:rPr>
              <a:t> — longer horizons, larger vocabularies, more hosts.</a:t>
            </a:r>
            <a:endParaRPr lang="en-US" sz="1150" noProof="1"/>
          </a:p>
        </p:txBody>
      </p:sp>
      <p:sp>
        <p:nvSpPr>
          <p:cNvPr id="13" name="ack"/>
          <p:cNvSpPr txBox="1"/>
          <p:nvPr/>
        </p:nvSpPr>
        <p:spPr>
          <a:xfrm>
            <a:off x="6858000" y="5105400"/>
            <a:ext cx="4521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8A9097"/>
                </a:solidFill>
                <a:latin typeface="Inter"/>
                <a:ea typeface="Inter"/>
              </a:rPr>
              <a:t>Acknowledgment — this deck was prepared with the assistance of Kimi (Moonshot AI).</a:t>
            </a:r>
            <a:endParaRPr lang="en-US" sz="1000" noProof="1"/>
          </a:p>
        </p:txBody>
      </p:sp>
      <p:sp>
        <p:nvSpPr>
          <p:cNvPr id="14" name="rule"/>
          <p:cNvSpPr/>
          <p:nvPr/>
        </p:nvSpPr>
        <p:spPr>
          <a:xfrm>
            <a:off x="812800" y="5638800"/>
            <a:ext cx="10566400" cy="12700"/>
          </a:xfrm>
          <a:prstGeom prst="rect">
            <a:avLst/>
          </a:prstGeom>
          <a:solidFill>
            <a:srgbClr val="2A2F35"/>
          </a:solidFill>
          <a:ln>
            <a:noFill/>
          </a:ln>
        </p:spPr>
      </p:sp>
      <p:sp>
        <p:nvSpPr>
          <p:cNvPr id="15" name="equation"/>
          <p:cNvSpPr txBox="1"/>
          <p:nvPr/>
        </p:nvSpPr>
        <p:spPr>
          <a:xfrm>
            <a:off x="812800" y="58420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C2521E"/>
                </a:solidFill>
                <a:latin typeface="JetBrains Mono"/>
                <a:ea typeface="JetBrains Mono"/>
              </a:rPr>
              <a:t>H(t) = ( S(t), H(t−1), D, R, N )</a:t>
            </a:r>
            <a:endParaRPr lang="en-US" sz="1500" noProof="1"/>
          </a:p>
        </p:txBody>
      </p:sp>
      <p:sp>
        <p:nvSpPr>
          <p:cNvPr id="16" name="repo"/>
          <p:cNvSpPr txBox="1"/>
          <p:nvPr/>
        </p:nvSpPr>
        <p:spPr>
          <a:xfrm>
            <a:off x="812800" y="62738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u="sng">
                <a:solidFill>
                  <a:srgbClr val="0563C1"/>
                </a:solidFill>
                <a:latin typeface="JetBrains Mono"/>
                <a:ea typeface="JetBrains Mono"/>
                <a:hlinkClick r:id="rId2"/>
              </a:rPr>
              <a:t>github.com/alexmy21/ewm-state-machine</a:t>
            </a:r>
            <a:endParaRPr lang="en-US" sz="1200" noProof="1"/>
          </a:p>
        </p:txBody>
      </p:sp>
      <p:sp>
        <p:nvSpPr>
          <p:cNvPr id="17" name="bit01"/>
          <p:cNvSpPr/>
          <p:nvPr/>
        </p:nvSpPr>
        <p:spPr>
          <a:xfrm>
            <a:off x="88900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18" name="bit02"/>
          <p:cNvSpPr/>
          <p:nvPr/>
        </p:nvSpPr>
        <p:spPr>
          <a:xfrm>
            <a:off x="9067800" y="6299200"/>
            <a:ext cx="127000" cy="127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19" name="bit03"/>
          <p:cNvSpPr/>
          <p:nvPr/>
        </p:nvSpPr>
        <p:spPr>
          <a:xfrm>
            <a:off x="92456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0" name="bit04"/>
          <p:cNvSpPr/>
          <p:nvPr/>
        </p:nvSpPr>
        <p:spPr>
          <a:xfrm>
            <a:off x="9423400" y="6299200"/>
            <a:ext cx="127000" cy="127000"/>
          </a:xfrm>
          <a:prstGeom prst="rect">
            <a:avLst/>
          </a:prstGeom>
          <a:solidFill>
            <a:srgbClr val="2E7D64"/>
          </a:solidFill>
          <a:ln>
            <a:noFill/>
          </a:ln>
        </p:spPr>
      </p:sp>
      <p:sp>
        <p:nvSpPr>
          <p:cNvPr id="21" name="bit05"/>
          <p:cNvSpPr/>
          <p:nvPr/>
        </p:nvSpPr>
        <p:spPr>
          <a:xfrm>
            <a:off x="96012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2" name="bit06"/>
          <p:cNvSpPr/>
          <p:nvPr/>
        </p:nvSpPr>
        <p:spPr>
          <a:xfrm>
            <a:off x="97790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3" name="bit07"/>
          <p:cNvSpPr/>
          <p:nvPr/>
        </p:nvSpPr>
        <p:spPr>
          <a:xfrm>
            <a:off x="9956800" y="6299200"/>
            <a:ext cx="127000" cy="127000"/>
          </a:xfrm>
          <a:prstGeom prst="rect">
            <a:avLst/>
          </a:prstGeom>
          <a:solidFill>
            <a:srgbClr val="C2521E"/>
          </a:solidFill>
          <a:ln>
            <a:noFill/>
          </a:ln>
        </p:spPr>
      </p:sp>
      <p:sp>
        <p:nvSpPr>
          <p:cNvPr id="24" name="bit08"/>
          <p:cNvSpPr/>
          <p:nvPr/>
        </p:nvSpPr>
        <p:spPr>
          <a:xfrm>
            <a:off x="101346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5" name="bit09"/>
          <p:cNvSpPr/>
          <p:nvPr/>
        </p:nvSpPr>
        <p:spPr>
          <a:xfrm>
            <a:off x="103124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6" name="bit10"/>
          <p:cNvSpPr/>
          <p:nvPr/>
        </p:nvSpPr>
        <p:spPr>
          <a:xfrm>
            <a:off x="104902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7" name="bit11"/>
          <p:cNvSpPr/>
          <p:nvPr/>
        </p:nvSpPr>
        <p:spPr>
          <a:xfrm>
            <a:off x="10668000" y="6299200"/>
            <a:ext cx="127000" cy="127000"/>
          </a:xfrm>
          <a:prstGeom prst="rect">
            <a:avLst/>
          </a:prstGeom>
          <a:solidFill>
            <a:srgbClr val="2E7D64"/>
          </a:solidFill>
          <a:ln>
            <a:noFill/>
          </a:ln>
        </p:spPr>
      </p:sp>
      <p:sp>
        <p:nvSpPr>
          <p:cNvPr id="28" name="bit12"/>
          <p:cNvSpPr/>
          <p:nvPr/>
        </p:nvSpPr>
        <p:spPr>
          <a:xfrm>
            <a:off x="108458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29" name="bit13"/>
          <p:cNvSpPr/>
          <p:nvPr/>
        </p:nvSpPr>
        <p:spPr>
          <a:xfrm>
            <a:off x="110236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  <p:sp>
        <p:nvSpPr>
          <p:cNvPr id="30" name="bit14"/>
          <p:cNvSpPr/>
          <p:nvPr/>
        </p:nvSpPr>
        <p:spPr>
          <a:xfrm>
            <a:off x="11201400" y="6299200"/>
            <a:ext cx="127000" cy="127000"/>
          </a:xfrm>
          <a:prstGeom prst="rect">
            <a:avLst/>
          </a:prstGeom>
          <a:solidFill>
            <a:srgbClr val="262B30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20</Slides>
</Properties>
</file>

<file path=docProps/core.xml><?xml version="1.0" encoding="utf-8"?>
<cp:coreProperties xmlns:dc="http://purl.org/dc/elements/1.1/" xmlns:cp="http://schemas.openxmlformats.org/package/2006/metadata/core-properties">
  <dc:title>Transformations and Trajectories of a Content-Addressed State Machine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