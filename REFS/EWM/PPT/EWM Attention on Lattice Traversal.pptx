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 type="custom"/>
  <p:notesSz cx="12192000" cy="6858000"/>
  <p:embeddedFontLst>
    <p:embeddedFont>
      <p:font typeface="MiSans" charset="-122" pitchFamily="34"/>
      <p:regular r:id="rId20"/>
    </p:embeddedFont>
    <p:embeddedFont>
      <p:font typeface="Space Grotesk" charset="-122" pitchFamily="34"/>
      <p:regular r:id="rId21"/>
    </p:embeddedFont>
    <p:embeddedFont>
      <p:font typeface="Inter" charset="-122" pitchFamily="34"/>
      <p:regular r:id="rId22"/>
    </p:embeddedFont>
    <p:embeddedFont>
      <p:font typeface="JetBrains Mono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lexmy21/ewm-state-machine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lexmy21/ewm-state-machine" TargetMode="Externa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5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1168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C2521E"/>
                </a:solidFill>
                <a:latin typeface="JetBrains Mono"/>
                <a:ea typeface="JetBrains Mono"/>
              </a:rPr>
              <a:t>EMERGING WORLD MODELS · FOURTH IN THE SERIES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549400"/>
            <a:ext cx="10566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F5F3EE"/>
                </a:solidFill>
                <a:latin typeface="Space Grotesk"/>
                <a:ea typeface="Space Grotesk"/>
              </a:rPr>
              <a:t>Attention on lattice traversal</a:t>
            </a:r>
            <a:endParaRPr lang="en-US" sz="3800" noProof="1"/>
          </a:p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F5F3EE"/>
                </a:solidFill>
                <a:latin typeface="Space Grotesk"/>
                <a:ea typeface="Space Grotesk"/>
              </a:rPr>
              <a:t>is all you need</a:t>
            </a:r>
            <a:endParaRPr lang="en-US" sz="3800" noProof="1"/>
          </a:p>
        </p:txBody>
      </p:sp>
      <p:sp>
        <p:nvSpPr>
          <p:cNvPr id="4" name="subtitle"/>
          <p:cNvSpPr txBox="1"/>
          <p:nvPr/>
        </p:nvSpPr>
        <p:spPr>
          <a:xfrm>
            <a:off x="812800" y="3124200"/>
            <a:ext cx="965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noProof="1">
                <a:solidFill>
                  <a:srgbClr val="B9BEC4"/>
                </a:solidFill>
                <a:latin typeface="Inter"/>
                <a:ea typeface="Inter"/>
              </a:rPr>
              <a:t>The EWM lattice is the map, attention is the locomotion, materialization is the door between them — and a dispatcher that learns which host LLM should move.</a:t>
            </a:r>
            <a:endParaRPr lang="en-US" sz="1500" noProof="1"/>
          </a:p>
        </p:txBody>
      </p:sp>
      <p:sp>
        <p:nvSpPr>
          <p:cNvPr id="5" name="chips"/>
          <p:cNvSpPr txBox="1"/>
          <p:nvPr/>
        </p:nvSpPr>
        <p:spPr>
          <a:xfrm>
            <a:off x="812800" y="40894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9097"/>
                </a:solidFill>
                <a:latin typeface="JetBrains Mono"/>
                <a:ea typeface="JetBrains Mono"/>
              </a:rPr>
              <a:t>SUPPORT = JOIN · SOFTMAX = ANNEALING · HEADS = WORLDS · LEARNED DISPATCH</a:t>
            </a:r>
            <a:endParaRPr lang="en-US" sz="1100" noProof="1"/>
          </a:p>
        </p:txBody>
      </p:sp>
      <p:sp>
        <p:nvSpPr>
          <p:cNvPr id="6" name="rule"/>
          <p:cNvSpPr/>
          <p:nvPr/>
        </p:nvSpPr>
        <p:spPr>
          <a:xfrm>
            <a:off x="812800" y="5029200"/>
            <a:ext cx="10566400" cy="12700"/>
          </a:xfrm>
          <a:prstGeom prst="rect">
            <a:avLst/>
          </a:prstGeom>
          <a:solidFill>
            <a:srgbClr val="2A2F35"/>
          </a:solidFill>
          <a:ln>
            <a:noFill/>
          </a:ln>
        </p:spPr>
      </p:sp>
      <p:sp>
        <p:nvSpPr>
          <p:cNvPr id="7" name="meta"/>
          <p:cNvSpPr txBox="1"/>
          <p:nvPr/>
        </p:nvSpPr>
        <p:spPr>
          <a:xfrm>
            <a:off x="812800" y="52578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C838B"/>
                </a:solidFill>
                <a:latin typeface="JetBrains Mono"/>
                <a:ea typeface="JetBrains Mono"/>
              </a:rPr>
              <a:t>ALEX MYLNIKOV · ALEXANDR MYLNIKOV JR. · DEEPENDRA KUMAR</a:t>
            </a:r>
            <a:endParaRPr lang="en-US" sz="1000" noProof="1"/>
          </a:p>
        </p:txBody>
      </p:sp>
      <p:sp>
        <p:nvSpPr>
          <p:cNvPr id="8" name="repo"/>
          <p:cNvSpPr txBox="1"/>
          <p:nvPr/>
        </p:nvSpPr>
        <p:spPr>
          <a:xfrm>
            <a:off x="812800" y="60706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u="sng">
                <a:solidFill>
                  <a:srgbClr val="0563C1"/>
                </a:solidFill>
                <a:latin typeface="JetBrains Mono"/>
                <a:ea typeface="JetBrains Mono"/>
                <a:hlinkClick r:id="rId2"/>
              </a:rPr>
              <a:t>github.com/alexmy21/ewm-state-machine</a:t>
            </a:r>
            <a:endParaRPr lang="en-US" sz="1200" noProof="1"/>
          </a:p>
        </p:txBody>
      </p:sp>
      <p:sp>
        <p:nvSpPr>
          <p:cNvPr id="9" name="bit01"/>
          <p:cNvSpPr/>
          <p:nvPr/>
        </p:nvSpPr>
        <p:spPr>
          <a:xfrm>
            <a:off x="88900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0" name="bit02"/>
          <p:cNvSpPr/>
          <p:nvPr/>
        </p:nvSpPr>
        <p:spPr>
          <a:xfrm>
            <a:off x="9067800" y="6070600"/>
            <a:ext cx="127000" cy="127000"/>
          </a:xfrm>
          <a:prstGeom prst="rect">
            <a:avLst/>
          </a:prstGeom>
          <a:solidFill>
            <a:srgbClr val="2E7D64"/>
          </a:solidFill>
          <a:ln>
            <a:noFill/>
          </a:ln>
        </p:spPr>
      </p:sp>
      <p:sp>
        <p:nvSpPr>
          <p:cNvPr id="11" name="bit03"/>
          <p:cNvSpPr/>
          <p:nvPr/>
        </p:nvSpPr>
        <p:spPr>
          <a:xfrm>
            <a:off x="92456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2" name="bit04"/>
          <p:cNvSpPr/>
          <p:nvPr/>
        </p:nvSpPr>
        <p:spPr>
          <a:xfrm>
            <a:off x="94234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3" name="bit05"/>
          <p:cNvSpPr/>
          <p:nvPr/>
        </p:nvSpPr>
        <p:spPr>
          <a:xfrm>
            <a:off x="9601200" y="6070600"/>
            <a:ext cx="127000" cy="127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4" name="bit06"/>
          <p:cNvSpPr/>
          <p:nvPr/>
        </p:nvSpPr>
        <p:spPr>
          <a:xfrm>
            <a:off x="97790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5" name="bit07"/>
          <p:cNvSpPr/>
          <p:nvPr/>
        </p:nvSpPr>
        <p:spPr>
          <a:xfrm>
            <a:off x="99568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6" name="bit08"/>
          <p:cNvSpPr/>
          <p:nvPr/>
        </p:nvSpPr>
        <p:spPr>
          <a:xfrm>
            <a:off x="101346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7" name="bit09"/>
          <p:cNvSpPr/>
          <p:nvPr/>
        </p:nvSpPr>
        <p:spPr>
          <a:xfrm>
            <a:off x="103124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8" name="bit10"/>
          <p:cNvSpPr/>
          <p:nvPr/>
        </p:nvSpPr>
        <p:spPr>
          <a:xfrm>
            <a:off x="10490200" y="6070600"/>
            <a:ext cx="127000" cy="127000"/>
          </a:xfrm>
          <a:prstGeom prst="rect">
            <a:avLst/>
          </a:prstGeom>
          <a:solidFill>
            <a:srgbClr val="2E7D64"/>
          </a:solidFill>
          <a:ln>
            <a:noFill/>
          </a:ln>
        </p:spPr>
      </p:sp>
      <p:sp>
        <p:nvSpPr>
          <p:cNvPr id="19" name="bit11"/>
          <p:cNvSpPr/>
          <p:nvPr/>
        </p:nvSpPr>
        <p:spPr>
          <a:xfrm>
            <a:off x="106680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0" name="bit12"/>
          <p:cNvSpPr/>
          <p:nvPr/>
        </p:nvSpPr>
        <p:spPr>
          <a:xfrm>
            <a:off x="108458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1" name="bit13"/>
          <p:cNvSpPr/>
          <p:nvPr/>
        </p:nvSpPr>
        <p:spPr>
          <a:xfrm>
            <a:off x="110236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2" name="bit14"/>
          <p:cNvSpPr/>
          <p:nvPr/>
        </p:nvSpPr>
        <p:spPr>
          <a:xfrm>
            <a:off x="11201400" y="6070600"/>
            <a:ext cx="127000" cy="127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01 · A STORY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A traveler, a map, and a door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b1-num"/>
          <p:cNvSpPr txBox="1"/>
          <p:nvPr/>
        </p:nvSpPr>
        <p:spPr>
          <a:xfrm>
            <a:off x="812800" y="18796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E5B4E"/>
                </a:solidFill>
                <a:latin typeface="JetBrains Mono"/>
                <a:ea typeface="JetBrains Mono"/>
              </a:rPr>
              <a:t>1</a:t>
            </a:r>
            <a:endParaRPr lang="en-US" sz="1200" noProof="1"/>
          </a:p>
        </p:txBody>
      </p:sp>
      <p:sp>
        <p:nvSpPr>
          <p:cNvPr id="6" name="b1"/>
          <p:cNvSpPr txBox="1"/>
          <p:nvPr/>
        </p:nvSpPr>
        <p:spPr>
          <a:xfrm>
            <a:off x="1219200" y="1879600"/>
            <a:ext cx="5562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The map.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A good geo map is exact about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where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things are — and silent about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what they are like inside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. Every town is a named dot; the map folds into a pocket and never forgets.</a:t>
            </a:r>
            <a:endParaRPr lang="en-US" sz="1250" noProof="1"/>
          </a:p>
        </p:txBody>
      </p:sp>
      <p:sp>
        <p:nvSpPr>
          <p:cNvPr id="7" name="b2-num"/>
          <p:cNvSpPr txBox="1"/>
          <p:nvPr/>
        </p:nvSpPr>
        <p:spPr>
          <a:xfrm>
            <a:off x="812800" y="29464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E5B4E"/>
                </a:solidFill>
                <a:latin typeface="JetBrains Mono"/>
                <a:ea typeface="JetBrains Mono"/>
              </a:rPr>
              <a:t>2</a:t>
            </a:r>
            <a:endParaRPr lang="en-US" sz="1200" noProof="1"/>
          </a:p>
        </p:txBody>
      </p:sp>
      <p:sp>
        <p:nvSpPr>
          <p:cNvPr id="8" name="b2"/>
          <p:cNvSpPr txBox="1"/>
          <p:nvPr/>
        </p:nvSpPr>
        <p:spPr>
          <a:xfrm>
            <a:off x="1219200" y="2946400"/>
            <a:ext cx="5562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The walking.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To know a town you must go in and walk — one street at a time, seeing only what is around you now. Walking is rich but local, and by itself it leaves no trace on the map.</a:t>
            </a:r>
            <a:endParaRPr lang="en-US" sz="1250" noProof="1"/>
          </a:p>
        </p:txBody>
      </p:sp>
      <p:sp>
        <p:nvSpPr>
          <p:cNvPr id="9" name="b3-num"/>
          <p:cNvSpPr txBox="1"/>
          <p:nvPr/>
        </p:nvSpPr>
        <p:spPr>
          <a:xfrm>
            <a:off x="812800" y="40132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E5B4E"/>
                </a:solidFill>
                <a:latin typeface="JetBrains Mono"/>
                <a:ea typeface="JetBrains Mono"/>
              </a:rPr>
              <a:t>3</a:t>
            </a:r>
            <a:endParaRPr lang="en-US" sz="1200" noProof="1"/>
          </a:p>
        </p:txBody>
      </p:sp>
      <p:sp>
        <p:nvSpPr>
          <p:cNvPr id="10" name="b3"/>
          <p:cNvSpPr txBox="1"/>
          <p:nvPr/>
        </p:nvSpPr>
        <p:spPr>
          <a:xfrm>
            <a:off x="1219200" y="4013200"/>
            <a:ext cx="5562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The door.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The town gate joins the two views of one place — the dot and the streets. It is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faithful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: walk out, mark what you saw on the map, and you may re-enter as often as you like.</a:t>
            </a:r>
            <a:endParaRPr lang="en-US" sz="1250" noProof="1"/>
          </a:p>
        </p:txBody>
      </p:sp>
      <p:sp>
        <p:nvSpPr>
          <p:cNvPr id="11" name="strip-bar"/>
          <p:cNvSpPr/>
          <p:nvPr/>
        </p:nvSpPr>
        <p:spPr>
          <a:xfrm>
            <a:off x="812800" y="5384800"/>
            <a:ext cx="38100" cy="762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2" name="strip-text"/>
          <p:cNvSpPr txBox="1"/>
          <p:nvPr/>
        </p:nvSpPr>
        <p:spPr>
          <a:xfrm>
            <a:off x="1016000" y="5384800"/>
            <a:ext cx="5765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This deck's claim: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the map and the walking are two halves of one journey — and around the pair, a coordinator learns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which guide should walk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.</a:t>
            </a:r>
            <a:endParaRPr lang="en-US" sz="1200" noProof="1"/>
          </a:p>
        </p:txBody>
      </p:sp>
      <p:sp>
        <p:nvSpPr>
          <p:cNvPr id="13" name="r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THE STORY → THE DECK</a:t>
            </a:r>
            <a:endParaRPr lang="en-US" sz="1000" noProof="1"/>
          </a:p>
        </p:txBody>
      </p:sp>
      <p:sp>
        <p:nvSpPr>
          <p:cNvPr id="14" name="m1-head"/>
          <p:cNvSpPr txBox="1"/>
          <p:nvPr/>
        </p:nvSpPr>
        <p:spPr>
          <a:xfrm>
            <a:off x="7620000" y="1879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the map</a:t>
            </a:r>
            <a:endParaRPr lang="en-US" sz="1100" noProof="1"/>
          </a:p>
        </p:txBody>
      </p:sp>
      <p:sp>
        <p:nvSpPr>
          <p:cNvPr id="15" name="m1-body"/>
          <p:cNvSpPr txBox="1"/>
          <p:nvPr/>
        </p:nvSpPr>
        <p:spPr>
          <a:xfrm>
            <a:off x="7620000" y="2133600"/>
            <a:ext cx="375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EWM lattice — content-addressed waypoints, exact and durable</a:t>
            </a:r>
            <a:endParaRPr lang="en-US" sz="1050" noProof="1"/>
          </a:p>
        </p:txBody>
      </p:sp>
      <p:sp>
        <p:nvSpPr>
          <p:cNvPr id="16" name="rule-m1"/>
          <p:cNvSpPr/>
          <p:nvPr/>
        </p:nvSpPr>
        <p:spPr>
          <a:xfrm>
            <a:off x="7620000" y="26162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7" name="m2-head"/>
          <p:cNvSpPr txBox="1"/>
          <p:nvPr/>
        </p:nvSpPr>
        <p:spPr>
          <a:xfrm>
            <a:off x="7620000" y="27178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the walking</a:t>
            </a:r>
            <a:endParaRPr lang="en-US" sz="1100" noProof="1"/>
          </a:p>
        </p:txBody>
      </p:sp>
      <p:sp>
        <p:nvSpPr>
          <p:cNvPr id="18" name="m2-body"/>
          <p:cNvSpPr txBox="1"/>
          <p:nvPr/>
        </p:nvSpPr>
        <p:spPr>
          <a:xfrm>
            <a:off x="7620000" y="2971800"/>
            <a:ext cx="375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attention — graduated motion inside the detail</a:t>
            </a:r>
            <a:endParaRPr lang="en-US" sz="1050" noProof="1"/>
          </a:p>
        </p:txBody>
      </p:sp>
      <p:sp>
        <p:nvSpPr>
          <p:cNvPr id="19" name="rule-m2"/>
          <p:cNvSpPr/>
          <p:nvPr/>
        </p:nvSpPr>
        <p:spPr>
          <a:xfrm>
            <a:off x="7620000" y="34544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0" name="m3-head"/>
          <p:cNvSpPr txBox="1"/>
          <p:nvPr/>
        </p:nvSpPr>
        <p:spPr>
          <a:xfrm>
            <a:off x="7620000" y="35560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the door</a:t>
            </a:r>
            <a:endParaRPr lang="en-US" sz="1100" noProof="1"/>
          </a:p>
        </p:txBody>
      </p:sp>
      <p:sp>
        <p:nvSpPr>
          <p:cNvPr id="21" name="m3-body"/>
          <p:cNvSpPr txBox="1"/>
          <p:nvPr/>
        </p:nvSpPr>
        <p:spPr>
          <a:xfrm>
            <a:off x="7620000" y="3810000"/>
            <a:ext cx="375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materialization on the way in, ingestion on the way out</a:t>
            </a:r>
            <a:endParaRPr lang="en-US" sz="1050" noProof="1"/>
          </a:p>
        </p:txBody>
      </p:sp>
      <p:sp>
        <p:nvSpPr>
          <p:cNvPr id="22" name="rule-m3"/>
          <p:cNvSpPr/>
          <p:nvPr/>
        </p:nvSpPr>
        <p:spPr>
          <a:xfrm>
            <a:off x="7620000" y="42926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3" name="m4-head"/>
          <p:cNvSpPr txBox="1"/>
          <p:nvPr/>
        </p:nvSpPr>
        <p:spPr>
          <a:xfrm>
            <a:off x="7620000" y="43942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the guides</a:t>
            </a:r>
            <a:endParaRPr lang="en-US" sz="1100" noProof="1"/>
          </a:p>
        </p:txBody>
      </p:sp>
      <p:sp>
        <p:nvSpPr>
          <p:cNvPr id="24" name="m4-body"/>
          <p:cNvSpPr txBox="1"/>
          <p:nvPr/>
        </p:nvSpPr>
        <p:spPr>
          <a:xfrm>
            <a:off x="7620000" y="4648200"/>
            <a:ext cx="375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host LLMs — each speaks its own token language</a:t>
            </a:r>
            <a:endParaRPr lang="en-US" sz="1050" noProof="1"/>
          </a:p>
        </p:txBody>
      </p:sp>
      <p:sp>
        <p:nvSpPr>
          <p:cNvPr id="25" name="rule-m4"/>
          <p:cNvSpPr/>
          <p:nvPr/>
        </p:nvSpPr>
        <p:spPr>
          <a:xfrm>
            <a:off x="7620000" y="51308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6" name="m5-head"/>
          <p:cNvSpPr txBox="1"/>
          <p:nvPr/>
        </p:nvSpPr>
        <p:spPr>
          <a:xfrm>
            <a:off x="7620000" y="52324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the coordinator</a:t>
            </a:r>
            <a:endParaRPr lang="en-US" sz="1100" noProof="1"/>
          </a:p>
        </p:txBody>
      </p:sp>
      <p:sp>
        <p:nvSpPr>
          <p:cNvPr id="27" name="m5-body"/>
          <p:cNvSpPr txBox="1"/>
          <p:nvPr/>
        </p:nvSpPr>
        <p:spPr>
          <a:xfrm>
            <a:off x="7620000" y="5486400"/>
            <a:ext cx="375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dispatcher — learns who should move</a:t>
            </a:r>
            <a:endParaRPr lang="en-US" sz="1050" noProof="1"/>
          </a:p>
        </p:txBody>
      </p:sp>
      <p:sp>
        <p:nvSpPr>
          <p:cNvPr id="28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29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02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02 · THE WALKING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The walking, in one line — and five properties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eq-box"/>
          <p:cNvSpPr/>
          <p:nvPr/>
        </p:nvSpPr>
        <p:spPr>
          <a:xfrm>
            <a:off x="812800" y="1549400"/>
            <a:ext cx="10566400" cy="8128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6" name="eq-text"/>
          <p:cNvSpPr txBox="1"/>
          <p:nvPr/>
        </p:nvSpPr>
        <p:spPr>
          <a:xfrm>
            <a:off x="1066800" y="1549400"/>
            <a:ext cx="10058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1A1D20"/>
                </a:solidFill>
                <a:latin typeface="JetBrains Mono"/>
                <a:ea typeface="JetBrains Mono"/>
              </a:rPr>
              <a:t>Attn(X) = softmax( QKᵀ / √d ) · V,   Q = X·W_Q,  K = X·W_K,  V = X·W_V</a:t>
            </a:r>
            <a:endParaRPr lang="en-US" sz="1500" noProof="1"/>
          </a:p>
        </p:txBody>
      </p:sp>
      <p:sp>
        <p:nvSpPr>
          <p:cNvPr id="7" name="p1-num"/>
          <p:cNvSpPr txBox="1"/>
          <p:nvPr/>
        </p:nvSpPr>
        <p:spPr>
          <a:xfrm>
            <a:off x="812800" y="26670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E5B4E"/>
                </a:solidFill>
                <a:latin typeface="JetBrains Mono"/>
                <a:ea typeface="JetBrains Mono"/>
              </a:rPr>
              <a:t>1</a:t>
            </a:r>
            <a:endParaRPr lang="en-US" sz="1200" noProof="1"/>
          </a:p>
        </p:txBody>
      </p:sp>
      <p:sp>
        <p:nvSpPr>
          <p:cNvPr id="8" name="p1"/>
          <p:cNvSpPr txBox="1"/>
          <p:nvPr/>
        </p:nvSpPr>
        <p:spPr>
          <a:xfrm>
            <a:off x="1219200" y="2667000"/>
            <a:ext cx="482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Content routing.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The score q·k depends on the two states alone — order enters only through position encoding.</a:t>
            </a:r>
            <a:endParaRPr lang="en-US" sz="1050" noProof="1"/>
          </a:p>
        </p:txBody>
      </p:sp>
      <p:sp>
        <p:nvSpPr>
          <p:cNvPr id="9" name="p2-num"/>
          <p:cNvSpPr txBox="1"/>
          <p:nvPr/>
        </p:nvSpPr>
        <p:spPr>
          <a:xfrm>
            <a:off x="6553200" y="26670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E5B4E"/>
                </a:solidFill>
                <a:latin typeface="JetBrains Mono"/>
                <a:ea typeface="JetBrains Mono"/>
              </a:rPr>
              <a:t>2</a:t>
            </a:r>
            <a:endParaRPr lang="en-US" sz="1200" noProof="1"/>
          </a:p>
        </p:txBody>
      </p:sp>
      <p:sp>
        <p:nvSpPr>
          <p:cNvPr id="10" name="p2"/>
          <p:cNvSpPr txBox="1"/>
          <p:nvPr/>
        </p:nvSpPr>
        <p:spPr>
          <a:xfrm>
            <a:off x="6959600" y="2667000"/>
            <a:ext cx="4419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Permutation equivariance.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Shuffle the tokens and the result shuffles the same way — attention cannot tell orderings apart.</a:t>
            </a:r>
            <a:endParaRPr lang="en-US" sz="1050" noProof="1"/>
          </a:p>
        </p:txBody>
      </p:sp>
      <p:sp>
        <p:nvSpPr>
          <p:cNvPr id="11" name="p3-num"/>
          <p:cNvSpPr txBox="1"/>
          <p:nvPr/>
        </p:nvSpPr>
        <p:spPr>
          <a:xfrm>
            <a:off x="812800" y="34798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E5B4E"/>
                </a:solidFill>
                <a:latin typeface="JetBrains Mono"/>
                <a:ea typeface="JetBrains Mono"/>
              </a:rPr>
              <a:t>3</a:t>
            </a:r>
            <a:endParaRPr lang="en-US" sz="1200" noProof="1"/>
          </a:p>
        </p:txBody>
      </p:sp>
      <p:sp>
        <p:nvSpPr>
          <p:cNvPr id="12" name="p3"/>
          <p:cNvSpPr txBox="1"/>
          <p:nvPr/>
        </p:nvSpPr>
        <p:spPr>
          <a:xfrm>
            <a:off x="1219200" y="3479800"/>
            <a:ext cx="482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Competition.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Softmax normalises each row — keys compete for one fixed unit of weight. This is the selection step.</a:t>
            </a:r>
            <a:endParaRPr lang="en-US" sz="1050" noProof="1"/>
          </a:p>
        </p:txBody>
      </p:sp>
      <p:sp>
        <p:nvSpPr>
          <p:cNvPr id="13" name="p4-num"/>
          <p:cNvSpPr txBox="1"/>
          <p:nvPr/>
        </p:nvSpPr>
        <p:spPr>
          <a:xfrm>
            <a:off x="6553200" y="34798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E5B4E"/>
                </a:solidFill>
                <a:latin typeface="JetBrains Mono"/>
                <a:ea typeface="JetBrains Mono"/>
              </a:rPr>
              <a:t>4</a:t>
            </a:r>
            <a:endParaRPr lang="en-US" sz="1200" noProof="1"/>
          </a:p>
        </p:txBody>
      </p:sp>
      <p:sp>
        <p:nvSpPr>
          <p:cNvPr id="14" name="p4"/>
          <p:cNvSpPr txBox="1"/>
          <p:nvPr/>
        </p:nvSpPr>
        <p:spPr>
          <a:xfrm>
            <a:off x="6959600" y="3479800"/>
            <a:ext cx="4419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Value aggregation.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The output is a weighted combination of the values — a convex mix, nothing discarded.</a:t>
            </a:r>
            <a:endParaRPr lang="en-US" sz="1050" noProof="1"/>
          </a:p>
        </p:txBody>
      </p:sp>
      <p:sp>
        <p:nvSpPr>
          <p:cNvPr id="15" name="p5-num"/>
          <p:cNvSpPr txBox="1"/>
          <p:nvPr/>
        </p:nvSpPr>
        <p:spPr>
          <a:xfrm>
            <a:off x="812800" y="42926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E5B4E"/>
                </a:solidFill>
                <a:latin typeface="JetBrains Mono"/>
                <a:ea typeface="JetBrains Mono"/>
              </a:rPr>
              <a:t>5</a:t>
            </a:r>
            <a:endParaRPr lang="en-US" sz="1200" noProof="1"/>
          </a:p>
        </p:txBody>
      </p:sp>
      <p:sp>
        <p:nvSpPr>
          <p:cNvPr id="16" name="p5"/>
          <p:cNvSpPr txBox="1"/>
          <p:nvPr/>
        </p:nvSpPr>
        <p:spPr>
          <a:xfrm>
            <a:off x="1219200" y="4292600"/>
            <a:ext cx="482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Composability.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Heads concatenate and project; blocks stack around a residual stream x ← x + MHA(x).</a:t>
            </a:r>
            <a:endParaRPr lang="en-US" sz="1050" noProof="1"/>
          </a:p>
        </p:txBody>
      </p:sp>
      <p:sp>
        <p:nvSpPr>
          <p:cNvPr id="17" name="remark-box"/>
          <p:cNvSpPr/>
          <p:nvPr/>
        </p:nvSpPr>
        <p:spPr>
          <a:xfrm>
            <a:off x="6553200" y="4292600"/>
            <a:ext cx="4826000" cy="660400"/>
          </a:xfrm>
          <a:prstGeom prst="rect">
            <a:avLst/>
          </a:prstGeom>
          <a:solidFill>
            <a:srgbClr val="C2521E">
              <a:alpha val="7059"/>
            </a:srgbClr>
          </a:solidFill>
          <a:ln w="12700">
            <a:solidFill>
              <a:srgbClr val="C2521E"/>
            </a:solidFill>
          </a:ln>
        </p:spPr>
      </p:sp>
      <p:sp>
        <p:nvSpPr>
          <p:cNvPr id="18" name="remark"/>
          <p:cNvSpPr txBox="1"/>
          <p:nvPr/>
        </p:nvSpPr>
        <p:spPr>
          <a:xfrm>
            <a:off x="6705600" y="4292600"/>
            <a:ext cx="4521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Two facts that matter later: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softmax is strictly positive — an attention row has </a:t>
            </a:r>
            <a:r>
              <a:rPr lang="en-US" sz="1050" noProof="1" i="1">
                <a:solidFill>
                  <a:srgbClr val="6E747B"/>
                </a:solidFill>
                <a:latin typeface="Inter"/>
                <a:ea typeface="Inter"/>
              </a:rPr>
              <a:t>no zeros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; selection is never hard.</a:t>
            </a:r>
            <a:endParaRPr lang="en-US" sz="1050" noProof="1"/>
          </a:p>
        </p:txBody>
      </p:sp>
      <p:sp>
        <p:nvSpPr>
          <p:cNvPr id="19" name="strip-bar"/>
          <p:cNvSpPr/>
          <p:nvPr/>
        </p:nvSpPr>
        <p:spPr>
          <a:xfrm>
            <a:off x="812800" y="5384800"/>
            <a:ext cx="38100" cy="762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20" name="strip-text"/>
          <p:cNvSpPr txBox="1"/>
          <p:nvPr/>
        </p:nvSpPr>
        <p:spPr>
          <a:xfrm>
            <a:off x="1016000" y="53848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walker's rule, read structurally: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content-based routing followed by monotone accumulation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a query selects items by similarity, and their values are combined. That shape has an exact, set-valued twin.</a:t>
            </a:r>
            <a:endParaRPr lang="en-US" sz="1250" noProof="1"/>
          </a:p>
        </p:txBody>
      </p:sp>
      <p:sp>
        <p:nvSpPr>
          <p:cNvPr id="21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03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03 · THE MAP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The EWM lattice: a map of content-addressed waypoints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An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HLLSet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is a compact sketch of a token collection: each token is hashed once onto one bit of a fixed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32,768-bit plane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(4 KB packed). Ten tokens or ten million — always 4 KB. Order does not matter, repetition does not matter.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All sketches share one plane, so set operations are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exact bit operations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; every sketch is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content-addressed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(SHA-1).</a:t>
            </a:r>
            <a:endParaRPr lang="en-US" sz="1250" noProof="1"/>
          </a:p>
        </p:txBody>
      </p:sp>
      <p:sp>
        <p:nvSpPr>
          <p:cNvPr id="6" name="lattice-eq"/>
          <p:cNvSpPr txBox="1"/>
          <p:nvPr/>
        </p:nvSpPr>
        <p:spPr>
          <a:xfrm>
            <a:off x="812800" y="3149600"/>
            <a:ext cx="596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1E5B4E"/>
                </a:solidFill>
                <a:latin typeface="JetBrains Mono"/>
                <a:ea typeface="JetBrains Mono"/>
              </a:rPr>
              <a:t>B = ( 2^plane, ⊆, ∪, ∩, Δ )  — the map itself</a:t>
            </a:r>
            <a:endParaRPr lang="en-US" sz="1250" noProof="1"/>
          </a:p>
        </p:txBody>
      </p:sp>
      <p:sp>
        <p:nvSpPr>
          <p:cNvPr id="7" name="left-body-2"/>
          <p:cNvSpPr txBox="1"/>
          <p:nvPr/>
        </p:nvSpPr>
        <p:spPr>
          <a:xfrm>
            <a:off x="812800" y="36576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A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node is a place with its detail compressed inside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: the bitmap is the coordinate, not the transcript. A side table (the LUT) records which tokens landed on each bit — collisions are resolved there, not in the bits.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Each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world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a hash configuration plus a threshold — reads the same lattice through its own LUT. Worlds share the plane and differ only in interpretation.</a:t>
            </a:r>
            <a:endParaRPr lang="en-US" sz="1250" noProof="1"/>
          </a:p>
        </p:txBody>
      </p:sp>
      <p:sp>
        <p:nvSpPr>
          <p:cNvPr id="8" name="strip-bar"/>
          <p:cNvSpPr/>
          <p:nvPr/>
        </p:nvSpPr>
        <p:spPr>
          <a:xfrm>
            <a:off x="812800" y="5384800"/>
            <a:ext cx="38100" cy="762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9" name="strip-text"/>
          <p:cNvSpPr txBox="1"/>
          <p:nvPr/>
        </p:nvSpPr>
        <p:spPr>
          <a:xfrm>
            <a:off x="1016000" y="5384800"/>
            <a:ext cx="5765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The map answers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which place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— scored by overlap (BSS = |X∩B| / |B|), selected by a threshold, accumulated by union. What it cannot do is move inside the detail.</a:t>
            </a:r>
            <a:endParaRPr lang="en-US" sz="1200" noProof="1"/>
          </a:p>
        </p:txBody>
      </p:sp>
      <p:sp>
        <p:nvSpPr>
          <p:cNvPr id="10" name="viz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A TOY PLANE — 16 POSITIONS</a:t>
            </a:r>
            <a:endParaRPr lang="en-US" sz="1000" noProof="1"/>
          </a:p>
        </p:txBody>
      </p:sp>
      <p:sp>
        <p:nvSpPr>
          <p:cNvPr id="11" name="row1-lab"/>
          <p:cNvSpPr txBox="1"/>
          <p:nvPr/>
        </p:nvSpPr>
        <p:spPr>
          <a:xfrm>
            <a:off x="7620000" y="18542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{cat, sat}</a:t>
            </a:r>
            <a:endParaRPr lang="en-US" sz="1000" noProof="1"/>
          </a:p>
        </p:txBody>
      </p:sp>
      <p:sp>
        <p:nvSpPr>
          <p:cNvPr id="12" name="row2-lab"/>
          <p:cNvSpPr txBox="1"/>
          <p:nvPr/>
        </p:nvSpPr>
        <p:spPr>
          <a:xfrm>
            <a:off x="7620000" y="22606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{mat}</a:t>
            </a:r>
            <a:endParaRPr lang="en-US" sz="1000" noProof="1"/>
          </a:p>
        </p:txBody>
      </p:sp>
      <p:sp>
        <p:nvSpPr>
          <p:cNvPr id="13" name="row3-lab"/>
          <p:cNvSpPr txBox="1"/>
          <p:nvPr/>
        </p:nvSpPr>
        <p:spPr>
          <a:xfrm>
            <a:off x="7620000" y="2667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1E5B4E"/>
                </a:solidFill>
                <a:latin typeface="JetBrains Mono"/>
                <a:ea typeface="JetBrains Mono"/>
              </a:rPr>
              <a:t>union ∪</a:t>
            </a:r>
            <a:endParaRPr lang="en-US" sz="1000" noProof="1"/>
          </a:p>
        </p:txBody>
      </p:sp>
      <p:sp>
        <p:nvSpPr>
          <p:cNvPr id="14" name="row4-lab"/>
          <p:cNvSpPr txBox="1"/>
          <p:nvPr/>
        </p:nvSpPr>
        <p:spPr>
          <a:xfrm>
            <a:off x="7620000" y="30734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C2521E"/>
                </a:solidFill>
                <a:latin typeface="JetBrains Mono"/>
                <a:ea typeface="JetBrains Mono"/>
              </a:rPr>
              <a:t>meet ∩</a:t>
            </a:r>
            <a:endParaRPr lang="en-US" sz="1000" noProof="1"/>
          </a:p>
        </p:txBody>
      </p:sp>
      <p:sp>
        <p:nvSpPr>
          <p:cNvPr id="15" name="vb01"/>
          <p:cNvSpPr/>
          <p:nvPr/>
        </p:nvSpPr>
        <p:spPr>
          <a:xfrm>
            <a:off x="91948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16" name="vb02"/>
          <p:cNvSpPr/>
          <p:nvPr/>
        </p:nvSpPr>
        <p:spPr>
          <a:xfrm>
            <a:off x="93345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17" name="vb03"/>
          <p:cNvSpPr/>
          <p:nvPr/>
        </p:nvSpPr>
        <p:spPr>
          <a:xfrm>
            <a:off x="94742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18" name="vb04"/>
          <p:cNvSpPr/>
          <p:nvPr/>
        </p:nvSpPr>
        <p:spPr>
          <a:xfrm>
            <a:off x="9613900" y="1854200"/>
            <a:ext cx="114300" cy="114300"/>
          </a:xfrm>
          <a:prstGeom prst="rect">
            <a:avLst/>
          </a:prstGeom>
          <a:solidFill>
            <a:srgbClr val="1E5B4E"/>
          </a:solidFill>
          <a:ln>
            <a:noFill/>
          </a:ln>
        </p:spPr>
      </p:sp>
      <p:sp>
        <p:nvSpPr>
          <p:cNvPr id="19" name="vb05"/>
          <p:cNvSpPr/>
          <p:nvPr/>
        </p:nvSpPr>
        <p:spPr>
          <a:xfrm>
            <a:off x="97536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20" name="vb06"/>
          <p:cNvSpPr/>
          <p:nvPr/>
        </p:nvSpPr>
        <p:spPr>
          <a:xfrm>
            <a:off x="98933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21" name="vb07"/>
          <p:cNvSpPr/>
          <p:nvPr/>
        </p:nvSpPr>
        <p:spPr>
          <a:xfrm>
            <a:off x="100330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22" name="vb08"/>
          <p:cNvSpPr/>
          <p:nvPr/>
        </p:nvSpPr>
        <p:spPr>
          <a:xfrm>
            <a:off x="101727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23" name="vb09"/>
          <p:cNvSpPr/>
          <p:nvPr/>
        </p:nvSpPr>
        <p:spPr>
          <a:xfrm>
            <a:off x="103124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24" name="vb10"/>
          <p:cNvSpPr/>
          <p:nvPr/>
        </p:nvSpPr>
        <p:spPr>
          <a:xfrm>
            <a:off x="10452100" y="1854200"/>
            <a:ext cx="114300" cy="114300"/>
          </a:xfrm>
          <a:prstGeom prst="rect">
            <a:avLst/>
          </a:prstGeom>
          <a:solidFill>
            <a:srgbClr val="1E5B4E"/>
          </a:solidFill>
          <a:ln>
            <a:noFill/>
          </a:ln>
        </p:spPr>
      </p:sp>
      <p:sp>
        <p:nvSpPr>
          <p:cNvPr id="25" name="vb11"/>
          <p:cNvSpPr/>
          <p:nvPr/>
        </p:nvSpPr>
        <p:spPr>
          <a:xfrm>
            <a:off x="105918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26" name="vb12"/>
          <p:cNvSpPr/>
          <p:nvPr/>
        </p:nvSpPr>
        <p:spPr>
          <a:xfrm>
            <a:off x="107315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27" name="vb13"/>
          <p:cNvSpPr/>
          <p:nvPr/>
        </p:nvSpPr>
        <p:spPr>
          <a:xfrm>
            <a:off x="108712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28" name="vb14"/>
          <p:cNvSpPr/>
          <p:nvPr/>
        </p:nvSpPr>
        <p:spPr>
          <a:xfrm>
            <a:off x="110109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29" name="vb15"/>
          <p:cNvSpPr/>
          <p:nvPr/>
        </p:nvSpPr>
        <p:spPr>
          <a:xfrm>
            <a:off x="111506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30" name="vb16"/>
          <p:cNvSpPr/>
          <p:nvPr/>
        </p:nvSpPr>
        <p:spPr>
          <a:xfrm>
            <a:off x="11290300" y="18542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31" name="vb17"/>
          <p:cNvSpPr/>
          <p:nvPr/>
        </p:nvSpPr>
        <p:spPr>
          <a:xfrm>
            <a:off x="91948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32" name="vb18"/>
          <p:cNvSpPr/>
          <p:nvPr/>
        </p:nvSpPr>
        <p:spPr>
          <a:xfrm>
            <a:off x="93345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33" name="vb19"/>
          <p:cNvSpPr/>
          <p:nvPr/>
        </p:nvSpPr>
        <p:spPr>
          <a:xfrm>
            <a:off x="94742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34" name="vb20"/>
          <p:cNvSpPr/>
          <p:nvPr/>
        </p:nvSpPr>
        <p:spPr>
          <a:xfrm>
            <a:off x="9613900" y="2260600"/>
            <a:ext cx="114300" cy="114300"/>
          </a:xfrm>
          <a:prstGeom prst="rect">
            <a:avLst/>
          </a:prstGeom>
          <a:solidFill>
            <a:srgbClr val="1E5B4E"/>
          </a:solidFill>
          <a:ln>
            <a:noFill/>
          </a:ln>
        </p:spPr>
      </p:sp>
      <p:sp>
        <p:nvSpPr>
          <p:cNvPr id="35" name="vb21"/>
          <p:cNvSpPr/>
          <p:nvPr/>
        </p:nvSpPr>
        <p:spPr>
          <a:xfrm>
            <a:off x="97536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36" name="vb22"/>
          <p:cNvSpPr/>
          <p:nvPr/>
        </p:nvSpPr>
        <p:spPr>
          <a:xfrm>
            <a:off x="98933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37" name="vb23"/>
          <p:cNvSpPr/>
          <p:nvPr/>
        </p:nvSpPr>
        <p:spPr>
          <a:xfrm>
            <a:off x="100330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38" name="vb24"/>
          <p:cNvSpPr/>
          <p:nvPr/>
        </p:nvSpPr>
        <p:spPr>
          <a:xfrm>
            <a:off x="101727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39" name="vb25"/>
          <p:cNvSpPr/>
          <p:nvPr/>
        </p:nvSpPr>
        <p:spPr>
          <a:xfrm>
            <a:off x="103124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40" name="vb26"/>
          <p:cNvSpPr/>
          <p:nvPr/>
        </p:nvSpPr>
        <p:spPr>
          <a:xfrm>
            <a:off x="104521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41" name="vb27"/>
          <p:cNvSpPr/>
          <p:nvPr/>
        </p:nvSpPr>
        <p:spPr>
          <a:xfrm>
            <a:off x="105918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42" name="vb28"/>
          <p:cNvSpPr/>
          <p:nvPr/>
        </p:nvSpPr>
        <p:spPr>
          <a:xfrm>
            <a:off x="107315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43" name="vb29"/>
          <p:cNvSpPr/>
          <p:nvPr/>
        </p:nvSpPr>
        <p:spPr>
          <a:xfrm>
            <a:off x="108712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44" name="vb30"/>
          <p:cNvSpPr/>
          <p:nvPr/>
        </p:nvSpPr>
        <p:spPr>
          <a:xfrm>
            <a:off x="110109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45" name="vb31"/>
          <p:cNvSpPr/>
          <p:nvPr/>
        </p:nvSpPr>
        <p:spPr>
          <a:xfrm>
            <a:off x="111506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46" name="vb32"/>
          <p:cNvSpPr/>
          <p:nvPr/>
        </p:nvSpPr>
        <p:spPr>
          <a:xfrm>
            <a:off x="11290300" y="22606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47" name="vb33"/>
          <p:cNvSpPr/>
          <p:nvPr/>
        </p:nvSpPr>
        <p:spPr>
          <a:xfrm>
            <a:off x="91948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48" name="vb34"/>
          <p:cNvSpPr/>
          <p:nvPr/>
        </p:nvSpPr>
        <p:spPr>
          <a:xfrm>
            <a:off x="93345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49" name="vb35"/>
          <p:cNvSpPr/>
          <p:nvPr/>
        </p:nvSpPr>
        <p:spPr>
          <a:xfrm>
            <a:off x="94742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50" name="vb36"/>
          <p:cNvSpPr/>
          <p:nvPr/>
        </p:nvSpPr>
        <p:spPr>
          <a:xfrm>
            <a:off x="9613900" y="2667000"/>
            <a:ext cx="114300" cy="114300"/>
          </a:xfrm>
          <a:prstGeom prst="rect">
            <a:avLst/>
          </a:prstGeom>
          <a:solidFill>
            <a:srgbClr val="1E5B4E"/>
          </a:solidFill>
          <a:ln>
            <a:noFill/>
          </a:ln>
        </p:spPr>
      </p:sp>
      <p:sp>
        <p:nvSpPr>
          <p:cNvPr id="51" name="vb37"/>
          <p:cNvSpPr/>
          <p:nvPr/>
        </p:nvSpPr>
        <p:spPr>
          <a:xfrm>
            <a:off x="97536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52" name="vb38"/>
          <p:cNvSpPr/>
          <p:nvPr/>
        </p:nvSpPr>
        <p:spPr>
          <a:xfrm>
            <a:off x="98933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53" name="vb39"/>
          <p:cNvSpPr/>
          <p:nvPr/>
        </p:nvSpPr>
        <p:spPr>
          <a:xfrm>
            <a:off x="100330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54" name="vb40"/>
          <p:cNvSpPr/>
          <p:nvPr/>
        </p:nvSpPr>
        <p:spPr>
          <a:xfrm>
            <a:off x="101727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55" name="vb41"/>
          <p:cNvSpPr/>
          <p:nvPr/>
        </p:nvSpPr>
        <p:spPr>
          <a:xfrm>
            <a:off x="103124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56" name="vb42"/>
          <p:cNvSpPr/>
          <p:nvPr/>
        </p:nvSpPr>
        <p:spPr>
          <a:xfrm>
            <a:off x="10452100" y="2667000"/>
            <a:ext cx="114300" cy="114300"/>
          </a:xfrm>
          <a:prstGeom prst="rect">
            <a:avLst/>
          </a:prstGeom>
          <a:solidFill>
            <a:srgbClr val="1E5B4E"/>
          </a:solidFill>
          <a:ln>
            <a:noFill/>
          </a:ln>
        </p:spPr>
      </p:sp>
      <p:sp>
        <p:nvSpPr>
          <p:cNvPr id="57" name="vb43"/>
          <p:cNvSpPr/>
          <p:nvPr/>
        </p:nvSpPr>
        <p:spPr>
          <a:xfrm>
            <a:off x="105918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58" name="vb44"/>
          <p:cNvSpPr/>
          <p:nvPr/>
        </p:nvSpPr>
        <p:spPr>
          <a:xfrm>
            <a:off x="107315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59" name="vb45"/>
          <p:cNvSpPr/>
          <p:nvPr/>
        </p:nvSpPr>
        <p:spPr>
          <a:xfrm>
            <a:off x="108712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60" name="vb46"/>
          <p:cNvSpPr/>
          <p:nvPr/>
        </p:nvSpPr>
        <p:spPr>
          <a:xfrm>
            <a:off x="110109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61" name="vb47"/>
          <p:cNvSpPr/>
          <p:nvPr/>
        </p:nvSpPr>
        <p:spPr>
          <a:xfrm>
            <a:off x="111506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62" name="vb48"/>
          <p:cNvSpPr/>
          <p:nvPr/>
        </p:nvSpPr>
        <p:spPr>
          <a:xfrm>
            <a:off x="11290300" y="26670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63" name="vb49"/>
          <p:cNvSpPr/>
          <p:nvPr/>
        </p:nvSpPr>
        <p:spPr>
          <a:xfrm>
            <a:off x="91948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64" name="vb50"/>
          <p:cNvSpPr/>
          <p:nvPr/>
        </p:nvSpPr>
        <p:spPr>
          <a:xfrm>
            <a:off x="93345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65" name="vb51"/>
          <p:cNvSpPr/>
          <p:nvPr/>
        </p:nvSpPr>
        <p:spPr>
          <a:xfrm>
            <a:off x="94742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66" name="vb52"/>
          <p:cNvSpPr/>
          <p:nvPr/>
        </p:nvSpPr>
        <p:spPr>
          <a:xfrm>
            <a:off x="9613900" y="3073400"/>
            <a:ext cx="114300" cy="114300"/>
          </a:xfrm>
          <a:prstGeom prst="rect">
            <a:avLst/>
          </a:prstGeom>
          <a:solidFill>
            <a:srgbClr val="1E5B4E"/>
          </a:solidFill>
          <a:ln>
            <a:noFill/>
          </a:ln>
        </p:spPr>
      </p:sp>
      <p:sp>
        <p:nvSpPr>
          <p:cNvPr id="67" name="vb53"/>
          <p:cNvSpPr/>
          <p:nvPr/>
        </p:nvSpPr>
        <p:spPr>
          <a:xfrm>
            <a:off x="97536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68" name="vb54"/>
          <p:cNvSpPr/>
          <p:nvPr/>
        </p:nvSpPr>
        <p:spPr>
          <a:xfrm>
            <a:off x="98933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69" name="vb55"/>
          <p:cNvSpPr/>
          <p:nvPr/>
        </p:nvSpPr>
        <p:spPr>
          <a:xfrm>
            <a:off x="100330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70" name="vb56"/>
          <p:cNvSpPr/>
          <p:nvPr/>
        </p:nvSpPr>
        <p:spPr>
          <a:xfrm>
            <a:off x="101727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71" name="vb57"/>
          <p:cNvSpPr/>
          <p:nvPr/>
        </p:nvSpPr>
        <p:spPr>
          <a:xfrm>
            <a:off x="103124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72" name="vb58"/>
          <p:cNvSpPr/>
          <p:nvPr/>
        </p:nvSpPr>
        <p:spPr>
          <a:xfrm>
            <a:off x="104521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73" name="vb59"/>
          <p:cNvSpPr/>
          <p:nvPr/>
        </p:nvSpPr>
        <p:spPr>
          <a:xfrm>
            <a:off x="105918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74" name="vb60"/>
          <p:cNvSpPr/>
          <p:nvPr/>
        </p:nvSpPr>
        <p:spPr>
          <a:xfrm>
            <a:off x="107315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75" name="vb61"/>
          <p:cNvSpPr/>
          <p:nvPr/>
        </p:nvSpPr>
        <p:spPr>
          <a:xfrm>
            <a:off x="108712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76" name="vb62"/>
          <p:cNvSpPr/>
          <p:nvPr/>
        </p:nvSpPr>
        <p:spPr>
          <a:xfrm>
            <a:off x="110109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77" name="vb63"/>
          <p:cNvSpPr/>
          <p:nvPr/>
        </p:nvSpPr>
        <p:spPr>
          <a:xfrm>
            <a:off x="111506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78" name="vb64"/>
          <p:cNvSpPr/>
          <p:nvPr/>
        </p:nvSpPr>
        <p:spPr>
          <a:xfrm>
            <a:off x="11290300" y="3073400"/>
            <a:ext cx="114300" cy="114300"/>
          </a:xfrm>
          <a:prstGeom prst="rect">
            <a:avLst/>
          </a:prstGeom>
          <a:solidFill>
            <a:srgbClr val="E4E1D8"/>
          </a:solidFill>
          <a:ln>
            <a:noFill/>
          </a:ln>
        </p:spPr>
      </p:sp>
      <p:sp>
        <p:nvSpPr>
          <p:cNvPr id="79" name="lut-note"/>
          <p:cNvSpPr txBox="1"/>
          <p:nvPr/>
        </p:nvSpPr>
        <p:spPr>
          <a:xfrm>
            <a:off x="7620000" y="4191000"/>
            <a:ext cx="3759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JetBrains Mono"/>
                <a:ea typeface="JetBrains Mono"/>
              </a:rPr>
              <a:t>cat → 3, sat → 9, mat → 3</a:t>
            </a:r>
            <a:endParaRPr lang="en-US" sz="105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Two tokens share bit 3 — a collision. The LUT reads bit 3 back as {cat, mat}; the bits carry the geometry, the LUT carries the meaning.</a:t>
            </a:r>
            <a:endParaRPr lang="en-US" sz="105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Real plane: P = 10, 1,024 registers × 32 bits = 32,768 positions.</a:t>
            </a:r>
            <a:endParaRPr lang="en-US" sz="1050" noProof="1"/>
          </a:p>
        </p:txBody>
      </p:sp>
      <p:sp>
        <p:nvSpPr>
          <p:cNvPr id="80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81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04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04 · THE SEAM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The seam: the support of attention is a lattice join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eq-box"/>
          <p:cNvSpPr/>
          <p:nvPr/>
        </p:nvSpPr>
        <p:spPr>
          <a:xfrm>
            <a:off x="812800" y="1549400"/>
            <a:ext cx="5765800" cy="10160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6" name="eq-text"/>
          <p:cNvSpPr txBox="1"/>
          <p:nvPr/>
        </p:nvSpPr>
        <p:spPr>
          <a:xfrm>
            <a:off x="1028700" y="1651000"/>
            <a:ext cx="533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>
                <a:solidFill>
                  <a:srgbClr val="1A1D20"/>
                </a:solidFill>
                <a:latin typeface="JetBrains Mono"/>
                <a:ea typeface="JetBrains Mono"/>
              </a:rPr>
              <a:t>supp( Σᵢ αᵢ·Vᵢ ) = ∪ { Vᵢ : αᵢ &gt; 0 }    </a:t>
            </a:r>
            <a:endParaRPr lang="en-US" sz="1450" noProof="1"/>
          </a:p>
          <a:p>
            <a:pPr algn="l">
              <a:lnSpc>
                <a:spcPct val="120000"/>
              </a:lnSpc>
            </a:pPr>
            <a:r>
              <a:rPr lang="en-US" sz="1450" noProof="1">
                <a:solidFill>
                  <a:srgbClr val="1A1D20"/>
                </a:solidFill>
                <a:latin typeface="JetBrains Mono"/>
                <a:ea typeface="JetBrains Mono"/>
              </a:rPr>
              <a:t>(αᵢ ≥ 0, Vᵢ Boolean) </a:t>
            </a:r>
            <a:endParaRPr lang="en-US" sz="1450" noProof="1"/>
          </a:p>
        </p:txBody>
      </p:sp>
      <p:sp>
        <p:nvSpPr>
          <p:cNvPr id="7" name="left-body"/>
          <p:cNvSpPr txBox="1"/>
          <p:nvPr/>
        </p:nvSpPr>
        <p:spPr>
          <a:xfrm>
            <a:off x="812800" y="2641600"/>
            <a:ext cx="5969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Support–union lemma.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With nonnegative weights, a weighted sum of bit vectors has a non-zero entry exactly where at least one attended vector has a 1. The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bitmap of an attention layer is a node of the lattice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weights never change </a:t>
            </a:r>
            <a:r>
              <a:rPr lang="en-US" sz="1250" noProof="1" i="1">
                <a:solidFill>
                  <a:srgbClr val="1A1D20"/>
                </a:solidFill>
                <a:latin typeface="Inter"/>
                <a:ea typeface="Inter"/>
              </a:rPr>
              <a:t>which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bits are kept — only the convex coordinates </a:t>
            </a:r>
            <a:r>
              <a:rPr lang="en-US" sz="1250" noProof="1" i="1">
                <a:solidFill>
                  <a:srgbClr val="1A1D20"/>
                </a:solidFill>
                <a:latin typeface="Inter"/>
                <a:ea typeface="Inter"/>
              </a:rPr>
              <a:t>inside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the kept set. The bitmap fixes the working set; the weights move within it.</a:t>
            </a:r>
            <a:endParaRPr lang="en-US" sz="1250" noProof="1"/>
          </a:p>
        </p:txBody>
      </p:sp>
      <p:sp>
        <p:nvSpPr>
          <p:cNvPr id="8" name="left-body-2"/>
          <p:cNvSpPr txBox="1"/>
          <p:nvPr/>
        </p:nvSpPr>
        <p:spPr>
          <a:xfrm>
            <a:off x="812800" y="44196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And the similarity is shared too: overlap ⟨x, y⟩ = |X ∩ Y| — EWM's BSS, Jaccard and containment are all normalisations of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the same bilinear form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attention's dot product computes.</a:t>
            </a:r>
            <a:endParaRPr lang="en-US" sz="1250" noProof="1"/>
          </a:p>
        </p:txBody>
      </p:sp>
      <p:sp>
        <p:nvSpPr>
          <p:cNvPr id="9" name="strip-bar"/>
          <p:cNvSpPr/>
          <p:nvPr/>
        </p:nvSpPr>
        <p:spPr>
          <a:xfrm>
            <a:off x="812800" y="5384800"/>
            <a:ext cx="38100" cy="762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0" name="strip-text"/>
          <p:cNvSpPr txBox="1"/>
          <p:nvPr/>
        </p:nvSpPr>
        <p:spPr>
          <a:xfrm>
            <a:off x="1016000" y="5384800"/>
            <a:ext cx="5765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The seam is one operator, not a resemblance: a traversal's output can be handed to an attention layer, and an attention layer's support handed back to the lattice —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without translation loss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.</a:t>
            </a:r>
            <a:endParaRPr lang="en-US" sz="1200" noProof="1"/>
          </a:p>
        </p:txBody>
      </p:sp>
      <p:sp>
        <p:nvSpPr>
          <p:cNvPr id="11" name="r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A 4-BIT PICTURE</a:t>
            </a:r>
            <a:endParaRPr lang="en-US" sz="1000" noProof="1"/>
          </a:p>
        </p:txBody>
      </p:sp>
      <p:sp>
        <p:nvSpPr>
          <p:cNvPr id="12" name="ex-box"/>
          <p:cNvSpPr/>
          <p:nvPr/>
        </p:nvSpPr>
        <p:spPr>
          <a:xfrm>
            <a:off x="7620000" y="1854200"/>
            <a:ext cx="3759200" cy="21336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13" name="ex-text"/>
          <p:cNvSpPr txBox="1"/>
          <p:nvPr/>
        </p:nvSpPr>
        <p:spPr>
          <a:xfrm>
            <a:off x="7797800" y="1981200"/>
            <a:ext cx="3403600" cy="187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V₁ = 1 0 1 1</a:t>
            </a:r>
            <a:endParaRPr lang="en-US" sz="1100" noProof="1"/>
          </a:p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V₂ = 0 1 1 0</a:t>
            </a:r>
            <a:endParaRPr lang="en-US" sz="1100" noProof="1"/>
          </a:p>
          <a:p>
            <a:pPr>
              <a:lnSpc>
                <a:spcPct val="165000"/>
              </a:lnSpc>
            </a:pPr>
            <a:endParaRPr lang="en-US" sz="1100" noProof="1"/>
          </a:p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0.7·V₁ + 0.3·V₂</a:t>
            </a:r>
            <a:endParaRPr lang="en-US" sz="1100" noProof="1"/>
          </a:p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= .7 .3 1 .7</a:t>
            </a:r>
            <a:endParaRPr lang="en-US" sz="1100" noProof="1"/>
          </a:p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1E5B4E"/>
                </a:solidFill>
                <a:latin typeface="JetBrains Mono"/>
                <a:ea typeface="JetBrains Mono"/>
              </a:rPr>
              <a:t>supp = 1 1 1 1 = V₁ ∪ V₂</a:t>
            </a:r>
            <a:endParaRPr lang="en-US" sz="1100" noProof="1"/>
          </a:p>
        </p:txBody>
      </p:sp>
      <p:sp>
        <p:nvSpPr>
          <p:cNvPr id="14" name="ex-note"/>
          <p:cNvSpPr txBox="1"/>
          <p:nvPr/>
        </p:nvSpPr>
        <p:spPr>
          <a:xfrm>
            <a:off x="7620000" y="4191000"/>
            <a:ext cx="3759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Every attended value contributes its bits; the weights decide how strongly — never whether.</a:t>
            </a:r>
            <a:endParaRPr lang="en-US" sz="1050" noProof="1"/>
          </a:p>
        </p:txBody>
      </p:sp>
      <p:sp>
        <p:nvSpPr>
          <p:cNvPr id="15" name="corol-box"/>
          <p:cNvSpPr/>
          <p:nvPr/>
        </p:nvSpPr>
        <p:spPr>
          <a:xfrm>
            <a:off x="7620000" y="5130800"/>
            <a:ext cx="3759200" cy="1016000"/>
          </a:xfrm>
          <a:prstGeom prst="rect">
            <a:avLst/>
          </a:prstGeom>
          <a:solidFill>
            <a:srgbClr val="1E5B4E">
              <a:alpha val="6275"/>
            </a:srgbClr>
          </a:solidFill>
          <a:ln w="12700">
            <a:solidFill>
              <a:srgbClr val="1E5B4E"/>
            </a:solidFill>
          </a:ln>
        </p:spPr>
      </p:sp>
      <p:sp>
        <p:nvSpPr>
          <p:cNvPr id="16" name="corol"/>
          <p:cNvSpPr txBox="1"/>
          <p:nvPr/>
        </p:nvSpPr>
        <p:spPr>
          <a:xfrm>
            <a:off x="7797800" y="5130800"/>
            <a:ext cx="3403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Correspondence theorem.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Thresholded attention and lattice traversal share one support operator, one similarity geometry, one accumulation law — they differ only in the interpolation inside.</a:t>
            </a:r>
            <a:endParaRPr lang="en-US" sz="1050" noProof="1"/>
          </a:p>
        </p:txBody>
      </p:sp>
      <p:sp>
        <p:nvSpPr>
          <p:cNvPr id="17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05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05 · ONE KNOB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Temperature and threshold are two faces of one knob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220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Softmax is the unique minimiser of a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free energy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: 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F(α) = −⟨α, scores⟩ + τ·Σ αᵢ ln αᵢ. 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first term rewards high scores; the second is an entropy that smooths the choice.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Turn the temperature down and the weights concentrate on the best-scoring key; turn it up and every key gets an equal share.</a:t>
            </a:r>
            <a:endParaRPr lang="en-US" sz="1250" noProof="1"/>
          </a:p>
        </p:txBody>
      </p:sp>
      <p:sp>
        <p:nvSpPr>
          <p:cNvPr id="6" name="eq-box"/>
          <p:cNvSpPr/>
          <p:nvPr/>
        </p:nvSpPr>
        <p:spPr>
          <a:xfrm>
            <a:off x="812800" y="3200400"/>
            <a:ext cx="5969000" cy="7112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7" name="eq-text"/>
          <p:cNvSpPr txBox="1"/>
          <p:nvPr/>
        </p:nvSpPr>
        <p:spPr>
          <a:xfrm>
            <a:off x="1066800" y="3200400"/>
            <a:ext cx="5461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1A1D20"/>
                </a:solidFill>
                <a:latin typeface="JetBrains Mono"/>
                <a:ea typeface="JetBrains Mono"/>
              </a:rPr>
              <a:t>αᵢ(τ) = e^(sᵢ/τ) / Σⱼ e^(sⱼ/τ)</a:t>
            </a:r>
            <a:endParaRPr lang="en-US" sz="1250" noProof="1"/>
          </a:p>
        </p:txBody>
      </p:sp>
      <p:sp>
        <p:nvSpPr>
          <p:cNvPr id="8" name="left-body-2"/>
          <p:cNvSpPr txBox="1"/>
          <p:nvPr/>
        </p:nvSpPr>
        <p:spPr>
          <a:xfrm>
            <a:off x="812800" y="4165600"/>
            <a:ext cx="5969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EWM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world threshold θ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is the attention threshold — the hard, zero-temperature selection. The softmax temperature is its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entropic relaxation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: the same rule, made differentiable.</a:t>
            </a:r>
            <a:endParaRPr lang="en-US" sz="1250" noProof="1"/>
          </a:p>
        </p:txBody>
      </p:sp>
      <p:sp>
        <p:nvSpPr>
          <p:cNvPr id="9" name="strip-bar"/>
          <p:cNvSpPr/>
          <p:nvPr/>
        </p:nvSpPr>
        <p:spPr>
          <a:xfrm>
            <a:off x="812800" y="5384800"/>
            <a:ext cx="38100" cy="762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0" name="strip-text"/>
          <p:cNvSpPr txBox="1"/>
          <p:nvPr/>
        </p:nvSpPr>
        <p:spPr>
          <a:xfrm>
            <a:off x="1016000" y="5384800"/>
            <a:ext cx="5765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Attention and traversal are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two ends of one temperature axis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— and the softmax is the annealing schedule between them.</a:t>
            </a:r>
            <a:endParaRPr lang="en-US" sz="1200" noProof="1"/>
          </a:p>
        </p:txBody>
      </p:sp>
      <p:sp>
        <p:nvSpPr>
          <p:cNvPr id="11" name="r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SAME SCORES, THREE TEMPERATURES</a:t>
            </a:r>
            <a:endParaRPr lang="en-US" sz="1000" noProof="1"/>
          </a:p>
        </p:txBody>
      </p:sp>
      <p:sp>
        <p:nvSpPr>
          <p:cNvPr id="12" name="t1-head"/>
          <p:cNvSpPr txBox="1"/>
          <p:nvPr/>
        </p:nvSpPr>
        <p:spPr>
          <a:xfrm>
            <a:off x="7620000" y="1879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τ → 0 — the hard end</a:t>
            </a:r>
            <a:endParaRPr lang="en-US" sz="1100" noProof="1"/>
          </a:p>
        </p:txBody>
      </p:sp>
      <p:sp>
        <p:nvSpPr>
          <p:cNvPr id="13" name="t1-body"/>
          <p:cNvSpPr txBox="1"/>
          <p:nvPr/>
        </p:nvSpPr>
        <p:spPr>
          <a:xfrm>
            <a:off x="7620000" y="21590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Only the argmax survives: weights (1, 0, 0). This </a:t>
            </a:r>
            <a:r>
              <a:rPr lang="en-US" sz="1050" noProof="1" i="1">
                <a:solidFill>
                  <a:srgbClr val="6E747B"/>
                </a:solidFill>
                <a:latin typeface="Inter"/>
                <a:ea typeface="Inter"/>
              </a:rPr>
              <a:t>is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thresholded traversal — the map's selection rule.</a:t>
            </a:r>
            <a:endParaRPr lang="en-US" sz="1050" noProof="1"/>
          </a:p>
        </p:txBody>
      </p:sp>
      <p:sp>
        <p:nvSpPr>
          <p:cNvPr id="14" name="rule-t1"/>
          <p:cNvSpPr/>
          <p:nvPr/>
        </p:nvSpPr>
        <p:spPr>
          <a:xfrm>
            <a:off x="7620000" y="28194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5" name="t2-head"/>
          <p:cNvSpPr txBox="1"/>
          <p:nvPr/>
        </p:nvSpPr>
        <p:spPr>
          <a:xfrm>
            <a:off x="7620000" y="29718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A1D20"/>
                </a:solidFill>
                <a:latin typeface="JetBrains Mono"/>
                <a:ea typeface="JetBrains Mono"/>
              </a:rPr>
              <a:t>τ = 1 — the working point</a:t>
            </a:r>
            <a:endParaRPr lang="en-US" sz="1100" noProof="1"/>
          </a:p>
        </p:txBody>
      </p:sp>
      <p:sp>
        <p:nvSpPr>
          <p:cNvPr id="16" name="t2-body"/>
          <p:cNvSpPr txBox="1"/>
          <p:nvPr/>
        </p:nvSpPr>
        <p:spPr>
          <a:xfrm>
            <a:off x="7620000" y="32512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Graduated weights, e.g. (0.67, 0.24, 0.09): smooth locomotion, the bitmap of the support unchanged.</a:t>
            </a:r>
            <a:endParaRPr lang="en-US" sz="1050" noProof="1"/>
          </a:p>
        </p:txBody>
      </p:sp>
      <p:sp>
        <p:nvSpPr>
          <p:cNvPr id="17" name="rule-t2"/>
          <p:cNvSpPr/>
          <p:nvPr/>
        </p:nvSpPr>
        <p:spPr>
          <a:xfrm>
            <a:off x="7620000" y="39116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8" name="t3-head"/>
          <p:cNvSpPr txBox="1"/>
          <p:nvPr/>
        </p:nvSpPr>
        <p:spPr>
          <a:xfrm>
            <a:off x="7620000" y="40640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τ → ∞ — the uniform end</a:t>
            </a:r>
            <a:endParaRPr lang="en-US" sz="1100" noProof="1"/>
          </a:p>
        </p:txBody>
      </p:sp>
      <p:sp>
        <p:nvSpPr>
          <p:cNvPr id="19" name="t3-body"/>
          <p:cNvSpPr txBox="1"/>
          <p:nvPr/>
        </p:nvSpPr>
        <p:spPr>
          <a:xfrm>
            <a:off x="7620000" y="43434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All keys weighted equally: (⅓, ⅓, ⅓). No selection at all — the join of everything.</a:t>
            </a:r>
            <a:endParaRPr lang="en-US" sz="1050" noProof="1"/>
          </a:p>
        </p:txBody>
      </p:sp>
      <p:sp>
        <p:nvSpPr>
          <p:cNvPr id="20" name="r-note"/>
          <p:cNvSpPr txBox="1"/>
          <p:nvPr/>
        </p:nvSpPr>
        <p:spPr>
          <a:xfrm>
            <a:off x="7620000" y="5130800"/>
            <a:ext cx="37592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An untruncated attention layer is a traversal at θ = −∞. "Hard" selection is what the threshold makes explicit — and what makes the map exact.</a:t>
            </a:r>
            <a:endParaRPr lang="en-US" sz="1050" noProof="1"/>
          </a:p>
        </p:txBody>
      </p:sp>
      <p:sp>
        <p:nvSpPr>
          <p:cNvPr id="21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06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06 · THE DOOR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Materialization is the door — and it is faithful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A node is a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coordinate, not a transcript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its detail (lexical content, structure, statistics) is compressed into the bits and the LUT. To act inside a node, the model needs tokens again.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Materialization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restores an HLLSet context into a token context;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ingestion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is the same door walked the other way.</a:t>
            </a:r>
            <a:endParaRPr lang="en-US" sz="1250" noProof="1"/>
          </a:p>
        </p:txBody>
      </p:sp>
      <p:sp>
        <p:nvSpPr>
          <p:cNvPr id="6" name="door-box"/>
          <p:cNvSpPr/>
          <p:nvPr/>
        </p:nvSpPr>
        <p:spPr>
          <a:xfrm>
            <a:off x="812800" y="3200400"/>
            <a:ext cx="5969000" cy="8128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7" name="door-text"/>
          <p:cNvSpPr txBox="1"/>
          <p:nvPr/>
        </p:nvSpPr>
        <p:spPr>
          <a:xfrm>
            <a:off x="1066800" y="3200400"/>
            <a:ext cx="5461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1A1D20"/>
                </a:solidFill>
                <a:latin typeface="JetBrains Mono"/>
                <a:ea typeface="JetBrains Mono"/>
              </a:rPr>
              <a:t>tokens → ingest → HLLSet → materialize → tokens′</a:t>
            </a:r>
            <a:endParaRPr lang="en-US" sz="1250" noProof="1"/>
          </a:p>
        </p:txBody>
      </p:sp>
      <p:sp>
        <p:nvSpPr>
          <p:cNvPr id="8" name="left-body-2"/>
          <p:cNvSpPr txBox="1"/>
          <p:nvPr/>
        </p:nvSpPr>
        <p:spPr>
          <a:xfrm>
            <a:off x="812800" y="4241800"/>
            <a:ext cx="5969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Round-trip law.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Through the door and back, the sketch is recovered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exactly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materialization emits only tokens whose bits are set in the source, so the traveller may open the door as often as needed without degrading the map.</a:t>
            </a:r>
            <a:endParaRPr lang="en-US" sz="1250" noProof="1"/>
          </a:p>
        </p:txBody>
      </p:sp>
      <p:sp>
        <p:nvSpPr>
          <p:cNvPr id="9" name="strip-bar"/>
          <p:cNvSpPr/>
          <p:nvPr/>
        </p:nvSpPr>
        <p:spPr>
          <a:xfrm>
            <a:off x="812800" y="5384800"/>
            <a:ext cx="38100" cy="762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0" name="strip-text"/>
          <p:cNvSpPr txBox="1"/>
          <p:nvPr/>
        </p:nvSpPr>
        <p:spPr>
          <a:xfrm>
            <a:off x="1016000" y="5384800"/>
            <a:ext cx="5765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The context window becomes a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managed working set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— unpacked from the lattice on demand — instead of a buffer that grows with everything ever said.</a:t>
            </a:r>
            <a:endParaRPr lang="en-US" sz="1200" noProof="1"/>
          </a:p>
        </p:txBody>
      </p:sp>
      <p:sp>
        <p:nvSpPr>
          <p:cNvPr id="11" name="r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MANAGE BEFORE YOU CROSS</a:t>
            </a:r>
            <a:endParaRPr lang="en-US" sz="1000" noProof="1"/>
          </a:p>
        </p:txBody>
      </p:sp>
      <p:sp>
        <p:nvSpPr>
          <p:cNvPr id="12" name="s1-head"/>
          <p:cNvSpPr txBox="1"/>
          <p:nvPr/>
        </p:nvSpPr>
        <p:spPr>
          <a:xfrm>
            <a:off x="7620000" y="1879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shrink — focus</a:t>
            </a:r>
            <a:endParaRPr lang="en-US" sz="1100" noProof="1"/>
          </a:p>
        </p:txBody>
      </p:sp>
      <p:sp>
        <p:nvSpPr>
          <p:cNvPr id="13" name="s1-body"/>
          <p:cNvSpPr txBox="1"/>
          <p:nvPr/>
        </p:nvSpPr>
        <p:spPr>
          <a:xfrm>
            <a:off x="7620000" y="21590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Meet the context with the query (H_ctx ∩ Q), restrict to a sub-lattice, or take a minimal cover.</a:t>
            </a:r>
            <a:endParaRPr lang="en-US" sz="1050" noProof="1"/>
          </a:p>
        </p:txBody>
      </p:sp>
      <p:sp>
        <p:nvSpPr>
          <p:cNvPr id="14" name="rule-s1"/>
          <p:cNvSpPr/>
          <p:nvPr/>
        </p:nvSpPr>
        <p:spPr>
          <a:xfrm>
            <a:off x="7620000" y="28194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5" name="s2-head"/>
          <p:cNvSpPr txBox="1"/>
          <p:nvPr/>
        </p:nvSpPr>
        <p:spPr>
          <a:xfrm>
            <a:off x="7620000" y="29718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expand — gather</a:t>
            </a:r>
            <a:endParaRPr lang="en-US" sz="1100" noProof="1"/>
          </a:p>
        </p:txBody>
      </p:sp>
      <p:sp>
        <p:nvSpPr>
          <p:cNvPr id="16" name="s2-body"/>
          <p:cNvSpPr txBox="1"/>
          <p:nvPr/>
        </p:nvSpPr>
        <p:spPr>
          <a:xfrm>
            <a:off x="7620000" y="32512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Join neighbouring nodes, walk further into the commit DAG, lower the threshold, add views.</a:t>
            </a:r>
            <a:endParaRPr lang="en-US" sz="1050" noProof="1"/>
          </a:p>
        </p:txBody>
      </p:sp>
      <p:sp>
        <p:nvSpPr>
          <p:cNvPr id="17" name="rule-s2"/>
          <p:cNvSpPr/>
          <p:nvPr/>
        </p:nvSpPr>
        <p:spPr>
          <a:xfrm>
            <a:off x="7620000" y="39116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8" name="s3-head"/>
          <p:cNvSpPr txBox="1"/>
          <p:nvPr/>
        </p:nvSpPr>
        <p:spPr>
          <a:xfrm>
            <a:off x="7620000" y="40640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restore — cross</a:t>
            </a:r>
            <a:endParaRPr lang="en-US" sz="1100" noProof="1"/>
          </a:p>
        </p:txBody>
      </p:sp>
      <p:sp>
        <p:nvSpPr>
          <p:cNvPr id="19" name="s3-body"/>
          <p:cNvSpPr txBox="1"/>
          <p:nvPr/>
        </p:nvSpPr>
        <p:spPr>
          <a:xfrm>
            <a:off x="7620000" y="43434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Materialize the result to tokens, let the host LLM move inside, re-ingest the output to advance the map.</a:t>
            </a:r>
            <a:endParaRPr lang="en-US" sz="1050" noProof="1"/>
          </a:p>
        </p:txBody>
      </p:sp>
      <p:sp>
        <p:nvSpPr>
          <p:cNvPr id="20" name="r-note"/>
          <p:cNvSpPr txBox="1"/>
          <p:nvPr/>
        </p:nvSpPr>
        <p:spPr>
          <a:xfrm>
            <a:off x="7620000" y="5130800"/>
            <a:ext cx="37592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All three are lattice operations — done </a:t>
            </a: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before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materializing, so the token context is a design choice, not a by-product of sequence length.</a:t>
            </a:r>
            <a:endParaRPr lang="en-US" sz="1050" noProof="1"/>
          </a:p>
        </p:txBody>
      </p:sp>
      <p:sp>
        <p:nvSpPr>
          <p:cNvPr id="21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07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07 · THE TRAVEL LOOP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One loop: map → door → move → door → map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box1"/>
          <p:cNvSpPr/>
          <p:nvPr/>
        </p:nvSpPr>
        <p:spPr>
          <a:xfrm>
            <a:off x="812800" y="1778000"/>
            <a:ext cx="2540000" cy="1066800"/>
          </a:xfrm>
          <a:prstGeom prst="rect">
            <a:avLst/>
          </a:prstGeom>
          <a:solidFill>
            <a:srgbClr val="1E5B4E">
              <a:alpha val="7059"/>
            </a:srgbClr>
          </a:solidFill>
          <a:ln w="12700">
            <a:solidFill>
              <a:srgbClr val="1E5B4E"/>
            </a:solidFill>
          </a:ln>
        </p:spPr>
      </p:sp>
      <p:sp>
        <p:nvSpPr>
          <p:cNvPr id="6" name="box1-t"/>
          <p:cNvSpPr txBox="1"/>
          <p:nvPr/>
        </p:nvSpPr>
        <p:spPr>
          <a:xfrm>
            <a:off x="965200" y="1879600"/>
            <a:ext cx="223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1E5B4E"/>
                </a:solidFill>
                <a:latin typeface="JetBrains Mono"/>
                <a:ea typeface="JetBrains Mono"/>
              </a:rPr>
              <a:t>EWM lattice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the map — exact, persistent waypoints</a:t>
            </a:r>
            <a:endParaRPr lang="en-US" sz="1600" noProof="1"/>
          </a:p>
        </p:txBody>
      </p:sp>
      <p:sp>
        <p:nvSpPr>
          <p:cNvPr id="7" name="arr1"/>
          <p:cNvSpPr txBox="1"/>
          <p:nvPr/>
        </p:nvSpPr>
        <p:spPr>
          <a:xfrm>
            <a:off x="3403600" y="21336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747B"/>
                </a:solidFill>
                <a:latin typeface="JetBrains Mono"/>
                <a:ea typeface="JetBrains Mono"/>
              </a:rPr>
              <a:t>→</a:t>
            </a:r>
            <a:endParaRPr lang="en-US" sz="1400" noProof="1"/>
          </a:p>
        </p:txBody>
      </p:sp>
      <p:sp>
        <p:nvSpPr>
          <p:cNvPr id="8" name="box2"/>
          <p:cNvSpPr/>
          <p:nvPr/>
        </p:nvSpPr>
        <p:spPr>
          <a:xfrm>
            <a:off x="3886200" y="1778000"/>
            <a:ext cx="2032000" cy="10668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9" name="box2-t"/>
          <p:cNvSpPr txBox="1"/>
          <p:nvPr/>
        </p:nvSpPr>
        <p:spPr>
          <a:xfrm>
            <a:off x="4038600" y="1879600"/>
            <a:ext cx="1727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1A1D20"/>
                </a:solidFill>
                <a:latin typeface="JetBrains Mono"/>
                <a:ea typeface="JetBrains Mono"/>
              </a:rPr>
              <a:t>materialize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the door — unpack detail to tokens</a:t>
            </a:r>
            <a:endParaRPr lang="en-US" sz="1600" noProof="1"/>
          </a:p>
        </p:txBody>
      </p:sp>
      <p:sp>
        <p:nvSpPr>
          <p:cNvPr id="10" name="arr2"/>
          <p:cNvSpPr txBox="1"/>
          <p:nvPr/>
        </p:nvSpPr>
        <p:spPr>
          <a:xfrm>
            <a:off x="5969000" y="21336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747B"/>
                </a:solidFill>
                <a:latin typeface="JetBrains Mono"/>
                <a:ea typeface="JetBrains Mono"/>
              </a:rPr>
              <a:t>→</a:t>
            </a:r>
            <a:endParaRPr lang="en-US" sz="1400" noProof="1"/>
          </a:p>
        </p:txBody>
      </p:sp>
      <p:sp>
        <p:nvSpPr>
          <p:cNvPr id="11" name="box3"/>
          <p:cNvSpPr/>
          <p:nvPr/>
        </p:nvSpPr>
        <p:spPr>
          <a:xfrm>
            <a:off x="6451600" y="1778000"/>
            <a:ext cx="2540000" cy="1066800"/>
          </a:xfrm>
          <a:prstGeom prst="rect">
            <a:avLst/>
          </a:prstGeom>
          <a:solidFill>
            <a:srgbClr val="C2521E">
              <a:alpha val="7059"/>
            </a:srgbClr>
          </a:solidFill>
          <a:ln w="12700">
            <a:solidFill>
              <a:srgbClr val="C2521E"/>
            </a:solidFill>
          </a:ln>
        </p:spPr>
      </p:sp>
      <p:sp>
        <p:nvSpPr>
          <p:cNvPr id="12" name="box3-t"/>
          <p:cNvSpPr txBox="1"/>
          <p:nvPr/>
        </p:nvSpPr>
        <p:spPr>
          <a:xfrm>
            <a:off x="6604000" y="1879600"/>
            <a:ext cx="223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C2521E"/>
                </a:solidFill>
                <a:latin typeface="JetBrains Mono"/>
                <a:ea typeface="JetBrains Mono"/>
              </a:rPr>
              <a:t>LLM attention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the locomotion — graduated motion in detail</a:t>
            </a:r>
            <a:endParaRPr lang="en-US" sz="1600" noProof="1"/>
          </a:p>
        </p:txBody>
      </p:sp>
      <p:sp>
        <p:nvSpPr>
          <p:cNvPr id="13" name="arr3"/>
          <p:cNvSpPr txBox="1"/>
          <p:nvPr/>
        </p:nvSpPr>
        <p:spPr>
          <a:xfrm>
            <a:off x="9042400" y="21336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747B"/>
                </a:solidFill>
                <a:latin typeface="JetBrains Mono"/>
                <a:ea typeface="JetBrains Mono"/>
              </a:rPr>
              <a:t>→</a:t>
            </a:r>
            <a:endParaRPr lang="en-US" sz="1400" noProof="1"/>
          </a:p>
        </p:txBody>
      </p:sp>
      <p:sp>
        <p:nvSpPr>
          <p:cNvPr id="14" name="box4"/>
          <p:cNvSpPr/>
          <p:nvPr/>
        </p:nvSpPr>
        <p:spPr>
          <a:xfrm>
            <a:off x="9525000" y="1778000"/>
            <a:ext cx="1854200" cy="10668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15" name="box4-t"/>
          <p:cNvSpPr txBox="1"/>
          <p:nvPr/>
        </p:nvSpPr>
        <p:spPr>
          <a:xfrm>
            <a:off x="9677400" y="1879600"/>
            <a:ext cx="15494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1A1D20"/>
                </a:solidFill>
                <a:latin typeface="JetBrains Mono"/>
                <a:ea typeface="JetBrains Mono"/>
              </a:rPr>
              <a:t>ingest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the door back — re-compress</a:t>
            </a:r>
            <a:endParaRPr lang="en-US" sz="1600" noProof="1"/>
          </a:p>
        </p:txBody>
      </p:sp>
      <p:sp>
        <p:nvSpPr>
          <p:cNvPr id="16" name="loop-back"/>
          <p:cNvSpPr txBox="1"/>
          <p:nvPr/>
        </p:nvSpPr>
        <p:spPr>
          <a:xfrm>
            <a:off x="812800" y="29972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6E747B"/>
                </a:solidFill>
                <a:latin typeface="JetBrains Mono"/>
                <a:ea typeface="JetBrains Mono"/>
              </a:rPr>
              <a:t>← a new node is committed; the commit advances the map ←</a:t>
            </a:r>
            <a:endParaRPr lang="en-US" sz="1050" noProof="1"/>
          </a:p>
        </p:txBody>
      </p:sp>
      <p:sp>
        <p:nvSpPr>
          <p:cNvPr id="17" name="left-body"/>
          <p:cNvSpPr txBox="1"/>
          <p:nvPr/>
        </p:nvSpPr>
        <p:spPr>
          <a:xfrm>
            <a:off x="812800" y="36830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lattice chooses the waypoint; the door unpacks it; attention makes the move inside the unpacked detail; ingestion re-compresses the result; the commit advances the map.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support–union lemma is the exact seam between the two halves: what crosses the door is always a lattice node on one side and a token context on the other.</a:t>
            </a:r>
            <a:endParaRPr lang="en-US" sz="1250" noProof="1"/>
          </a:p>
        </p:txBody>
      </p:sp>
      <p:sp>
        <p:nvSpPr>
          <p:cNvPr id="18" name="r-head"/>
          <p:cNvSpPr txBox="1"/>
          <p:nvPr/>
        </p:nvSpPr>
        <p:spPr>
          <a:xfrm>
            <a:off x="7620000" y="36830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WHY THE LOOP IS SAFE</a:t>
            </a:r>
            <a:endParaRPr lang="en-US" sz="1000" noProof="1"/>
          </a:p>
        </p:txBody>
      </p:sp>
      <p:sp>
        <p:nvSpPr>
          <p:cNvPr id="19" name="r1"/>
          <p:cNvSpPr txBox="1"/>
          <p:nvPr/>
        </p:nvSpPr>
        <p:spPr>
          <a:xfrm>
            <a:off x="7620000" y="3987800"/>
            <a:ext cx="3759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Round-trip law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crossing the door and back recovers the sketch exactly.</a:t>
            </a:r>
            <a:endParaRPr lang="en-US" sz="1050" noProof="1"/>
          </a:p>
        </p:txBody>
      </p:sp>
      <p:sp>
        <p:nvSpPr>
          <p:cNvPr id="20" name="rule-r1"/>
          <p:cNvSpPr/>
          <p:nvPr/>
        </p:nvSpPr>
        <p:spPr>
          <a:xfrm>
            <a:off x="7620000" y="45212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1" name="r2"/>
          <p:cNvSpPr txBox="1"/>
          <p:nvPr/>
        </p:nvSpPr>
        <p:spPr>
          <a:xfrm>
            <a:off x="7620000" y="4648200"/>
            <a:ext cx="3759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Idempotent joins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re-running a turn yields the same node; recovery is a pop, not a rebuild.</a:t>
            </a:r>
            <a:endParaRPr lang="en-US" sz="1050" noProof="1"/>
          </a:p>
        </p:txBody>
      </p:sp>
      <p:sp>
        <p:nvSpPr>
          <p:cNvPr id="22" name="rule-r2"/>
          <p:cNvSpPr/>
          <p:nvPr/>
        </p:nvSpPr>
        <p:spPr>
          <a:xfrm>
            <a:off x="7620000" y="51816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3" name="r3"/>
          <p:cNvSpPr txBox="1"/>
          <p:nvPr/>
        </p:nvSpPr>
        <p:spPr>
          <a:xfrm>
            <a:off x="7620000" y="5308600"/>
            <a:ext cx="3759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Content addressing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every node on the way is named by its digest and auditable.</a:t>
            </a:r>
            <a:endParaRPr lang="en-US" sz="1050" noProof="1"/>
          </a:p>
        </p:txBody>
      </p:sp>
      <p:sp>
        <p:nvSpPr>
          <p:cNvPr id="24" name="strip-bar"/>
          <p:cNvSpPr/>
          <p:nvPr/>
        </p:nvSpPr>
        <p:spPr>
          <a:xfrm>
            <a:off x="812800" y="5588000"/>
            <a:ext cx="38100" cy="5588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25" name="strip-text"/>
          <p:cNvSpPr txBox="1"/>
          <p:nvPr/>
        </p:nvSpPr>
        <p:spPr>
          <a:xfrm>
            <a:off x="1016000" y="5588000"/>
            <a:ext cx="596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The map prunes the key set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before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the motion begins — attention runs where it matters.</a:t>
            </a:r>
            <a:endParaRPr lang="en-US" sz="1200" noProof="1"/>
          </a:p>
        </p:txBody>
      </p:sp>
      <p:sp>
        <p:nvSpPr>
          <p:cNvPr id="26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27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08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08 · DIVISION OF LABOUR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The win-win: the map has no motor, the motor has no map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h-map"/>
          <p:cNvSpPr txBox="1"/>
          <p:nvPr/>
        </p:nvSpPr>
        <p:spPr>
          <a:xfrm>
            <a:off x="2794000" y="15494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00" kern="0">
                <a:solidFill>
                  <a:srgbClr val="1E5B4E"/>
                </a:solidFill>
                <a:latin typeface="JetBrains Mono"/>
                <a:ea typeface="JetBrains Mono"/>
              </a:rPr>
              <a:t>THE MAP — LATTICE</a:t>
            </a:r>
            <a:endParaRPr lang="en-US" sz="1100" noProof="1"/>
          </a:p>
        </p:txBody>
      </p:sp>
      <p:sp>
        <p:nvSpPr>
          <p:cNvPr id="6" name="h-motor"/>
          <p:cNvSpPr txBox="1"/>
          <p:nvPr/>
        </p:nvSpPr>
        <p:spPr>
          <a:xfrm>
            <a:off x="7315200" y="15494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00" kern="0">
                <a:solidFill>
                  <a:srgbClr val="C2521E"/>
                </a:solidFill>
                <a:latin typeface="JetBrains Mono"/>
                <a:ea typeface="JetBrains Mono"/>
              </a:rPr>
              <a:t>THE LOCOMOTION — ATTENTION</a:t>
            </a:r>
            <a:endParaRPr lang="en-US" sz="1100" noProof="1"/>
          </a:p>
        </p:txBody>
      </p:sp>
      <p:sp>
        <p:nvSpPr>
          <p:cNvPr id="7" name="r1-l"/>
          <p:cNvSpPr txBox="1"/>
          <p:nvPr/>
        </p:nvSpPr>
        <p:spPr>
          <a:xfrm>
            <a:off x="812800" y="19304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gives</a:t>
            </a:r>
            <a:endParaRPr lang="en-US" sz="1000" noProof="1"/>
          </a:p>
        </p:txBody>
      </p:sp>
      <p:sp>
        <p:nvSpPr>
          <p:cNvPr id="8" name="r1-a"/>
          <p:cNvSpPr txBox="1"/>
          <p:nvPr/>
        </p:nvSpPr>
        <p:spPr>
          <a:xfrm>
            <a:off x="2794000" y="1930400"/>
            <a:ext cx="406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exact waypoints; durable, auditable memory; controlled shrink/expand; collision groups</a:t>
            </a:r>
            <a:endParaRPr lang="en-US" sz="1050" noProof="1"/>
          </a:p>
        </p:txBody>
      </p:sp>
      <p:sp>
        <p:nvSpPr>
          <p:cNvPr id="9" name="r1-b"/>
          <p:cNvSpPr txBox="1"/>
          <p:nvPr/>
        </p:nvSpPr>
        <p:spPr>
          <a:xfrm>
            <a:off x="7315200" y="1930400"/>
            <a:ext cx="406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differentiable travel; detail resolution; generation of the next step</a:t>
            </a:r>
            <a:endParaRPr lang="en-US" sz="1050" noProof="1"/>
          </a:p>
        </p:txBody>
      </p:sp>
      <p:sp>
        <p:nvSpPr>
          <p:cNvPr id="10" name="rule-r1"/>
          <p:cNvSpPr/>
          <p:nvPr/>
        </p:nvSpPr>
        <p:spPr>
          <a:xfrm>
            <a:off x="812800" y="26924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1" name="r2-l"/>
          <p:cNvSpPr txBox="1"/>
          <p:nvPr/>
        </p:nvSpPr>
        <p:spPr>
          <a:xfrm>
            <a:off x="812800" y="28448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needs</a:t>
            </a:r>
            <a:endParaRPr lang="en-US" sz="1000" noProof="1"/>
          </a:p>
        </p:txBody>
      </p:sp>
      <p:sp>
        <p:nvSpPr>
          <p:cNvPr id="12" name="r2-a"/>
          <p:cNvSpPr txBox="1"/>
          <p:nvPr/>
        </p:nvSpPr>
        <p:spPr>
          <a:xfrm>
            <a:off x="2794000" y="28448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a motor — it can plan exactly but cannot generate</a:t>
            </a:r>
            <a:endParaRPr lang="en-US" sz="1050" noProof="1"/>
          </a:p>
        </p:txBody>
      </p:sp>
      <p:sp>
        <p:nvSpPr>
          <p:cNvPr id="13" name="r2-b"/>
          <p:cNvSpPr txBox="1"/>
          <p:nvPr/>
        </p:nvSpPr>
        <p:spPr>
          <a:xfrm>
            <a:off x="7315200" y="28448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a map — it generates fluently but has no exact, persistent location</a:t>
            </a:r>
            <a:endParaRPr lang="en-US" sz="1050" noProof="1"/>
          </a:p>
        </p:txBody>
      </p:sp>
      <p:sp>
        <p:nvSpPr>
          <p:cNvPr id="14" name="rule-r2"/>
          <p:cNvSpPr/>
          <p:nvPr/>
        </p:nvSpPr>
        <p:spPr>
          <a:xfrm>
            <a:off x="812800" y="33782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5" name="r3-l"/>
          <p:cNvSpPr txBox="1"/>
          <p:nvPr/>
        </p:nvSpPr>
        <p:spPr>
          <a:xfrm>
            <a:off x="812800" y="35306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horizon</a:t>
            </a:r>
            <a:endParaRPr lang="en-US" sz="1000" noProof="1"/>
          </a:p>
        </p:txBody>
      </p:sp>
      <p:sp>
        <p:nvSpPr>
          <p:cNvPr id="16" name="r3-a"/>
          <p:cNvSpPr txBox="1"/>
          <p:nvPr/>
        </p:nvSpPr>
        <p:spPr>
          <a:xfrm>
            <a:off x="2794000" y="35306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long, discrete, content-addressed</a:t>
            </a:r>
            <a:endParaRPr lang="en-US" sz="1050" noProof="1"/>
          </a:p>
        </p:txBody>
      </p:sp>
      <p:sp>
        <p:nvSpPr>
          <p:cNvPr id="17" name="r3-b"/>
          <p:cNvSpPr txBox="1"/>
          <p:nvPr/>
        </p:nvSpPr>
        <p:spPr>
          <a:xfrm>
            <a:off x="7315200" y="35306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local, continuous, contextual</a:t>
            </a:r>
            <a:endParaRPr lang="en-US" sz="1050" noProof="1"/>
          </a:p>
        </p:txBody>
      </p:sp>
      <p:sp>
        <p:nvSpPr>
          <p:cNvPr id="18" name="rule-r3"/>
          <p:cNvSpPr/>
          <p:nvPr/>
        </p:nvSpPr>
        <p:spPr>
          <a:xfrm>
            <a:off x="812800" y="40640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9" name="r4-l"/>
          <p:cNvSpPr txBox="1"/>
          <p:nvPr/>
        </p:nvSpPr>
        <p:spPr>
          <a:xfrm>
            <a:off x="812800" y="42164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state</a:t>
            </a:r>
            <a:endParaRPr lang="en-US" sz="1000" noProof="1"/>
          </a:p>
        </p:txBody>
      </p:sp>
      <p:sp>
        <p:nvSpPr>
          <p:cNvPr id="20" name="r4-a"/>
          <p:cNvSpPr txBox="1"/>
          <p:nvPr/>
        </p:nvSpPr>
        <p:spPr>
          <a:xfrm>
            <a:off x="2794000" y="42164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bitmap S ⊆ plane — monotone, exact</a:t>
            </a:r>
            <a:endParaRPr lang="en-US" sz="1050" noProof="1"/>
          </a:p>
        </p:txBody>
      </p:sp>
      <p:sp>
        <p:nvSpPr>
          <p:cNvPr id="21" name="r4-b"/>
          <p:cNvSpPr txBox="1"/>
          <p:nvPr/>
        </p:nvSpPr>
        <p:spPr>
          <a:xfrm>
            <a:off x="7315200" y="42164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convex coordinates x ∈ ℝ^d — reversible, smooth</a:t>
            </a:r>
            <a:endParaRPr lang="en-US" sz="1050" noProof="1"/>
          </a:p>
        </p:txBody>
      </p:sp>
      <p:sp>
        <p:nvSpPr>
          <p:cNvPr id="22" name="rule-r4"/>
          <p:cNvSpPr/>
          <p:nvPr/>
        </p:nvSpPr>
        <p:spPr>
          <a:xfrm>
            <a:off x="812800" y="47498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3" name="r5-l"/>
          <p:cNvSpPr txBox="1"/>
          <p:nvPr/>
        </p:nvSpPr>
        <p:spPr>
          <a:xfrm>
            <a:off x="812800" y="49022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failure mode</a:t>
            </a:r>
            <a:endParaRPr lang="en-US" sz="1000" noProof="1"/>
          </a:p>
        </p:txBody>
      </p:sp>
      <p:sp>
        <p:nvSpPr>
          <p:cNvPr id="24" name="r5-a"/>
          <p:cNvSpPr txBox="1"/>
          <p:nvPr/>
        </p:nvSpPr>
        <p:spPr>
          <a:xfrm>
            <a:off x="2794000" y="49022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collision ambiguity at scale</a:t>
            </a:r>
            <a:endParaRPr lang="en-US" sz="1050" noProof="1"/>
          </a:p>
        </p:txBody>
      </p:sp>
      <p:sp>
        <p:nvSpPr>
          <p:cNvPr id="25" name="r5-b"/>
          <p:cNvSpPr txBox="1"/>
          <p:nvPr/>
        </p:nvSpPr>
        <p:spPr>
          <a:xfrm>
            <a:off x="7315200" y="49022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context blow-up; drift; no durable state</a:t>
            </a:r>
            <a:endParaRPr lang="en-US" sz="1050" noProof="1"/>
          </a:p>
        </p:txBody>
      </p:sp>
      <p:sp>
        <p:nvSpPr>
          <p:cNvPr id="26" name="strip-bar"/>
          <p:cNvSpPr/>
          <p:nvPr/>
        </p:nvSpPr>
        <p:spPr>
          <a:xfrm>
            <a:off x="812800" y="5588000"/>
            <a:ext cx="38100" cy="6096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27" name="strip-text"/>
          <p:cNvSpPr txBox="1"/>
          <p:nvPr/>
        </p:nvSpPr>
        <p:spPr>
          <a:xfrm>
            <a:off x="1016000" y="55880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Each layer is precisely what the other lacks. The integration is not a replacement of either paradigm —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it is the closure of both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.</a:t>
            </a:r>
            <a:endParaRPr lang="en-US" sz="1250" noProof="1"/>
          </a:p>
        </p:txBody>
      </p:sp>
      <p:sp>
        <p:nvSpPr>
          <p:cNvPr id="28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29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09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09 · THE DICTIONARY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Every transformer device has a lattice counterpart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col-head-l"/>
          <p:cNvSpPr txBox="1"/>
          <p:nvPr/>
        </p:nvSpPr>
        <p:spPr>
          <a:xfrm>
            <a:off x="812800" y="152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00" kern="0">
                <a:solidFill>
                  <a:srgbClr val="C2521E"/>
                </a:solidFill>
                <a:latin typeface="JetBrains Mono"/>
                <a:ea typeface="JetBrains Mono"/>
              </a:rPr>
              <a:t>TRANSFORMER</a:t>
            </a:r>
            <a:endParaRPr lang="en-US" sz="1000" noProof="1"/>
          </a:p>
        </p:txBody>
      </p:sp>
      <p:sp>
        <p:nvSpPr>
          <p:cNvPr id="6" name="col-head-r"/>
          <p:cNvSpPr txBox="1"/>
          <p:nvPr/>
        </p:nvSpPr>
        <p:spPr>
          <a:xfrm>
            <a:off x="5334000" y="152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00" kern="0">
                <a:solidFill>
                  <a:srgbClr val="1E5B4E"/>
                </a:solidFill>
                <a:latin typeface="JetBrains Mono"/>
                <a:ea typeface="JetBrains Mono"/>
              </a:rPr>
              <a:t>EWM LATTICE</a:t>
            </a:r>
            <a:endParaRPr lang="en-US" sz="1000" noProof="1"/>
          </a:p>
        </p:txBody>
      </p:sp>
      <p:sp>
        <p:nvSpPr>
          <p:cNvPr id="7" name="dict"/>
          <p:cNvSpPr txBox="1"/>
          <p:nvPr/>
        </p:nvSpPr>
        <p:spPr>
          <a:xfrm>
            <a:off x="812800" y="1828800"/>
            <a:ext cx="10566400" cy="3689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query Q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        - ingested query HLLSet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key Kᵢ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          - stored node — content address h:&lt;sha1&gt;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value Vᵢ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        - materialised tokens M(Kᵢ ∩ Q)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score q·k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      - overlap form ⟨x,y⟩ under a learned metric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softmax weights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- free-energy minimiser — smoothed threshold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supp(output)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   - traversal join  ∪ { Vᵢ : score ≥ θ }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multi-head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     - a family of worlds — one lattice, many readings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output projection W_O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- the bridge between worlds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depth / early exit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- read only what is new; stop when nothing new remains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causal mask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    - the monotone ring basis of the committed prefix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position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       - trajectory frame; rotating coordinates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KV cache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       - the commit DAG; the running tip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residual stream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- union accumulation; D/R/N per step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Q/K/V projections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- bootstrap views — Ashby's variety law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RAG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            - set-key traversal — the map lookup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flash-attention tiling</a:t>
            </a:r>
            <a:r>
              <a:rPr lang="en-US" sz="1000" noProof="1">
                <a:solidFill>
                  <a:srgbClr val="1A1D20"/>
                </a:solidFill>
                <a:latin typeface="JetBrains Mono"/>
                <a:ea typeface="JetBrains Mono"/>
              </a:rPr>
              <a:t>       - a traversal order over the key set</a:t>
            </a:r>
            <a:endParaRPr lang="en-US" sz="1000" noProof="1"/>
          </a:p>
        </p:txBody>
      </p:sp>
      <p:sp>
        <p:nvSpPr>
          <p:cNvPr id="8" name="strip-bar"/>
          <p:cNvSpPr/>
          <p:nvPr/>
        </p:nvSpPr>
        <p:spPr>
          <a:xfrm>
            <a:off x="812800" y="5740400"/>
            <a:ext cx="38100" cy="508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9" name="strip-text"/>
          <p:cNvSpPr txBox="1"/>
          <p:nvPr/>
        </p:nvSpPr>
        <p:spPr>
          <a:xfrm>
            <a:off x="1016000" y="57404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An identification of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roles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— explanatory and constructive, not an equivalence of trained weights.</a:t>
            </a:r>
            <a:endParaRPr lang="en-US" sz="1200" noProof="1"/>
          </a:p>
        </p:txBody>
      </p:sp>
      <p:sp>
        <p:nvSpPr>
          <p:cNvPr id="10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11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10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10 · THE EXACT ENGINE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Three modes — three points on the temperature axis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mA-head"/>
          <p:cNvSpPr txBox="1"/>
          <p:nvPr/>
        </p:nvSpPr>
        <p:spPr>
          <a:xfrm>
            <a:off x="812800" y="1549400"/>
            <a:ext cx="3276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MODE A — address-key</a:t>
            </a:r>
            <a:endParaRPr lang="en-US" sz="1100" noProof="1"/>
          </a:p>
        </p:txBody>
      </p:sp>
      <p:sp>
        <p:nvSpPr>
          <p:cNvPr id="6" name="mA-body"/>
          <p:cNvSpPr txBox="1"/>
          <p:nvPr/>
        </p:nvSpPr>
        <p:spPr>
          <a:xfrm>
            <a:off x="812800" y="1854200"/>
            <a:ext cx="3276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A token's key is its bit address, embedded by a learned table. Tokens in the same cell share a key; values disambiguate. The lattice supplies the partition; learning supplies the metric. Reformer-style hashing is the frozen limit.</a:t>
            </a:r>
            <a:endParaRPr lang="en-US" sz="1050" noProof="1"/>
          </a:p>
        </p:txBody>
      </p:sp>
      <p:sp>
        <p:nvSpPr>
          <p:cNvPr id="7" name="mA-tag"/>
          <p:cNvSpPr txBox="1"/>
          <p:nvPr/>
        </p:nvSpPr>
        <p:spPr>
          <a:xfrm>
            <a:off x="812800" y="3175000"/>
            <a:ext cx="3276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the relaxed end — warm</a:t>
            </a:r>
            <a:endParaRPr lang="en-US" sz="1000" noProof="1"/>
          </a:p>
        </p:txBody>
      </p:sp>
      <p:sp>
        <p:nvSpPr>
          <p:cNvPr id="8" name="mB-head"/>
          <p:cNvSpPr txBox="1"/>
          <p:nvPr/>
        </p:nvSpPr>
        <p:spPr>
          <a:xfrm>
            <a:off x="4216400" y="1549400"/>
            <a:ext cx="3276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MODE B — set-key</a:t>
            </a:r>
            <a:endParaRPr lang="en-US" sz="1100" noProof="1"/>
          </a:p>
        </p:txBody>
      </p:sp>
      <p:sp>
        <p:nvSpPr>
          <p:cNvPr id="9" name="mB-body"/>
          <p:cNvSpPr txBox="1"/>
          <p:nvPr/>
        </p:nvSpPr>
        <p:spPr>
          <a:xfrm>
            <a:off x="4216400" y="1854200"/>
            <a:ext cx="3276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Query and keys are HLLSets; the score is containment or Jaccard; the value is the materialised overlap. No dot product over learned vectors — a lattice morphism and a LUT lookup. This is the map lookup; RAG is its special case.</a:t>
            </a:r>
            <a:endParaRPr lang="en-US" sz="1050" noProof="1"/>
          </a:p>
        </p:txBody>
      </p:sp>
      <p:sp>
        <p:nvSpPr>
          <p:cNvPr id="10" name="mB-tag"/>
          <p:cNvSpPr txBox="1"/>
          <p:nvPr/>
        </p:nvSpPr>
        <p:spPr>
          <a:xfrm>
            <a:off x="4216400" y="3175000"/>
            <a:ext cx="3276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the exact end — zero temperature</a:t>
            </a:r>
            <a:endParaRPr lang="en-US" sz="1000" noProof="1"/>
          </a:p>
        </p:txBody>
      </p:sp>
      <p:sp>
        <p:nvSpPr>
          <p:cNvPr id="11" name="mC-head"/>
          <p:cNvSpPr txBox="1"/>
          <p:nvPr/>
        </p:nvSpPr>
        <p:spPr>
          <a:xfrm>
            <a:off x="7620000" y="1549400"/>
            <a:ext cx="3276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A1D20"/>
                </a:solidFill>
                <a:latin typeface="JetBrains Mono"/>
                <a:ea typeface="JetBrains Mono"/>
              </a:rPr>
              <a:t>MODE C — hybrid</a:t>
            </a:r>
            <a:endParaRPr lang="en-US" sz="1100" noProof="1"/>
          </a:p>
        </p:txBody>
      </p:sp>
      <p:sp>
        <p:nvSpPr>
          <p:cNvPr id="12" name="mC-body"/>
          <p:cNvSpPr txBox="1"/>
          <p:nvPr/>
        </p:nvSpPr>
        <p:spPr>
          <a:xfrm>
            <a:off x="7620000" y="1854200"/>
            <a:ext cx="3276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learned dot product plus a lattice similarity term with a scheduled weight λ. The dot product remains the workhorse; the lattice term steers it toward the selected waypoint — and its contribution is measurable by ablation.</a:t>
            </a:r>
            <a:endParaRPr lang="en-US" sz="1050" noProof="1"/>
          </a:p>
        </p:txBody>
      </p:sp>
      <p:sp>
        <p:nvSpPr>
          <p:cNvPr id="13" name="mC-tag"/>
          <p:cNvSpPr txBox="1"/>
          <p:nvPr/>
        </p:nvSpPr>
        <p:spPr>
          <a:xfrm>
            <a:off x="7620000" y="3175000"/>
            <a:ext cx="3276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steered relaxation — between</a:t>
            </a:r>
            <a:endParaRPr lang="en-US" sz="1000" noProof="1"/>
          </a:p>
        </p:txBody>
      </p:sp>
      <p:sp>
        <p:nvSpPr>
          <p:cNvPr id="14" name="mid-rule"/>
          <p:cNvSpPr/>
          <p:nvPr/>
        </p:nvSpPr>
        <p:spPr>
          <a:xfrm>
            <a:off x="812800" y="36322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5" name="cov-label"/>
          <p:cNvSpPr txBox="1"/>
          <p:nvPr/>
        </p:nvSpPr>
        <p:spPr>
          <a:xfrm>
            <a:off x="812800" y="3911600"/>
            <a:ext cx="596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THE PRICE LIST OF EXACTNESS</a:t>
            </a:r>
            <a:endParaRPr lang="en-US" sz="1000" noProof="1"/>
          </a:p>
        </p:txBody>
      </p:sp>
      <p:sp>
        <p:nvSpPr>
          <p:cNvPr id="16" name="cov-body"/>
          <p:cNvSpPr txBox="1"/>
          <p:nvPr/>
        </p:nvSpPr>
        <p:spPr>
          <a:xfrm>
            <a:off x="812800" y="42164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Exactness is checked by a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coverage invariant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: the LUT must resolve every active bit. Collisions are the only inexactness — pairwise probability 1/3072 — repaired by a second seed at ~10⁻⁷ and a third at ~10⁻¹¹.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The dense end pays in quadratic compute instead;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the temperature axis is also a cost axis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.</a:t>
            </a:r>
            <a:endParaRPr lang="en-US" sz="1200" noProof="1"/>
          </a:p>
        </p:txBody>
      </p:sp>
      <p:sp>
        <p:nvSpPr>
          <p:cNvPr id="17" name="sig-label"/>
          <p:cNvSpPr txBox="1"/>
          <p:nvPr/>
        </p:nvSpPr>
        <p:spPr>
          <a:xfrm>
            <a:off x="7620000" y="39116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TRAVERSAL SIGNALS — MEASURED</a:t>
            </a:r>
            <a:endParaRPr lang="en-US" sz="1000" noProof="1"/>
          </a:p>
        </p:txBody>
      </p:sp>
      <p:sp>
        <p:nvSpPr>
          <p:cNvPr id="18" name="sig-body"/>
          <p:cNvSpPr txBox="1"/>
          <p:nvPr/>
        </p:nvSpPr>
        <p:spPr>
          <a:xfrm>
            <a:off x="7620000" y="4216400"/>
            <a:ext cx="3759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On a synthetic 10×10 scene clip: all 9 scene cuts detected by the residual; bit novelty separates cuts from drift by 3.75×; 534 coordinate re-pivots over 100 commits.</a:t>
            </a:r>
            <a:endParaRPr lang="en-US" sz="10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Novelty, surprise, representability, re-basing — the natural triggers for opening the door.</a:t>
            </a:r>
            <a:endParaRPr lang="en-US" sz="1050" noProof="1"/>
          </a:p>
        </p:txBody>
      </p:sp>
      <p:sp>
        <p:nvSpPr>
          <p:cNvPr id="19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11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11 · THE EMERGING LLM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The unanswered question: who should move?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state machine gave a model a state; the seam joined map and motion. What was never learned is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who should move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: when materialized tokens must become real tokens again, </a:t>
            </a:r>
            <a:r>
              <a:rPr lang="en-US" sz="1250" noProof="1" i="1">
                <a:solidFill>
                  <a:srgbClr val="1A1D20"/>
                </a:solidFill>
                <a:latin typeface="Inter"/>
                <a:ea typeface="Inter"/>
              </a:rPr>
              <a:t>which host LLM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with which encoding — should restore them?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Emerging LLM (eLLM) answers with a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dispatcher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that learns a routing policy from the lattice itself: given the lattice state and the materialized tokens, choose the guide — the host — whose encoding restores the tokens best.</a:t>
            </a:r>
            <a:endParaRPr lang="en-US" sz="1250" noProof="1"/>
          </a:p>
        </p:txBody>
      </p:sp>
      <p:sp>
        <p:nvSpPr>
          <p:cNvPr id="6" name="strip-bar"/>
          <p:cNvSpPr/>
          <p:nvPr/>
        </p:nvSpPr>
        <p:spPr>
          <a:xfrm>
            <a:off x="812800" y="3695700"/>
            <a:ext cx="38100" cy="9652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7" name="strip-text"/>
          <p:cNvSpPr txBox="1"/>
          <p:nvPr/>
        </p:nvSpPr>
        <p:spPr>
          <a:xfrm>
            <a:off x="1016000" y="3695700"/>
            <a:ext cx="57658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Host-agnostic by construction.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We do not train tokenizers, and we do not replace the hosts. Host encodings are the </a:t>
            </a:r>
            <a:r>
              <a:rPr lang="en-US" sz="1200" noProof="1" i="1">
                <a:solidFill>
                  <a:srgbClr val="1A1D20"/>
                </a:solidFill>
                <a:latin typeface="Inter"/>
                <a:ea typeface="Inter"/>
              </a:rPr>
              <a:t>languages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the dispatcher speaks — a new host means learning a new language, not changing the lattice.</a:t>
            </a:r>
            <a:endParaRPr lang="en-US" sz="1200" noProof="1"/>
          </a:p>
        </p:txBody>
      </p:sp>
      <p:sp>
        <p:nvSpPr>
          <p:cNvPr id="8" name="left-body-2"/>
          <p:cNvSpPr txBox="1"/>
          <p:nvPr/>
        </p:nvSpPr>
        <p:spPr>
          <a:xfrm>
            <a:off x="812800" y="4826000"/>
            <a:ext cx="5969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dispatcher keeps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no registry of available LLMs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. Each host owns its own trajectory state H(t) = (S(t), H(t−1), D, R, N); the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top HLLSet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the collection of all hosts' states — is the implicit choice set, recomputed whenever any host's state changes.</a:t>
            </a:r>
            <a:endParaRPr lang="en-US" sz="1250" noProof="1"/>
          </a:p>
        </p:txBody>
      </p:sp>
      <p:sp>
        <p:nvSpPr>
          <p:cNvPr id="9" name="r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POSITIONING</a:t>
            </a:r>
            <a:endParaRPr lang="en-US" sz="1000" noProof="1"/>
          </a:p>
        </p:txBody>
      </p:sp>
      <p:sp>
        <p:nvSpPr>
          <p:cNvPr id="10" name="p1-head"/>
          <p:cNvSpPr txBox="1"/>
          <p:nvPr/>
        </p:nvSpPr>
        <p:spPr>
          <a:xfrm>
            <a:off x="7620000" y="1879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win-win with every host LLM</a:t>
            </a:r>
            <a:endParaRPr lang="en-US" sz="1100" noProof="1"/>
          </a:p>
        </p:txBody>
      </p:sp>
      <p:sp>
        <p:nvSpPr>
          <p:cNvPr id="11" name="p1-body"/>
          <p:cNvSpPr txBox="1"/>
          <p:nvPr/>
        </p:nvSpPr>
        <p:spPr>
          <a:xfrm>
            <a:off x="7620000" y="21590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Hosts supply encodings and restore real tokens; the dispatcher learns their languages and sends them work.</a:t>
            </a:r>
            <a:endParaRPr lang="en-US" sz="1050" noProof="1"/>
          </a:p>
        </p:txBody>
      </p:sp>
      <p:sp>
        <p:nvSpPr>
          <p:cNvPr id="12" name="rule-p1"/>
          <p:cNvSpPr/>
          <p:nvPr/>
        </p:nvSpPr>
        <p:spPr>
          <a:xfrm>
            <a:off x="7620000" y="28194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3" name="p2-head"/>
          <p:cNvSpPr txBox="1"/>
          <p:nvPr/>
        </p:nvSpPr>
        <p:spPr>
          <a:xfrm>
            <a:off x="7620000" y="29718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coexistence, not replacement</a:t>
            </a:r>
            <a:endParaRPr lang="en-US" sz="1100" noProof="1"/>
          </a:p>
        </p:txBody>
      </p:sp>
      <p:sp>
        <p:nvSpPr>
          <p:cNvPr id="14" name="p2-body"/>
          <p:cNvSpPr txBox="1"/>
          <p:nvPr/>
        </p:nvSpPr>
        <p:spPr>
          <a:xfrm>
            <a:off x="7620000" y="32512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Existing routers (Jev, Laya, structural) run behind the same seam — as baselines, validation labels, or fallbacks.</a:t>
            </a:r>
            <a:endParaRPr lang="en-US" sz="1050" noProof="1"/>
          </a:p>
        </p:txBody>
      </p:sp>
      <p:sp>
        <p:nvSpPr>
          <p:cNvPr id="15" name="rule-p2"/>
          <p:cNvSpPr/>
          <p:nvPr/>
        </p:nvSpPr>
        <p:spPr>
          <a:xfrm>
            <a:off x="7620000" y="39116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6" name="p3-head"/>
          <p:cNvSpPr txBox="1"/>
          <p:nvPr/>
        </p:nvSpPr>
        <p:spPr>
          <a:xfrm>
            <a:off x="7620000" y="40640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context, not tokens</a:t>
            </a:r>
            <a:endParaRPr lang="en-US" sz="1100" noProof="1"/>
          </a:p>
        </p:txBody>
      </p:sp>
      <p:sp>
        <p:nvSpPr>
          <p:cNvPr id="17" name="p3-body"/>
          <p:cNvSpPr txBox="1"/>
          <p:nvPr/>
        </p:nvSpPr>
        <p:spPr>
          <a:xfrm>
            <a:off x="7620000" y="4343400"/>
            <a:ext cx="3759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lattice is about context: two hosts whose contexts coincide on the lattice produce semantically similar output — so hosts must be contextually different, and learning happens where contexts cross borders.</a:t>
            </a:r>
            <a:endParaRPr lang="en-US" sz="1050" noProof="1"/>
          </a:p>
        </p:txBody>
      </p:sp>
      <p:sp>
        <p:nvSpPr>
          <p:cNvPr id="18" name="r-note"/>
          <p:cNvSpPr txBox="1"/>
          <p:nvPr/>
        </p:nvSpPr>
        <p:spPr>
          <a:xfrm>
            <a:off x="7620000" y="5334000"/>
            <a:ext cx="3759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UI is a </a:t>
            </a: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proxy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in front of a host's prompt: it intercepts the host's encodings and redirects them to the dispatcher and the state machine.</a:t>
            </a:r>
            <a:endParaRPr lang="en-US" sz="1050" noProof="1"/>
          </a:p>
        </p:txBody>
      </p:sp>
      <p:sp>
        <p:nvSpPr>
          <p:cNvPr id="19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12</a:t>
            </a:r>
            <a:endParaRPr lang="en-US" sz="9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12 · ARCHITECTURE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Two processes, one store, one channel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srv-box"/>
          <p:cNvSpPr/>
          <p:nvPr/>
        </p:nvSpPr>
        <p:spPr>
          <a:xfrm>
            <a:off x="812800" y="1600200"/>
            <a:ext cx="5080000" cy="1371600"/>
          </a:xfrm>
          <a:prstGeom prst="rect">
            <a:avLst/>
          </a:prstGeom>
          <a:solidFill>
            <a:srgbClr val="1E5B4E">
              <a:alpha val="7059"/>
            </a:srgbClr>
          </a:solidFill>
          <a:ln w="12700">
            <a:solidFill>
              <a:srgbClr val="1E5B4E"/>
            </a:solidFill>
          </a:ln>
        </p:spPr>
      </p:sp>
      <p:sp>
        <p:nvSpPr>
          <p:cNvPr id="6" name="srv-head"/>
          <p:cNvSpPr txBox="1"/>
          <p:nvPr/>
        </p:nvSpPr>
        <p:spPr>
          <a:xfrm>
            <a:off x="1016000" y="17272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SERVER — the dispatcher</a:t>
            </a:r>
            <a:endParaRPr lang="en-US" sz="1100" noProof="1"/>
          </a:p>
        </p:txBody>
      </p:sp>
      <p:sp>
        <p:nvSpPr>
          <p:cNvPr id="7" name="srv-body"/>
          <p:cNvSpPr txBox="1"/>
          <p:nvPr/>
        </p:nvSpPr>
        <p:spPr>
          <a:xfrm>
            <a:off x="1016000" y="2006600"/>
            <a:ext cx="46736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Serves requests; reads the committed policy; refreshes it between requests. Never schedules, never blocks, never waits on the learner.</a:t>
            </a:r>
            <a:endParaRPr lang="en-US" sz="1050" noProof="1"/>
          </a:p>
        </p:txBody>
      </p:sp>
      <p:sp>
        <p:nvSpPr>
          <p:cNvPr id="8" name="trn-box"/>
          <p:cNvSpPr/>
          <p:nvPr/>
        </p:nvSpPr>
        <p:spPr>
          <a:xfrm>
            <a:off x="6299200" y="1600200"/>
            <a:ext cx="5080000" cy="1371600"/>
          </a:xfrm>
          <a:prstGeom prst="rect">
            <a:avLst/>
          </a:prstGeom>
          <a:solidFill>
            <a:srgbClr val="C2521E">
              <a:alpha val="7059"/>
            </a:srgbClr>
          </a:solidFill>
          <a:ln w="12700">
            <a:solidFill>
              <a:srgbClr val="C2521E"/>
            </a:solidFill>
          </a:ln>
        </p:spPr>
      </p:sp>
      <p:sp>
        <p:nvSpPr>
          <p:cNvPr id="9" name="trn-head"/>
          <p:cNvSpPr txBox="1"/>
          <p:nvPr/>
        </p:nvSpPr>
        <p:spPr>
          <a:xfrm>
            <a:off x="6502400" y="17272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TRAINER — the policy learner</a:t>
            </a:r>
            <a:endParaRPr lang="en-US" sz="1100" noProof="1"/>
          </a:p>
        </p:txBody>
      </p:sp>
      <p:sp>
        <p:nvSpPr>
          <p:cNvPr id="10" name="trn-body"/>
          <p:cNvSpPr txBox="1"/>
          <p:nvPr/>
        </p:nvSpPr>
        <p:spPr>
          <a:xfrm>
            <a:off x="6502400" y="2006600"/>
            <a:ext cx="46736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Owns the scheduler; samples the routing logs; learns continuously; publishes only on commit — postponed to slow time.</a:t>
            </a:r>
            <a:endParaRPr lang="en-US" sz="1050" noProof="1"/>
          </a:p>
        </p:txBody>
      </p:sp>
      <p:sp>
        <p:nvSpPr>
          <p:cNvPr id="11" name="arr-l"/>
          <p:cNvSpPr txBox="1"/>
          <p:nvPr/>
        </p:nvSpPr>
        <p:spPr>
          <a:xfrm>
            <a:off x="2692400" y="3048000"/>
            <a:ext cx="1320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6E747B"/>
                </a:solidFill>
                <a:latin typeface="JetBrains Mono"/>
                <a:ea typeface="JetBrains Mono"/>
              </a:rPr>
              <a:t>↓ read tip</a:t>
            </a:r>
            <a:endParaRPr lang="en-US" sz="1050" noProof="1"/>
          </a:p>
        </p:txBody>
      </p:sp>
      <p:sp>
        <p:nvSpPr>
          <p:cNvPr id="12" name="arr-r"/>
          <p:cNvSpPr txBox="1"/>
          <p:nvPr/>
        </p:nvSpPr>
        <p:spPr>
          <a:xfrm>
            <a:off x="8178800" y="3048000"/>
            <a:ext cx="1320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6E747B"/>
                </a:solidFill>
                <a:latin typeface="JetBrains Mono"/>
                <a:ea typeface="JetBrains Mono"/>
              </a:rPr>
              <a:t>↓ commit</a:t>
            </a:r>
            <a:endParaRPr lang="en-US" sz="1050" noProof="1"/>
          </a:p>
        </p:txBody>
      </p:sp>
      <p:sp>
        <p:nvSpPr>
          <p:cNvPr id="13" name="store-box"/>
          <p:cNvSpPr/>
          <p:nvPr/>
        </p:nvSpPr>
        <p:spPr>
          <a:xfrm>
            <a:off x="812800" y="3378200"/>
            <a:ext cx="10566400" cy="12192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14" name="store-head"/>
          <p:cNvSpPr txBox="1"/>
          <p:nvPr/>
        </p:nvSpPr>
        <p:spPr>
          <a:xfrm>
            <a:off x="1016000" y="35052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THE STORE — THE STATE MACHINE'S MEMORY PATTERN</a:t>
            </a:r>
            <a:endParaRPr lang="en-US" sz="1000" noProof="1"/>
          </a:p>
        </p:txBody>
      </p:sp>
      <p:sp>
        <p:nvSpPr>
          <p:cNvPr id="15" name="store-body"/>
          <p:cNvSpPr txBox="1"/>
          <p:nvPr/>
        </p:nvSpPr>
        <p:spPr>
          <a:xfrm>
            <a:off x="990600" y="3708400"/>
            <a:ext cx="99568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 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· </a:t>
            </a: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WIP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in-memory, per-process (the live window) 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· </a:t>
            </a: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cache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shared across processes 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· </a:t>
            </a: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persisted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the content-addressed commit DAG; the tip is the head. Serving uses the persisted layer; WIP publishes only on commit.</a:t>
            </a:r>
            <a:endParaRPr lang="en-US" sz="1050" noProof="1"/>
          </a:p>
        </p:txBody>
      </p:sp>
      <p:sp>
        <p:nvSpPr>
          <p:cNvPr id="16" name="inv-label"/>
          <p:cNvSpPr txBox="1"/>
          <p:nvPr/>
        </p:nvSpPr>
        <p:spPr>
          <a:xfrm>
            <a:off x="812800" y="49276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THE INVARIANT</a:t>
            </a:r>
            <a:endParaRPr lang="en-US" sz="1000" noProof="1"/>
          </a:p>
        </p:txBody>
      </p:sp>
      <p:sp>
        <p:nvSpPr>
          <p:cNvPr id="17" name="strip-bar"/>
          <p:cNvSpPr/>
          <p:nvPr/>
        </p:nvSpPr>
        <p:spPr>
          <a:xfrm>
            <a:off x="812800" y="5232400"/>
            <a:ext cx="38100" cy="9144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8" name="strip-text"/>
          <p:cNvSpPr txBox="1"/>
          <p:nvPr/>
        </p:nvSpPr>
        <p:spPr>
          <a:xfrm>
            <a:off x="1016000" y="52324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The only channel between trainer and server is a commit.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Because every artifact is idempotent, immutable and content-addressed, the hand-off needs no lock, no handshake and no scheduler — a torn or partial state is not representable. One trainer by default; N trainers add no work to the dispatch path.</a:t>
            </a:r>
            <a:endParaRPr lang="en-US" sz="1250" noProof="1"/>
          </a:p>
        </p:txBody>
      </p:sp>
      <p:sp>
        <p:nvSpPr>
          <p:cNvPr id="19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13</a:t>
            </a:r>
            <a:endParaRPr lang="en-US" sz="9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13 · THE LEARNING LOOP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A window: six steps, transactional by design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s1-num"/>
          <p:cNvSpPr txBox="1"/>
          <p:nvPr/>
        </p:nvSpPr>
        <p:spPr>
          <a:xfrm>
            <a:off x="812800" y="15748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2521E"/>
                </a:solidFill>
                <a:latin typeface="JetBrains Mono"/>
                <a:ea typeface="JetBrains Mono"/>
              </a:rPr>
              <a:t>1</a:t>
            </a:r>
            <a:endParaRPr lang="en-US" sz="1200" noProof="1"/>
          </a:p>
        </p:txBody>
      </p:sp>
      <p:sp>
        <p:nvSpPr>
          <p:cNvPr id="6" name="s1-head"/>
          <p:cNvSpPr txBox="1"/>
          <p:nvPr/>
        </p:nvSpPr>
        <p:spPr>
          <a:xfrm>
            <a:off x="1219200" y="15748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1A1D20"/>
                </a:solidFill>
                <a:latin typeface="JetBrains Mono"/>
                <a:ea typeface="JetBrains Mono"/>
              </a:rPr>
              <a:t>schedule</a:t>
            </a:r>
            <a:endParaRPr lang="en-US" sz="1150" noProof="1"/>
          </a:p>
        </p:txBody>
      </p:sp>
      <p:sp>
        <p:nvSpPr>
          <p:cNvPr id="7" name="s1-body"/>
          <p:cNvSpPr txBox="1"/>
          <p:nvPr/>
        </p:nvSpPr>
        <p:spPr>
          <a:xfrm>
            <a:off x="3149600" y="15748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Idle / sleep / manual — the scheduler decides when a learning window opens; the server is never involved.</a:t>
            </a:r>
            <a:endParaRPr lang="en-US" sz="1050" noProof="1"/>
          </a:p>
        </p:txBody>
      </p:sp>
      <p:sp>
        <p:nvSpPr>
          <p:cNvPr id="8" name="rule-s1"/>
          <p:cNvSpPr/>
          <p:nvPr/>
        </p:nvSpPr>
        <p:spPr>
          <a:xfrm>
            <a:off x="812800" y="20320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9" name="s2-num"/>
          <p:cNvSpPr txBox="1"/>
          <p:nvPr/>
        </p:nvSpPr>
        <p:spPr>
          <a:xfrm>
            <a:off x="812800" y="21844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2521E"/>
                </a:solidFill>
                <a:latin typeface="JetBrains Mono"/>
                <a:ea typeface="JetBrains Mono"/>
              </a:rPr>
              <a:t>2</a:t>
            </a:r>
            <a:endParaRPr lang="en-US" sz="1200" noProof="1"/>
          </a:p>
        </p:txBody>
      </p:sp>
      <p:sp>
        <p:nvSpPr>
          <p:cNvPr id="10" name="s2-head"/>
          <p:cNvSpPr txBox="1"/>
          <p:nvPr/>
        </p:nvSpPr>
        <p:spPr>
          <a:xfrm>
            <a:off x="1219200" y="21844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1A1D20"/>
                </a:solidFill>
                <a:latin typeface="JetBrains Mono"/>
                <a:ea typeface="JetBrains Mono"/>
              </a:rPr>
              <a:t>sample</a:t>
            </a:r>
            <a:endParaRPr lang="en-US" sz="1150" noProof="1"/>
          </a:p>
        </p:txBody>
      </p:sp>
      <p:sp>
        <p:nvSpPr>
          <p:cNvPr id="11" name="s2-body"/>
          <p:cNvSpPr txBox="1"/>
          <p:nvPr/>
        </p:nvSpPr>
        <p:spPr>
          <a:xfrm>
            <a:off x="3149600" y="21844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Draw routing samples from the lattice and the logs: (state, options, decision, confidence).</a:t>
            </a:r>
            <a:endParaRPr lang="en-US" sz="1050" noProof="1"/>
          </a:p>
        </p:txBody>
      </p:sp>
      <p:sp>
        <p:nvSpPr>
          <p:cNvPr id="12" name="rule-s2"/>
          <p:cNvSpPr/>
          <p:nvPr/>
        </p:nvSpPr>
        <p:spPr>
          <a:xfrm>
            <a:off x="812800" y="2641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3" name="s3-num"/>
          <p:cNvSpPr txBox="1"/>
          <p:nvPr/>
        </p:nvSpPr>
        <p:spPr>
          <a:xfrm>
            <a:off x="812800" y="27940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2521E"/>
                </a:solidFill>
                <a:latin typeface="JetBrains Mono"/>
                <a:ea typeface="JetBrains Mono"/>
              </a:rPr>
              <a:t>3</a:t>
            </a:r>
            <a:endParaRPr lang="en-US" sz="1200" noProof="1"/>
          </a:p>
        </p:txBody>
      </p:sp>
      <p:sp>
        <p:nvSpPr>
          <p:cNvPr id="14" name="s3-head"/>
          <p:cNvSpPr txBox="1"/>
          <p:nvPr/>
        </p:nvSpPr>
        <p:spPr>
          <a:xfrm>
            <a:off x="1219200" y="27940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1A1D20"/>
                </a:solidFill>
                <a:latin typeface="JetBrains Mono"/>
                <a:ea typeface="JetBrains Mono"/>
              </a:rPr>
              <a:t>state</a:t>
            </a:r>
            <a:endParaRPr lang="en-US" sz="1150" noProof="1"/>
          </a:p>
        </p:txBody>
      </p:sp>
      <p:sp>
        <p:nvSpPr>
          <p:cNvPr id="15" name="s3-body"/>
          <p:cNvSpPr txBox="1"/>
          <p:nvPr/>
        </p:nvSpPr>
        <p:spPr>
          <a:xfrm>
            <a:off x="3149600" y="27940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Through the door: materialized tokens plus each host's codebook gate.</a:t>
            </a:r>
            <a:endParaRPr lang="en-US" sz="1050" noProof="1"/>
          </a:p>
        </p:txBody>
      </p:sp>
      <p:sp>
        <p:nvSpPr>
          <p:cNvPr id="16" name="rule-s3"/>
          <p:cNvSpPr/>
          <p:nvPr/>
        </p:nvSpPr>
        <p:spPr>
          <a:xfrm>
            <a:off x="812800" y="32512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7" name="s4-num"/>
          <p:cNvSpPr txBox="1"/>
          <p:nvPr/>
        </p:nvSpPr>
        <p:spPr>
          <a:xfrm>
            <a:off x="812800" y="34036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2521E"/>
                </a:solidFill>
                <a:latin typeface="JetBrains Mono"/>
                <a:ea typeface="JetBrains Mono"/>
              </a:rPr>
              <a:t>4</a:t>
            </a:r>
            <a:endParaRPr lang="en-US" sz="1200" noProof="1"/>
          </a:p>
        </p:txBody>
      </p:sp>
      <p:sp>
        <p:nvSpPr>
          <p:cNvPr id="18" name="s4-head"/>
          <p:cNvSpPr txBox="1"/>
          <p:nvPr/>
        </p:nvSpPr>
        <p:spPr>
          <a:xfrm>
            <a:off x="1219200" y="3403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1A1D20"/>
                </a:solidFill>
                <a:latin typeface="JetBrains Mono"/>
                <a:ea typeface="JetBrains Mono"/>
              </a:rPr>
              <a:t>learn</a:t>
            </a:r>
            <a:endParaRPr lang="en-US" sz="1150" noProof="1"/>
          </a:p>
        </p:txBody>
      </p:sp>
      <p:sp>
        <p:nvSpPr>
          <p:cNvPr id="19" name="s4-body"/>
          <p:cNvSpPr txBox="1"/>
          <p:nvPr/>
        </p:nvSpPr>
        <p:spPr>
          <a:xfrm>
            <a:off x="3149600" y="34036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One policy step per batch — a distilled typed head, or a gradient-free rearrangement of dispatch ranks.</a:t>
            </a:r>
            <a:endParaRPr lang="en-US" sz="1050" noProof="1"/>
          </a:p>
        </p:txBody>
      </p:sp>
      <p:sp>
        <p:nvSpPr>
          <p:cNvPr id="20" name="rule-s4"/>
          <p:cNvSpPr/>
          <p:nvPr/>
        </p:nvSpPr>
        <p:spPr>
          <a:xfrm>
            <a:off x="812800" y="38608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1" name="s5-num"/>
          <p:cNvSpPr txBox="1"/>
          <p:nvPr/>
        </p:nvSpPr>
        <p:spPr>
          <a:xfrm>
            <a:off x="812800" y="40132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2521E"/>
                </a:solidFill>
                <a:latin typeface="JetBrains Mono"/>
                <a:ea typeface="JetBrains Mono"/>
              </a:rPr>
              <a:t>5</a:t>
            </a:r>
            <a:endParaRPr lang="en-US" sz="1200" noProof="1"/>
          </a:p>
        </p:txBody>
      </p:sp>
      <p:sp>
        <p:nvSpPr>
          <p:cNvPr id="22" name="s5-head"/>
          <p:cNvSpPr txBox="1"/>
          <p:nvPr/>
        </p:nvSpPr>
        <p:spPr>
          <a:xfrm>
            <a:off x="1219200" y="40132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1A1D20"/>
                </a:solidFill>
                <a:latin typeface="JetBrains Mono"/>
                <a:ea typeface="JetBrains Mono"/>
              </a:rPr>
              <a:t>guard</a:t>
            </a:r>
            <a:endParaRPr lang="en-US" sz="1150" noProof="1"/>
          </a:p>
        </p:txBody>
      </p:sp>
      <p:sp>
        <p:nvSpPr>
          <p:cNvPr id="23" name="s5-body"/>
          <p:cNvSpPr txBox="1"/>
          <p:nvPr/>
        </p:nvSpPr>
        <p:spPr>
          <a:xfrm>
            <a:off x="3149600" y="40132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Non-empty · no regression on held-out probes · codebook coverage · minimum gain — any veto rolls the window back.</a:t>
            </a:r>
            <a:endParaRPr lang="en-US" sz="1050" noProof="1"/>
          </a:p>
        </p:txBody>
      </p:sp>
      <p:sp>
        <p:nvSpPr>
          <p:cNvPr id="24" name="rule-s5"/>
          <p:cNvSpPr/>
          <p:nvPr/>
        </p:nvSpPr>
        <p:spPr>
          <a:xfrm>
            <a:off x="812800" y="44704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5" name="s6-num"/>
          <p:cNvSpPr txBox="1"/>
          <p:nvPr/>
        </p:nvSpPr>
        <p:spPr>
          <a:xfrm>
            <a:off x="812800" y="46228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2521E"/>
                </a:solidFill>
                <a:latin typeface="JetBrains Mono"/>
                <a:ea typeface="JetBrains Mono"/>
              </a:rPr>
              <a:t>6</a:t>
            </a:r>
            <a:endParaRPr lang="en-US" sz="1200" noProof="1"/>
          </a:p>
        </p:txBody>
      </p:sp>
      <p:sp>
        <p:nvSpPr>
          <p:cNvPr id="26" name="s6-head"/>
          <p:cNvSpPr txBox="1"/>
          <p:nvPr/>
        </p:nvSpPr>
        <p:spPr>
          <a:xfrm>
            <a:off x="1219200" y="46228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1A1D20"/>
                </a:solidFill>
                <a:latin typeface="JetBrains Mono"/>
                <a:ea typeface="JetBrains Mono"/>
              </a:rPr>
              <a:t>commit</a:t>
            </a:r>
            <a:endParaRPr lang="en-US" sz="1150" noProof="1"/>
          </a:p>
        </p:txBody>
      </p:sp>
      <p:sp>
        <p:nvSpPr>
          <p:cNvPr id="27" name="s6-body"/>
          <p:cNvSpPr txBox="1"/>
          <p:nvPr/>
        </p:nvSpPr>
        <p:spPr>
          <a:xfrm>
            <a:off x="3149600" y="46228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Accepted windows accumulate; the commit is postponed to slow time, publishing many windows in one atomic tip move.</a:t>
            </a:r>
            <a:endParaRPr lang="en-US" sz="1050" noProof="1"/>
          </a:p>
        </p:txBody>
      </p:sp>
      <p:sp>
        <p:nvSpPr>
          <p:cNvPr id="28" name="rule-s6"/>
          <p:cNvSpPr/>
          <p:nvPr/>
        </p:nvSpPr>
        <p:spPr>
          <a:xfrm>
            <a:off x="812800" y="50800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9" name="strip-bar"/>
          <p:cNvSpPr/>
          <p:nvPr/>
        </p:nvSpPr>
        <p:spPr>
          <a:xfrm>
            <a:off x="812800" y="5384800"/>
            <a:ext cx="38100" cy="8128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30" name="strip-text"/>
          <p:cNvSpPr txBox="1"/>
          <p:nvPr/>
        </p:nvSpPr>
        <p:spPr>
          <a:xfrm>
            <a:off x="1016000" y="5384800"/>
            <a:ext cx="10363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Every window is transactional: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a vetoed window changes nothing, and an accepted one becomes one content-addressed checkpoint on the chain. Policy learning </a:t>
            </a:r>
            <a:r>
              <a:rPr lang="en-US" sz="1250" noProof="1" i="1">
                <a:solidFill>
                  <a:srgbClr val="1A1D20"/>
                </a:solidFill>
                <a:latin typeface="Inter"/>
                <a:ea typeface="Inter"/>
              </a:rPr>
              <a:t>is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a commit DAG — recovery is reading the tip, rollback is a pointer move.</a:t>
            </a:r>
            <a:endParaRPr lang="en-US" sz="1250" noProof="1"/>
          </a:p>
        </p:txBody>
      </p:sp>
      <p:sp>
        <p:nvSpPr>
          <p:cNvPr id="31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32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14</a:t>
            </a:r>
            <a:endParaRPr lang="en-US" sz="9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14 · THE CURRICULUM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The teacher is the lattice's own reading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A routing sample is not a (query, document) pair but a tuple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(state, options, decision, confidence)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. The decision is the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native ring-basis label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: the host whose codebook gate covers the materialized context best, read off the evolving basis.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No external LLM teacher. The label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emerges with the lattice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, is independent of any host's own labels, and is traceable through basis generations. External router logs are validation labels, never the teacher of truth.</a:t>
            </a:r>
            <a:endParaRPr lang="en-US" sz="1250" noProof="1"/>
          </a:p>
        </p:txBody>
      </p:sp>
      <p:sp>
        <p:nvSpPr>
          <p:cNvPr id="6" name="eq-box"/>
          <p:cNvSpPr/>
          <p:nvPr/>
        </p:nvSpPr>
        <p:spPr>
          <a:xfrm>
            <a:off x="812800" y="3759200"/>
            <a:ext cx="5969000" cy="14478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7" name="eq-text"/>
          <p:cNvSpPr txBox="1"/>
          <p:nvPr/>
        </p:nvSpPr>
        <p:spPr>
          <a:xfrm>
            <a:off x="1066800" y="3937000"/>
            <a:ext cx="5461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coverage c  — how much of the host's gate covers the tokens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novelty  N  = |tokens \ gate|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retained R  = |tokens ∩ gate|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surprise r  = |residual| vs the ring span</a:t>
            </a:r>
            <a:endParaRPr lang="en-US" sz="1100" noProof="1"/>
          </a:p>
        </p:txBody>
      </p:sp>
      <p:sp>
        <p:nvSpPr>
          <p:cNvPr id="8" name="strip-bar"/>
          <p:cNvSpPr/>
          <p:nvPr/>
        </p:nvSpPr>
        <p:spPr>
          <a:xfrm>
            <a:off x="812800" y="5384800"/>
            <a:ext cx="38100" cy="762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9" name="strip-text"/>
          <p:cNvSpPr txBox="1"/>
          <p:nvPr/>
        </p:nvSpPr>
        <p:spPr>
          <a:xfrm>
            <a:off x="1016000" y="5384800"/>
            <a:ext cx="5765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Every quantity the curriculum needs was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already computed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by the state machine — the Emerging LLM consumes the trajectory readings as a curriculum instead of as diagnostics.</a:t>
            </a:r>
            <a:endParaRPr lang="en-US" sz="1200" noProof="1"/>
          </a:p>
        </p:txBody>
      </p:sp>
      <p:sp>
        <p:nvSpPr>
          <p:cNvPr id="10" name="r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SAMPLING STRATEGIES</a:t>
            </a:r>
            <a:endParaRPr lang="en-US" sz="1000" noProof="1"/>
          </a:p>
        </p:txBody>
      </p:sp>
      <p:sp>
        <p:nvSpPr>
          <p:cNvPr id="11" name="g1-head"/>
          <p:cNvSpPr txBox="1"/>
          <p:nvPr/>
        </p:nvSpPr>
        <p:spPr>
          <a:xfrm>
            <a:off x="7620000" y="1879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RecentFirst — log order</a:t>
            </a:r>
            <a:endParaRPr lang="en-US" sz="1100" noProof="1"/>
          </a:p>
        </p:txBody>
      </p:sp>
      <p:sp>
        <p:nvSpPr>
          <p:cNvPr id="12" name="g1-body"/>
          <p:cNvSpPr txBox="1"/>
          <p:nvPr/>
        </p:nvSpPr>
        <p:spPr>
          <a:xfrm>
            <a:off x="7620000" y="2159000"/>
            <a:ext cx="3759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train on the latest routing steps</a:t>
            </a:r>
            <a:endParaRPr lang="en-US" sz="1050" noProof="1"/>
          </a:p>
        </p:txBody>
      </p:sp>
      <p:sp>
        <p:nvSpPr>
          <p:cNvPr id="13" name="rule-g1"/>
          <p:cNvSpPr/>
          <p:nvPr/>
        </p:nvSpPr>
        <p:spPr>
          <a:xfrm>
            <a:off x="7620000" y="26162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4" name="g2-head"/>
          <p:cNvSpPr txBox="1"/>
          <p:nvPr/>
        </p:nvSpPr>
        <p:spPr>
          <a:xfrm>
            <a:off x="7620000" y="2768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NoveltyWeighted — N + 1</a:t>
            </a:r>
            <a:endParaRPr lang="en-US" sz="1100" noProof="1"/>
          </a:p>
        </p:txBody>
      </p:sp>
      <p:sp>
        <p:nvSpPr>
          <p:cNvPr id="15" name="g2-body"/>
          <p:cNvSpPr txBox="1"/>
          <p:nvPr/>
        </p:nvSpPr>
        <p:spPr>
          <a:xfrm>
            <a:off x="7620000" y="3048000"/>
            <a:ext cx="3759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prefer dispatches with uncovered tokens</a:t>
            </a:r>
            <a:endParaRPr lang="en-US" sz="1050" noProof="1"/>
          </a:p>
        </p:txBody>
      </p:sp>
      <p:sp>
        <p:nvSpPr>
          <p:cNvPr id="16" name="rule-g2"/>
          <p:cNvSpPr/>
          <p:nvPr/>
        </p:nvSpPr>
        <p:spPr>
          <a:xfrm>
            <a:off x="7620000" y="35052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7" name="g3-head"/>
          <p:cNvSpPr txBox="1"/>
          <p:nvPr/>
        </p:nvSpPr>
        <p:spPr>
          <a:xfrm>
            <a:off x="7620000" y="3657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ConfidenceWeighted — 1 − conf</a:t>
            </a:r>
            <a:endParaRPr lang="en-US" sz="1100" noProof="1"/>
          </a:p>
        </p:txBody>
      </p:sp>
      <p:sp>
        <p:nvSpPr>
          <p:cNvPr id="18" name="g3-body"/>
          <p:cNvSpPr txBox="1"/>
          <p:nvPr/>
        </p:nvSpPr>
        <p:spPr>
          <a:xfrm>
            <a:off x="7620000" y="3937000"/>
            <a:ext cx="3759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prefer steps where the label is unsure</a:t>
            </a:r>
            <a:endParaRPr lang="en-US" sz="1050" noProof="1"/>
          </a:p>
        </p:txBody>
      </p:sp>
      <p:sp>
        <p:nvSpPr>
          <p:cNvPr id="19" name="rule-g3"/>
          <p:cNvSpPr/>
          <p:nvPr/>
        </p:nvSpPr>
        <p:spPr>
          <a:xfrm>
            <a:off x="7620000" y="43942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0" name="g4-head"/>
          <p:cNvSpPr txBox="1"/>
          <p:nvPr/>
        </p:nvSpPr>
        <p:spPr>
          <a:xfrm>
            <a:off x="7620000" y="4546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BalancedDnr — (N+1)/(R+1)</a:t>
            </a:r>
            <a:endParaRPr lang="en-US" sz="1100" noProof="1"/>
          </a:p>
        </p:txBody>
      </p:sp>
      <p:sp>
        <p:nvSpPr>
          <p:cNvPr id="21" name="g4-body"/>
          <p:cNvSpPr txBox="1"/>
          <p:nvPr/>
        </p:nvSpPr>
        <p:spPr>
          <a:xfrm>
            <a:off x="7620000" y="4826000"/>
            <a:ext cx="3759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new material still anchored in the gate</a:t>
            </a:r>
            <a:endParaRPr lang="en-US" sz="1050" noProof="1"/>
          </a:p>
        </p:txBody>
      </p:sp>
      <p:sp>
        <p:nvSpPr>
          <p:cNvPr id="22" name="r-note"/>
          <p:cNvSpPr txBox="1"/>
          <p:nvPr/>
        </p:nvSpPr>
        <p:spPr>
          <a:xfrm>
            <a:off x="7620000" y="5461000"/>
            <a:ext cx="3759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Bootstrap views (Ashby): the same routing stream measured at several n-gram orders — views are multiplied, not the dispatcher.</a:t>
            </a:r>
            <a:endParaRPr lang="en-US" sz="1050" noProof="1"/>
          </a:p>
        </p:txBody>
      </p:sp>
      <p:sp>
        <p:nvSpPr>
          <p:cNvPr id="23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24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15</a:t>
            </a:r>
            <a:endParaRPr lang="en-US" sz="9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15 · RUNNING END TO END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The demo: three guides, one travel coordinator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213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On a single RTX 3060, the notebook hires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three local guides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DeepSeek-R1-Distill-Qwen-1.5B, Qwen2.5-1.5B-Instruct, gpt2 — each speaking its own token language. A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travel coordinator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(the dispatcher) learns which guide to send along for each leg, and the whole trip takes about a minute.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First every guide walks every route; then the map's own readings (the ring-basis teacher) name the best guide per leg; a small apprentice head distils that judgment, takes over the dispatch desk, and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keeps learning while trips run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.</a:t>
            </a:r>
            <a:endParaRPr lang="en-US" sz="1250" noProof="1"/>
          </a:p>
        </p:txBody>
      </p:sp>
      <p:sp>
        <p:nvSpPr>
          <p:cNvPr id="6" name="pipe-box"/>
          <p:cNvSpPr/>
          <p:nvPr/>
        </p:nvSpPr>
        <p:spPr>
          <a:xfrm>
            <a:off x="812800" y="3784600"/>
            <a:ext cx="5969000" cy="13716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7" name="pipe-text"/>
          <p:cNvSpPr txBox="1"/>
          <p:nvPr/>
        </p:nvSpPr>
        <p:spPr>
          <a:xfrm>
            <a:off x="1016000" y="3886200"/>
            <a:ext cx="55626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every guide walks every route  (open loop)</a:t>
            </a:r>
            <a:endParaRPr lang="en-US" sz="1050" noProof="1"/>
          </a:p>
          <a:p>
            <a:pPr>
              <a:lnSpc>
                <a:spcPct val="160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→ the map names the best guide  (teacher loop)</a:t>
            </a:r>
            <a:endParaRPr lang="en-US" sz="1050" noProof="1"/>
          </a:p>
          <a:p>
            <a:pPr>
              <a:lnSpc>
                <a:spcPct val="160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→ distil an apprentice → serve  (dispatch desk)</a:t>
            </a:r>
            <a:endParaRPr lang="en-US" sz="1050" noProof="1"/>
          </a:p>
          <a:p>
            <a:pPr>
              <a:lnSpc>
                <a:spcPct val="160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→ keep learning on the road  (online loop)</a:t>
            </a:r>
            <a:endParaRPr lang="en-US" sz="1050" noProof="1"/>
          </a:p>
        </p:txBody>
      </p:sp>
      <p:sp>
        <p:nvSpPr>
          <p:cNvPr id="8" name="strip-bar"/>
          <p:cNvSpPr/>
          <p:nvPr/>
        </p:nvSpPr>
        <p:spPr>
          <a:xfrm>
            <a:off x="812800" y="5384800"/>
            <a:ext cx="38100" cy="762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9" name="strip-text"/>
          <p:cNvSpPr txBox="1"/>
          <p:nvPr/>
        </p:nvSpPr>
        <p:spPr>
          <a:xfrm>
            <a:off x="1016000" y="5384800"/>
            <a:ext cx="5765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The demo's purpose is not the numbers — it is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to surface the hidden problems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(right) while the loop is still cheap to change.</a:t>
            </a:r>
            <a:endParaRPr lang="en-US" sz="1200" noProof="1"/>
          </a:p>
        </p:txBody>
      </p:sp>
      <p:sp>
        <p:nvSpPr>
          <p:cNvPr id="10" name="r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WHAT THE JOURNEY EXPOSED</a:t>
            </a:r>
            <a:endParaRPr lang="en-US" sz="1000" noProof="1"/>
          </a:p>
        </p:txBody>
      </p:sp>
      <p:sp>
        <p:nvSpPr>
          <p:cNvPr id="11" name="h1"/>
          <p:cNvSpPr txBox="1"/>
          <p:nvPr/>
        </p:nvSpPr>
        <p:spPr>
          <a:xfrm>
            <a:off x="7620000" y="1879600"/>
            <a:ext cx="3759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Distribution shift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every guide walks during training; only the chosen one walks afterward.</a:t>
            </a:r>
            <a:endParaRPr lang="en-US" sz="1050" noProof="1"/>
          </a:p>
        </p:txBody>
      </p:sp>
      <p:sp>
        <p:nvSpPr>
          <p:cNvPr id="12" name="rule-h1"/>
          <p:cNvSpPr/>
          <p:nvPr/>
        </p:nvSpPr>
        <p:spPr>
          <a:xfrm>
            <a:off x="7620000" y="25400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3" name="h2"/>
          <p:cNvSpPr txBox="1"/>
          <p:nvPr/>
        </p:nvSpPr>
        <p:spPr>
          <a:xfrm>
            <a:off x="7620000" y="26162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Cold start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on day one the map is blank; the apprentice's first dispatch is a guess.</a:t>
            </a:r>
            <a:endParaRPr lang="en-US" sz="1050" noProof="1"/>
          </a:p>
        </p:txBody>
      </p:sp>
      <p:sp>
        <p:nvSpPr>
          <p:cNvPr id="14" name="rule-h2"/>
          <p:cNvSpPr/>
          <p:nvPr/>
        </p:nvSpPr>
        <p:spPr>
          <a:xfrm>
            <a:off x="7620000" y="32258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5" name="h3"/>
          <p:cNvSpPr txBox="1"/>
          <p:nvPr/>
        </p:nvSpPr>
        <p:spPr>
          <a:xfrm>
            <a:off x="7620000" y="33528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Overfit on tiny logs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twelve trips memorised is not a policy: held-out probes fall to chance.</a:t>
            </a:r>
            <a:endParaRPr lang="en-US" sz="1050" noProof="1"/>
          </a:p>
        </p:txBody>
      </p:sp>
      <p:sp>
        <p:nvSpPr>
          <p:cNvPr id="16" name="rule-h3"/>
          <p:cNvSpPr/>
          <p:nvPr/>
        </p:nvSpPr>
        <p:spPr>
          <a:xfrm>
            <a:off x="7620000" y="39624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7" name="h4"/>
          <p:cNvSpPr txBox="1"/>
          <p:nvPr/>
        </p:nvSpPr>
        <p:spPr>
          <a:xfrm>
            <a:off x="7620000" y="40894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Online collapse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the apprentice plays it safe and starts sending the same guide everywhere.</a:t>
            </a:r>
            <a:endParaRPr lang="en-US" sz="1050" noProof="1"/>
          </a:p>
        </p:txBody>
      </p:sp>
      <p:sp>
        <p:nvSpPr>
          <p:cNvPr id="18" name="rule-h4"/>
          <p:cNvSpPr/>
          <p:nvPr/>
        </p:nvSpPr>
        <p:spPr>
          <a:xfrm>
            <a:off x="7620000" y="46990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9" name="h5"/>
          <p:cNvSpPr txBox="1"/>
          <p:nvPr/>
        </p:nvSpPr>
        <p:spPr>
          <a:xfrm>
            <a:off x="7620000" y="48260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Identity check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the round-trip through the door must be re-verified for each guide's real token order.</a:t>
            </a:r>
            <a:endParaRPr lang="en-US" sz="1050" noProof="1"/>
          </a:p>
        </p:txBody>
      </p:sp>
      <p:sp>
        <p:nvSpPr>
          <p:cNvPr id="20" name="r-note"/>
          <p:cNvSpPr txBox="1"/>
          <p:nvPr/>
        </p:nvSpPr>
        <p:spPr>
          <a:xfrm>
            <a:off x="7620000" y="55880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Each one is now a named item on the roadmap — replay, regularisation, better exploration.</a:t>
            </a:r>
            <a:endParaRPr lang="en-US" sz="1050" noProof="1"/>
          </a:p>
        </p:txBody>
      </p:sp>
      <p:sp>
        <p:nvSpPr>
          <p:cNvPr id="21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 · attention on lattice traversal</a:t>
            </a:r>
            <a:endParaRPr lang="en-US" sz="9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16</a:t>
            </a:r>
            <a:endParaRPr lang="en-US" sz="9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5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7112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C2521E"/>
                </a:solidFill>
                <a:latin typeface="JetBrains Mono"/>
                <a:ea typeface="JetBrains Mono"/>
              </a:rPr>
              <a:t>THE MAP · THE MOTION · THE DOOR · THE CHOICE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041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F5F3EE"/>
                </a:solidFill>
                <a:latin typeface="Space Grotesk"/>
                <a:ea typeface="Space Grotesk"/>
              </a:rPr>
              <a:t>The pair is the complete primitive.</a:t>
            </a:r>
            <a:endParaRPr lang="en-US" sz="3200" noProof="1"/>
          </a:p>
        </p:txBody>
      </p:sp>
      <p:sp>
        <p:nvSpPr>
          <p:cNvPr id="4" name="idea-1"/>
          <p:cNvSpPr txBox="1"/>
          <p:nvPr/>
        </p:nvSpPr>
        <p:spPr>
          <a:xfrm>
            <a:off x="812800" y="19812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F5F3EE"/>
                </a:solidFill>
                <a:latin typeface="Inter"/>
                <a:ea typeface="Inter"/>
              </a:rPr>
              <a:t>One seam</a:t>
            </a:r>
            <a:r>
              <a:rPr lang="en-US" sz="1200" noProof="1">
                <a:solidFill>
                  <a:srgbClr val="B9BEC4"/>
                </a:solidFill>
                <a:latin typeface="Inter"/>
                <a:ea typeface="Inter"/>
              </a:rPr>
              <a:t> — the support of attention is the lattice join: the bitmap decides the working set, the weights move inside it.</a:t>
            </a:r>
            <a:endParaRPr lang="en-US" sz="1200" noProof="1"/>
          </a:p>
        </p:txBody>
      </p:sp>
      <p:sp>
        <p:nvSpPr>
          <p:cNvPr id="5" name="idea-2"/>
          <p:cNvSpPr txBox="1"/>
          <p:nvPr/>
        </p:nvSpPr>
        <p:spPr>
          <a:xfrm>
            <a:off x="812800" y="28448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F5F3EE"/>
                </a:solidFill>
                <a:latin typeface="Inter"/>
                <a:ea typeface="Inter"/>
              </a:rPr>
              <a:t>One knob</a:t>
            </a:r>
            <a:r>
              <a:rPr lang="en-US" sz="1200" noProof="1">
                <a:solidFill>
                  <a:srgbClr val="B9BEC4"/>
                </a:solidFill>
                <a:latin typeface="Inter"/>
                <a:ea typeface="Inter"/>
              </a:rPr>
              <a:t> — threshold and temperature are two faces of the same selection rule; the softmax is the annealing schedule.</a:t>
            </a:r>
            <a:endParaRPr lang="en-US" sz="1200" noProof="1"/>
          </a:p>
        </p:txBody>
      </p:sp>
      <p:sp>
        <p:nvSpPr>
          <p:cNvPr id="6" name="idea-3"/>
          <p:cNvSpPr txBox="1"/>
          <p:nvPr/>
        </p:nvSpPr>
        <p:spPr>
          <a:xfrm>
            <a:off x="812800" y="3708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F5F3EE"/>
                </a:solidFill>
                <a:latin typeface="Inter"/>
                <a:ea typeface="Inter"/>
              </a:rPr>
              <a:t>One loop</a:t>
            </a:r>
            <a:r>
              <a:rPr lang="en-US" sz="1200" noProof="1">
                <a:solidFill>
                  <a:srgbClr val="B9BEC4"/>
                </a:solidFill>
                <a:latin typeface="Inter"/>
                <a:ea typeface="Inter"/>
              </a:rPr>
              <a:t> — map, door, move, door, map: every step is exact, auditable, and safe to replay.</a:t>
            </a:r>
            <a:endParaRPr lang="en-US" sz="1200" noProof="1"/>
          </a:p>
        </p:txBody>
      </p:sp>
      <p:sp>
        <p:nvSpPr>
          <p:cNvPr id="7" name="idea-4"/>
          <p:cNvSpPr txBox="1"/>
          <p:nvPr/>
        </p:nvSpPr>
        <p:spPr>
          <a:xfrm>
            <a:off x="812800" y="4572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F5F3EE"/>
                </a:solidFill>
                <a:latin typeface="Inter"/>
                <a:ea typeface="Inter"/>
              </a:rPr>
              <a:t>One dispatcher</a:t>
            </a:r>
            <a:r>
              <a:rPr lang="en-US" sz="1200" noProof="1">
                <a:solidFill>
                  <a:srgbClr val="B9BEC4"/>
                </a:solidFill>
                <a:latin typeface="Inter"/>
                <a:ea typeface="Inter"/>
              </a:rPr>
              <a:t> — learning who should move, taught by the lattice's own reading, behind a guard-railed commit chain.</a:t>
            </a:r>
            <a:endParaRPr lang="en-US" sz="1200" noProof="1"/>
          </a:p>
        </p:txBody>
      </p:sp>
      <p:sp>
        <p:nvSpPr>
          <p:cNvPr id="8" name="next-head"/>
          <p:cNvSpPr txBox="1"/>
          <p:nvPr/>
        </p:nvSpPr>
        <p:spPr>
          <a:xfrm>
            <a:off x="6858000" y="1981200"/>
            <a:ext cx="4521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2E7D64"/>
                </a:solidFill>
                <a:latin typeface="JetBrains Mono"/>
                <a:ea typeface="JetBrains Mono"/>
              </a:rPr>
              <a:t>WHAT IS NEXT</a:t>
            </a:r>
            <a:endParaRPr lang="en-US" sz="1100" noProof="1"/>
          </a:p>
        </p:txBody>
      </p:sp>
      <p:sp>
        <p:nvSpPr>
          <p:cNvPr id="9" name="next-1"/>
          <p:cNvSpPr txBox="1"/>
          <p:nvPr/>
        </p:nvSpPr>
        <p:spPr>
          <a:xfrm>
            <a:off x="6858000" y="2336800"/>
            <a:ext cx="4521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F5F3EE"/>
                </a:solidFill>
                <a:latin typeface="Inter"/>
                <a:ea typeface="Inter"/>
              </a:rPr>
              <a:t>Surprise-gated door</a:t>
            </a:r>
            <a:r>
              <a:rPr lang="en-US" sz="1150" noProof="1">
                <a:solidFill>
                  <a:srgbClr val="B9BEC4"/>
                </a:solidFill>
                <a:latin typeface="Inter"/>
                <a:ea typeface="Inter"/>
              </a:rPr>
              <a:t> — open materialization only when a traversal signal fires.</a:t>
            </a:r>
            <a:endParaRPr lang="en-US" sz="1150" noProof="1"/>
          </a:p>
        </p:txBody>
      </p:sp>
      <p:sp>
        <p:nvSpPr>
          <p:cNvPr id="10" name="next-2"/>
          <p:cNvSpPr txBox="1"/>
          <p:nvPr/>
        </p:nvSpPr>
        <p:spPr>
          <a:xfrm>
            <a:off x="6858000" y="2997200"/>
            <a:ext cx="4521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F5F3EE"/>
                </a:solidFill>
                <a:latin typeface="Inter"/>
                <a:ea typeface="Inter"/>
              </a:rPr>
              <a:t>Gradient-free policy</a:t>
            </a:r>
            <a:r>
              <a:rPr lang="en-US" sz="1150" noProof="1">
                <a:solidFill>
                  <a:srgbClr val="B9BEC4"/>
                </a:solidFill>
                <a:latin typeface="Inter"/>
                <a:ea typeface="Inter"/>
              </a:rPr>
              <a:t> — the rank-lattice path: rearrange the registry, update no weights.</a:t>
            </a:r>
            <a:endParaRPr lang="en-US" sz="1150" noProof="1"/>
          </a:p>
        </p:txBody>
      </p:sp>
      <p:sp>
        <p:nvSpPr>
          <p:cNvPr id="11" name="next-3"/>
          <p:cNvSpPr txBox="1"/>
          <p:nvPr/>
        </p:nvSpPr>
        <p:spPr>
          <a:xfrm>
            <a:off x="6858000" y="3657600"/>
            <a:ext cx="4521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F5F3EE"/>
                </a:solidFill>
                <a:latin typeface="Inter"/>
                <a:ea typeface="Inter"/>
              </a:rPr>
              <a:t>The agnosticism experiment</a:t>
            </a:r>
            <a:r>
              <a:rPr lang="en-US" sz="1150" noProof="1">
                <a:solidFill>
                  <a:srgbClr val="B9BEC4"/>
                </a:solidFill>
                <a:latin typeface="Inter"/>
                <a:ea typeface="Inter"/>
              </a:rPr>
              <a:t> — add a new host encoding; show the dispatch adjusts, lattice unchanged.</a:t>
            </a:r>
            <a:endParaRPr lang="en-US" sz="1150" noProof="1"/>
          </a:p>
        </p:txBody>
      </p:sp>
      <p:sp>
        <p:nvSpPr>
          <p:cNvPr id="12" name="next-4"/>
          <p:cNvSpPr txBox="1"/>
          <p:nvPr/>
        </p:nvSpPr>
        <p:spPr>
          <a:xfrm>
            <a:off x="6858000" y="4318000"/>
            <a:ext cx="4521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F5F3EE"/>
                </a:solidFill>
                <a:latin typeface="Inter"/>
                <a:ea typeface="Inter"/>
              </a:rPr>
              <a:t>The full sheaf</a:t>
            </a:r>
            <a:r>
              <a:rPr lang="en-US" sz="1150" noProof="1">
                <a:solidFill>
                  <a:srgbClr val="B9BEC4"/>
                </a:solidFill>
                <a:latin typeface="Inter"/>
                <a:ea typeface="Inter"/>
              </a:rPr>
              <a:t> — the world family as a site; the correspondence is its finite stage.</a:t>
            </a:r>
            <a:endParaRPr lang="en-US" sz="1150" noProof="1"/>
          </a:p>
        </p:txBody>
      </p:sp>
      <p:sp>
        <p:nvSpPr>
          <p:cNvPr id="13" name="ack"/>
          <p:cNvSpPr txBox="1"/>
          <p:nvPr/>
        </p:nvSpPr>
        <p:spPr>
          <a:xfrm>
            <a:off x="6858000" y="5105400"/>
            <a:ext cx="4521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8A9097"/>
                </a:solidFill>
                <a:latin typeface="Inter"/>
                <a:ea typeface="Inter"/>
              </a:rPr>
              <a:t>Acknowledgment — this deck was prepared with the assistance of Kimi (Moonshot AI).</a:t>
            </a:r>
            <a:endParaRPr lang="en-US" sz="1000" noProof="1"/>
          </a:p>
        </p:txBody>
      </p:sp>
      <p:sp>
        <p:nvSpPr>
          <p:cNvPr id="14" name="rule"/>
          <p:cNvSpPr/>
          <p:nvPr/>
        </p:nvSpPr>
        <p:spPr>
          <a:xfrm>
            <a:off x="812800" y="5638800"/>
            <a:ext cx="10566400" cy="12700"/>
          </a:xfrm>
          <a:prstGeom prst="rect">
            <a:avLst/>
          </a:prstGeom>
          <a:solidFill>
            <a:srgbClr val="2A2F35"/>
          </a:solidFill>
          <a:ln>
            <a:noFill/>
          </a:ln>
        </p:spPr>
      </p:sp>
      <p:sp>
        <p:nvSpPr>
          <p:cNvPr id="15" name="equation"/>
          <p:cNvSpPr txBox="1"/>
          <p:nvPr/>
        </p:nvSpPr>
        <p:spPr>
          <a:xfrm>
            <a:off x="812800" y="58420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C2521E"/>
                </a:solidFill>
                <a:latin typeface="JetBrains Mono"/>
                <a:ea typeface="JetBrains Mono"/>
              </a:rPr>
              <a:t>supp( Σ αᵢ·Vᵢ ) = ∪ { Vᵢ : αᵢ &gt; 0 }</a:t>
            </a:r>
            <a:endParaRPr lang="en-US" sz="1500" noProof="1"/>
          </a:p>
        </p:txBody>
      </p:sp>
      <p:sp>
        <p:nvSpPr>
          <p:cNvPr id="16" name="repo"/>
          <p:cNvSpPr txBox="1"/>
          <p:nvPr/>
        </p:nvSpPr>
        <p:spPr>
          <a:xfrm>
            <a:off x="812800" y="62738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u="sng">
                <a:solidFill>
                  <a:srgbClr val="0563C1"/>
                </a:solidFill>
                <a:latin typeface="JetBrains Mono"/>
                <a:ea typeface="JetBrains Mono"/>
                <a:hlinkClick r:id="rId2"/>
              </a:rPr>
              <a:t>github.com/alexmy21/ewm-state-machine</a:t>
            </a:r>
            <a:endParaRPr lang="en-US" sz="1200" noProof="1"/>
          </a:p>
        </p:txBody>
      </p:sp>
      <p:sp>
        <p:nvSpPr>
          <p:cNvPr id="17" name="bit01"/>
          <p:cNvSpPr/>
          <p:nvPr/>
        </p:nvSpPr>
        <p:spPr>
          <a:xfrm>
            <a:off x="88900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8" name="bit02"/>
          <p:cNvSpPr/>
          <p:nvPr/>
        </p:nvSpPr>
        <p:spPr>
          <a:xfrm>
            <a:off x="9067800" y="6299200"/>
            <a:ext cx="127000" cy="127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9" name="bit03"/>
          <p:cNvSpPr/>
          <p:nvPr/>
        </p:nvSpPr>
        <p:spPr>
          <a:xfrm>
            <a:off x="92456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0" name="bit04"/>
          <p:cNvSpPr/>
          <p:nvPr/>
        </p:nvSpPr>
        <p:spPr>
          <a:xfrm>
            <a:off x="9423400" y="6299200"/>
            <a:ext cx="127000" cy="127000"/>
          </a:xfrm>
          <a:prstGeom prst="rect">
            <a:avLst/>
          </a:prstGeom>
          <a:solidFill>
            <a:srgbClr val="2E7D64"/>
          </a:solidFill>
          <a:ln>
            <a:noFill/>
          </a:ln>
        </p:spPr>
      </p:sp>
      <p:sp>
        <p:nvSpPr>
          <p:cNvPr id="21" name="bit05"/>
          <p:cNvSpPr/>
          <p:nvPr/>
        </p:nvSpPr>
        <p:spPr>
          <a:xfrm>
            <a:off x="96012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2" name="bit06"/>
          <p:cNvSpPr/>
          <p:nvPr/>
        </p:nvSpPr>
        <p:spPr>
          <a:xfrm>
            <a:off x="97790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3" name="bit07"/>
          <p:cNvSpPr/>
          <p:nvPr/>
        </p:nvSpPr>
        <p:spPr>
          <a:xfrm>
            <a:off x="9956800" y="6299200"/>
            <a:ext cx="127000" cy="127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24" name="bit08"/>
          <p:cNvSpPr/>
          <p:nvPr/>
        </p:nvSpPr>
        <p:spPr>
          <a:xfrm>
            <a:off x="101346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5" name="bit09"/>
          <p:cNvSpPr/>
          <p:nvPr/>
        </p:nvSpPr>
        <p:spPr>
          <a:xfrm>
            <a:off x="103124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6" name="bit10"/>
          <p:cNvSpPr/>
          <p:nvPr/>
        </p:nvSpPr>
        <p:spPr>
          <a:xfrm>
            <a:off x="104902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7" name="bit11"/>
          <p:cNvSpPr/>
          <p:nvPr/>
        </p:nvSpPr>
        <p:spPr>
          <a:xfrm>
            <a:off x="10668000" y="6299200"/>
            <a:ext cx="127000" cy="127000"/>
          </a:xfrm>
          <a:prstGeom prst="rect">
            <a:avLst/>
          </a:prstGeom>
          <a:solidFill>
            <a:srgbClr val="2E7D64"/>
          </a:solidFill>
          <a:ln>
            <a:noFill/>
          </a:ln>
        </p:spPr>
      </p:sp>
      <p:sp>
        <p:nvSpPr>
          <p:cNvPr id="28" name="bit12"/>
          <p:cNvSpPr/>
          <p:nvPr/>
        </p:nvSpPr>
        <p:spPr>
          <a:xfrm>
            <a:off x="108458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9" name="bit13"/>
          <p:cNvSpPr/>
          <p:nvPr/>
        </p:nvSpPr>
        <p:spPr>
          <a:xfrm>
            <a:off x="110236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30" name="bit14"/>
          <p:cNvSpPr/>
          <p:nvPr/>
        </p:nvSpPr>
        <p:spPr>
          <a:xfrm>
            <a:off x="112014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17</Slides>
</Properties>
</file>

<file path=docProps/core.xml><?xml version="1.0" encoding="utf-8"?>
<cp:coreProperties xmlns:dc="http://purl.org/dc/elements/1.1/" xmlns:cp="http://schemas.openxmlformats.org/package/2006/metadata/core-properties">
  <dc:title>Attention on Lattice Traversal — The Map, the Locomotion, and the Door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