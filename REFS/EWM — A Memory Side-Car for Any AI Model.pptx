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type="custom"/>
  <p:notesSz cx="12192000" cy="6858000"/>
  <p:embeddedFontLst>
    <p:embeddedFont>
      <p:font typeface="Space Grotesk" charset="-122" pitchFamily="34"/>
      <p:regular r:id="rId21"/>
    </p:embeddedFont>
    <p:embeddedFont>
      <p:font typeface="Inter" charset="-122" pitchFamily="34"/>
      <p:regular r:id="rId22"/>
    </p:embeddedFont>
    <p:embeddedFont>
      <p:font typeface="JetBrains Mono" charset="-122" pitchFamily="34"/>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odenticai.com" TargetMode="External"/><Relationship Id="rId3" Type="http://schemas.openxmlformats.org/officeDocument/2006/relationships/hyperlink" Target="https://github.com/alexmy21/ewm-state-machine" TargetMode="Externa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odenticai.com" TargetMode="External"/><Relationship Id="rId3" Type="http://schemas.openxmlformats.org/officeDocument/2006/relationships/hyperlink" Target="https://github.com/alexmy21/ewm-state-machine" TargetMode="External"/></Relationships>
</file>

<file path=ppt/slides/slide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15181B"/>
        </a:solidFill>
      </p:bgPr>
    </p:bg>
    <p:spTree>
      <p:nvGrpSpPr>
        <p:cNvPr id="1" name=""/>
        <p:cNvGrpSpPr/>
        <p:nvPr/>
      </p:nvGrpSpPr>
      <p:grpSpPr>
        <a:xfrm>
          <a:off x="0" y="0"/>
          <a:ext cx="0" cy="0"/>
          <a:chOff x="0" y="0"/>
          <a:chExt cx="0" cy="0"/>
        </a:xfrm>
      </p:grpSpPr>
      <p:sp>
        <p:nvSpPr>
          <p:cNvPr id="2" name="kicker"/>
          <p:cNvSpPr txBox="1"/>
          <p:nvPr/>
        </p:nvSpPr>
        <p:spPr>
          <a:xfrm>
            <a:off x="812800" y="1168400"/>
            <a:ext cx="8128000" cy="203200"/>
          </a:xfrm>
          <a:prstGeom prst="rect">
            <a:avLst/>
          </a:prstGeom>
          <a:noFill/>
          <a:ln>
            <a:noFill/>
          </a:ln>
        </p:spPr>
        <p:txBody>
          <a:bodyPr lIns="0" rIns="0" tIns="0" bIns="0" wrap="none" rtlCol="0"/>
          <a:lstStyle/>
          <a:p>
            <a:pPr>
              <a:lnSpc>
                <a:spcPct val="120000"/>
              </a:lnSpc>
            </a:pPr>
            <a:r>
              <a:rPr lang="en-US" sz="1100" noProof="1" spc="300" kern="0">
                <a:solidFill>
                  <a:srgbClr val="C2521E"/>
                </a:solidFill>
                <a:latin typeface="JetBrains Mono"/>
                <a:ea typeface="JetBrains Mono"/>
              </a:rPr>
              <a:t>CODENTIC AI · EMERGING WORLD MODELS</a:t>
            </a:r>
            <a:endParaRPr lang="en-US" sz="1100" noProof="1"/>
          </a:p>
        </p:txBody>
      </p:sp>
      <p:sp>
        <p:nvSpPr>
          <p:cNvPr id="3" name="title"/>
          <p:cNvSpPr txBox="1"/>
          <p:nvPr/>
        </p:nvSpPr>
        <p:spPr>
          <a:xfrm>
            <a:off x="812800" y="1549400"/>
            <a:ext cx="10566400" cy="1397000"/>
          </a:xfrm>
          <a:prstGeom prst="rect">
            <a:avLst/>
          </a:prstGeom>
          <a:noFill/>
          <a:ln>
            <a:noFill/>
          </a:ln>
        </p:spPr>
        <p:txBody>
          <a:bodyPr lIns="0" rIns="0" tIns="0" bIns="0" wrap="square" rtlCol="0"/>
          <a:lstStyle/>
          <a:p>
            <a:pPr>
              <a:lnSpc>
                <a:spcPct val="120000"/>
              </a:lnSpc>
            </a:pPr>
            <a:r>
              <a:rPr lang="en-US" sz="4000" noProof="1" b="1">
                <a:solidFill>
                  <a:srgbClr val="F5F3EE"/>
                </a:solidFill>
                <a:latin typeface="Space Grotesk"/>
                <a:ea typeface="Space Grotesk"/>
              </a:rPr>
              <a:t>A memory side-car beside</a:t>
            </a:r>
            <a:endParaRPr lang="en-US" sz="4000" noProof="1"/>
          </a:p>
          <a:p>
            <a:pPr>
              <a:lnSpc>
                <a:spcPct val="120000"/>
              </a:lnSpc>
            </a:pPr>
            <a:r>
              <a:rPr lang="en-US" sz="4000" noProof="1" b="1">
                <a:solidFill>
                  <a:srgbClr val="F5F3EE"/>
                </a:solidFill>
                <a:latin typeface="Space Grotesk"/>
                <a:ea typeface="Space Grotesk"/>
              </a:rPr>
              <a:t>the model you run</a:t>
            </a:r>
            <a:endParaRPr lang="en-US" sz="4000" noProof="1"/>
          </a:p>
        </p:txBody>
      </p:sp>
      <p:sp>
        <p:nvSpPr>
          <p:cNvPr id="4" name="subtitle"/>
          <p:cNvSpPr txBox="1"/>
          <p:nvPr/>
        </p:nvSpPr>
        <p:spPr>
          <a:xfrm>
            <a:off x="812800" y="3124200"/>
            <a:ext cx="9144000" cy="711200"/>
          </a:xfrm>
          <a:prstGeom prst="rect">
            <a:avLst/>
          </a:prstGeom>
          <a:noFill/>
          <a:ln>
            <a:noFill/>
          </a:ln>
        </p:spPr>
        <p:txBody>
          <a:bodyPr lIns="0" rIns="0" tIns="0" bIns="0" wrap="square" rtlCol="0"/>
          <a:lstStyle/>
          <a:p>
            <a:pPr>
              <a:lnSpc>
                <a:spcPct val="150000"/>
              </a:lnSpc>
            </a:pPr>
            <a:r>
              <a:rPr lang="en-US" sz="1500" noProof="1">
                <a:solidFill>
                  <a:srgbClr val="B9BEC4"/>
                </a:solidFill>
                <a:latin typeface="Inter"/>
                <a:ea typeface="Inter"/>
              </a:rPr>
              <a:t>World models are one of the most active directions in AI research. EWM is the part we build: the memory — structural, content-addressed, verifiable, and portable across models.</a:t>
            </a:r>
            <a:endParaRPr lang="en-US" sz="1500" noProof="1"/>
          </a:p>
        </p:txBody>
      </p:sp>
      <p:sp>
        <p:nvSpPr>
          <p:cNvPr id="5" name="chips"/>
          <p:cNvSpPr txBox="1"/>
          <p:nvPr/>
        </p:nvSpPr>
        <p:spPr>
          <a:xfrm>
            <a:off x="812800" y="4089400"/>
            <a:ext cx="10566400" cy="254000"/>
          </a:xfrm>
          <a:prstGeom prst="rect">
            <a:avLst/>
          </a:prstGeom>
          <a:noFill/>
          <a:ln>
            <a:noFill/>
          </a:ln>
        </p:spPr>
        <p:txBody>
          <a:bodyPr lIns="0" rIns="0" tIns="0" bIns="0" wrap="none" rtlCol="0"/>
          <a:lstStyle/>
          <a:p>
            <a:pPr>
              <a:lnSpc>
                <a:spcPct val="120000"/>
              </a:lnSpc>
            </a:pPr>
            <a:r>
              <a:rPr lang="en-US" sz="1100" noProof="1">
                <a:solidFill>
                  <a:srgbClr val="8A9097"/>
                </a:solidFill>
                <a:latin typeface="JetBrains Mono"/>
                <a:ea typeface="JetBrains Mono"/>
              </a:rPr>
              <a:t>NO RETRAINING · NO FINE-TUNING · NO NEW WEIGHTS · ON-PREMISE</a:t>
            </a:r>
            <a:endParaRPr lang="en-US" sz="1100" noProof="1"/>
          </a:p>
        </p:txBody>
      </p:sp>
      <p:sp>
        <p:nvSpPr>
          <p:cNvPr id="6" name="rule"/>
          <p:cNvSpPr/>
          <p:nvPr/>
        </p:nvSpPr>
        <p:spPr>
          <a:xfrm>
            <a:off x="812800" y="5029200"/>
            <a:ext cx="10566400" cy="12700"/>
          </a:xfrm>
          <a:prstGeom prst="rect">
            <a:avLst/>
          </a:prstGeom>
          <a:solidFill>
            <a:srgbClr val="2A2F35"/>
          </a:solidFill>
          <a:ln>
            <a:noFill/>
          </a:ln>
        </p:spPr>
      </p:sp>
      <p:sp>
        <p:nvSpPr>
          <p:cNvPr id="7" name="meta"/>
          <p:cNvSpPr txBox="1"/>
          <p:nvPr/>
        </p:nvSpPr>
        <p:spPr>
          <a:xfrm>
            <a:off x="812800" y="5257800"/>
            <a:ext cx="9144000" cy="203200"/>
          </a:xfrm>
          <a:prstGeom prst="rect">
            <a:avLst/>
          </a:prstGeom>
          <a:noFill/>
          <a:ln>
            <a:noFill/>
          </a:ln>
        </p:spPr>
        <p:txBody>
          <a:bodyPr lIns="0" rIns="0" tIns="0" bIns="0" wrap="none" rtlCol="0"/>
          <a:lstStyle/>
          <a:p>
            <a:pPr>
              <a:lnSpc>
                <a:spcPct val="120000"/>
              </a:lnSpc>
            </a:pPr>
            <a:r>
              <a:rPr lang="en-US" sz="1000" noProof="1">
                <a:solidFill>
                  <a:srgbClr val="7C838B"/>
                </a:solidFill>
                <a:latin typeface="JetBrains Mono"/>
                <a:ea typeface="JetBrains Mono"/>
              </a:rPr>
              <a:t>REFERENCE IMPLEMENTATION: EWM-STATE-MACHINE — RUST WORKSPACE, 15 CRATES, 12 NOTEBOOKS</a:t>
            </a:r>
            <a:endParaRPr lang="en-US" sz="1000" noProof="1"/>
          </a:p>
        </p:txBody>
      </p:sp>
      <p:sp>
        <p:nvSpPr>
          <p:cNvPr id="8" name="repo"/>
          <p:cNvSpPr txBox="1"/>
          <p:nvPr/>
        </p:nvSpPr>
        <p:spPr>
          <a:xfrm>
            <a:off x="812800" y="6070600"/>
            <a:ext cx="8128000" cy="228600"/>
          </a:xfrm>
          <a:prstGeom prst="rect">
            <a:avLst/>
          </a:prstGeom>
          <a:noFill/>
          <a:ln>
            <a:noFill/>
          </a:ln>
        </p:spPr>
        <p:txBody>
          <a:bodyPr lIns="0" rIns="0" tIns="0" bIns="0" wrap="none" rtlCol="0"/>
          <a:lstStyle/>
          <a:p>
            <a:pPr>
              <a:lnSpc>
                <a:spcPct val="120000"/>
              </a:lnSpc>
            </a:pPr>
            <a:r>
              <a:rPr lang="en-US" sz="1200" noProof="1" u="sng">
                <a:solidFill>
                  <a:srgbClr val="0563C1"/>
                </a:solidFill>
                <a:latin typeface="JetBrains Mono"/>
                <a:ea typeface="JetBrains Mono"/>
                <a:hlinkClick r:id="rId2"/>
              </a:rPr>
              <a:t>codenticai.com</a:t>
            </a:r>
            <a:r>
              <a:rPr lang="en-US" sz="1200" noProof="1">
                <a:solidFill>
                  <a:srgbClr val="F5F3EE"/>
                </a:solidFill>
                <a:latin typeface="JetBrains Mono"/>
                <a:ea typeface="JetBrains Mono"/>
              </a:rPr>
              <a:t>  ·  </a:t>
            </a:r>
            <a:r>
              <a:rPr lang="en-US" sz="1200" noProof="1" u="sng">
                <a:solidFill>
                  <a:srgbClr val="0563C1"/>
                </a:solidFill>
                <a:latin typeface="JetBrains Mono"/>
                <a:ea typeface="JetBrains Mono"/>
                <a:hlinkClick r:id="rId3"/>
              </a:rPr>
              <a:t>github.com/alexmy21/ewm-state-machine</a:t>
            </a:r>
            <a:endParaRPr lang="en-US" sz="1200" noProof="1"/>
          </a:p>
        </p:txBody>
      </p:sp>
      <p:sp>
        <p:nvSpPr>
          <p:cNvPr id="9" name="bit01"/>
          <p:cNvSpPr/>
          <p:nvPr/>
        </p:nvSpPr>
        <p:spPr>
          <a:xfrm>
            <a:off x="8890000" y="6070600"/>
            <a:ext cx="127000" cy="127000"/>
          </a:xfrm>
          <a:prstGeom prst="rect">
            <a:avLst/>
          </a:prstGeom>
          <a:solidFill>
            <a:srgbClr val="262B30"/>
          </a:solidFill>
          <a:ln>
            <a:noFill/>
          </a:ln>
        </p:spPr>
      </p:sp>
      <p:sp>
        <p:nvSpPr>
          <p:cNvPr id="10" name="bit02"/>
          <p:cNvSpPr/>
          <p:nvPr/>
        </p:nvSpPr>
        <p:spPr>
          <a:xfrm>
            <a:off x="9067800" y="6070600"/>
            <a:ext cx="127000" cy="127000"/>
          </a:xfrm>
          <a:prstGeom prst="rect">
            <a:avLst/>
          </a:prstGeom>
          <a:solidFill>
            <a:srgbClr val="262B30"/>
          </a:solidFill>
          <a:ln>
            <a:noFill/>
          </a:ln>
        </p:spPr>
      </p:sp>
      <p:sp>
        <p:nvSpPr>
          <p:cNvPr id="11" name="bit03"/>
          <p:cNvSpPr/>
          <p:nvPr/>
        </p:nvSpPr>
        <p:spPr>
          <a:xfrm>
            <a:off x="9245600" y="6070600"/>
            <a:ext cx="127000" cy="127000"/>
          </a:xfrm>
          <a:prstGeom prst="rect">
            <a:avLst/>
          </a:prstGeom>
          <a:solidFill>
            <a:srgbClr val="C2521E"/>
          </a:solidFill>
          <a:ln>
            <a:noFill/>
          </a:ln>
        </p:spPr>
      </p:sp>
      <p:sp>
        <p:nvSpPr>
          <p:cNvPr id="12" name="bit04"/>
          <p:cNvSpPr/>
          <p:nvPr/>
        </p:nvSpPr>
        <p:spPr>
          <a:xfrm>
            <a:off x="9423400" y="6070600"/>
            <a:ext cx="127000" cy="127000"/>
          </a:xfrm>
          <a:prstGeom prst="rect">
            <a:avLst/>
          </a:prstGeom>
          <a:solidFill>
            <a:srgbClr val="262B30"/>
          </a:solidFill>
          <a:ln>
            <a:noFill/>
          </a:ln>
        </p:spPr>
      </p:sp>
      <p:sp>
        <p:nvSpPr>
          <p:cNvPr id="13" name="bit05"/>
          <p:cNvSpPr/>
          <p:nvPr/>
        </p:nvSpPr>
        <p:spPr>
          <a:xfrm>
            <a:off x="9601200" y="6070600"/>
            <a:ext cx="127000" cy="127000"/>
          </a:xfrm>
          <a:prstGeom prst="rect">
            <a:avLst/>
          </a:prstGeom>
          <a:solidFill>
            <a:srgbClr val="262B30"/>
          </a:solidFill>
          <a:ln>
            <a:noFill/>
          </a:ln>
        </p:spPr>
      </p:sp>
      <p:sp>
        <p:nvSpPr>
          <p:cNvPr id="14" name="bit06"/>
          <p:cNvSpPr/>
          <p:nvPr/>
        </p:nvSpPr>
        <p:spPr>
          <a:xfrm>
            <a:off x="9779000" y="6070600"/>
            <a:ext cx="127000" cy="127000"/>
          </a:xfrm>
          <a:prstGeom prst="rect">
            <a:avLst/>
          </a:prstGeom>
          <a:solidFill>
            <a:srgbClr val="2E7D64"/>
          </a:solidFill>
          <a:ln>
            <a:noFill/>
          </a:ln>
        </p:spPr>
      </p:sp>
      <p:sp>
        <p:nvSpPr>
          <p:cNvPr id="15" name="bit07"/>
          <p:cNvSpPr/>
          <p:nvPr/>
        </p:nvSpPr>
        <p:spPr>
          <a:xfrm>
            <a:off x="9956800" y="6070600"/>
            <a:ext cx="127000" cy="127000"/>
          </a:xfrm>
          <a:prstGeom prst="rect">
            <a:avLst/>
          </a:prstGeom>
          <a:solidFill>
            <a:srgbClr val="262B30"/>
          </a:solidFill>
          <a:ln>
            <a:noFill/>
          </a:ln>
        </p:spPr>
      </p:sp>
      <p:sp>
        <p:nvSpPr>
          <p:cNvPr id="16" name="bit08"/>
          <p:cNvSpPr/>
          <p:nvPr/>
        </p:nvSpPr>
        <p:spPr>
          <a:xfrm>
            <a:off x="10134600" y="6070600"/>
            <a:ext cx="127000" cy="127000"/>
          </a:xfrm>
          <a:prstGeom prst="rect">
            <a:avLst/>
          </a:prstGeom>
          <a:solidFill>
            <a:srgbClr val="262B30"/>
          </a:solidFill>
          <a:ln>
            <a:noFill/>
          </a:ln>
        </p:spPr>
      </p:sp>
      <p:sp>
        <p:nvSpPr>
          <p:cNvPr id="17" name="bit09"/>
          <p:cNvSpPr/>
          <p:nvPr/>
        </p:nvSpPr>
        <p:spPr>
          <a:xfrm>
            <a:off x="10312400" y="6070600"/>
            <a:ext cx="127000" cy="127000"/>
          </a:xfrm>
          <a:prstGeom prst="rect">
            <a:avLst/>
          </a:prstGeom>
          <a:solidFill>
            <a:srgbClr val="262B30"/>
          </a:solidFill>
          <a:ln>
            <a:noFill/>
          </a:ln>
        </p:spPr>
      </p:sp>
      <p:sp>
        <p:nvSpPr>
          <p:cNvPr id="18" name="bit10"/>
          <p:cNvSpPr/>
          <p:nvPr/>
        </p:nvSpPr>
        <p:spPr>
          <a:xfrm>
            <a:off x="10490200" y="6070600"/>
            <a:ext cx="127000" cy="127000"/>
          </a:xfrm>
          <a:prstGeom prst="rect">
            <a:avLst/>
          </a:prstGeom>
          <a:solidFill>
            <a:srgbClr val="C2521E"/>
          </a:solidFill>
          <a:ln>
            <a:noFill/>
          </a:ln>
        </p:spPr>
      </p:sp>
      <p:sp>
        <p:nvSpPr>
          <p:cNvPr id="19" name="bit11"/>
          <p:cNvSpPr/>
          <p:nvPr/>
        </p:nvSpPr>
        <p:spPr>
          <a:xfrm>
            <a:off x="10668000" y="6070600"/>
            <a:ext cx="127000" cy="127000"/>
          </a:xfrm>
          <a:prstGeom prst="rect">
            <a:avLst/>
          </a:prstGeom>
          <a:solidFill>
            <a:srgbClr val="262B30"/>
          </a:solidFill>
          <a:ln>
            <a:noFill/>
          </a:ln>
        </p:spPr>
      </p:sp>
      <p:sp>
        <p:nvSpPr>
          <p:cNvPr id="20" name="bit12"/>
          <p:cNvSpPr/>
          <p:nvPr/>
        </p:nvSpPr>
        <p:spPr>
          <a:xfrm>
            <a:off x="10845800" y="6070600"/>
            <a:ext cx="127000" cy="127000"/>
          </a:xfrm>
          <a:prstGeom prst="rect">
            <a:avLst/>
          </a:prstGeom>
          <a:solidFill>
            <a:srgbClr val="262B30"/>
          </a:solidFill>
          <a:ln>
            <a:noFill/>
          </a:ln>
        </p:spPr>
      </p:sp>
      <p:sp>
        <p:nvSpPr>
          <p:cNvPr id="21" name="bit13"/>
          <p:cNvSpPr/>
          <p:nvPr/>
        </p:nvSpPr>
        <p:spPr>
          <a:xfrm>
            <a:off x="11023600" y="6070600"/>
            <a:ext cx="127000" cy="127000"/>
          </a:xfrm>
          <a:prstGeom prst="rect">
            <a:avLst/>
          </a:prstGeom>
          <a:solidFill>
            <a:srgbClr val="2E7D64"/>
          </a:solidFill>
          <a:ln>
            <a:noFill/>
          </a:ln>
        </p:spPr>
      </p:sp>
      <p:sp>
        <p:nvSpPr>
          <p:cNvPr id="22" name="bit14"/>
          <p:cNvSpPr/>
          <p:nvPr/>
        </p:nvSpPr>
        <p:spPr>
          <a:xfrm>
            <a:off x="11201400" y="6070600"/>
            <a:ext cx="127000" cy="127000"/>
          </a:xfrm>
          <a:prstGeom prst="rect">
            <a:avLst/>
          </a:prstGeom>
          <a:solidFill>
            <a:srgbClr val="262B30"/>
          </a:solidFill>
          <a:ln>
            <a:noFill/>
          </a:ln>
        </p:spPr>
      </p:sp>
    </p:spTree>
  </p:cSld>
  <p:clrMapOvr>
    <a:masterClrMapping/>
  </p:clrMapOvr>
</p:sld>
</file>

<file path=ppt/slides/slide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01 · THE PATTERN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A side-car, in plain words</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analogy-head"/>
          <p:cNvSpPr txBox="1"/>
          <p:nvPr/>
        </p:nvSpPr>
        <p:spPr>
          <a:xfrm>
            <a:off x="812800" y="1549400"/>
            <a:ext cx="5461000" cy="254000"/>
          </a:xfrm>
          <a:prstGeom prst="rect">
            <a:avLst/>
          </a:prstGeom>
          <a:noFill/>
          <a:ln>
            <a:noFill/>
          </a:ln>
        </p:spPr>
        <p:txBody>
          <a:bodyPr lIns="0" rIns="0" tIns="0" bIns="0" wrap="none" rtlCol="0"/>
          <a:lstStyle/>
          <a:p>
            <a:pPr>
              <a:lnSpc>
                <a:spcPct val="120000"/>
              </a:lnSpc>
            </a:pPr>
            <a:r>
              <a:rPr lang="en-US" sz="1500" noProof="1" b="1">
                <a:solidFill>
                  <a:srgbClr val="1E5B4E"/>
                </a:solidFill>
                <a:latin typeface="Space Grotesk"/>
                <a:ea typeface="Space Grotesk"/>
              </a:rPr>
              <a:t>Start with the motorbike</a:t>
            </a:r>
            <a:endParaRPr lang="en-US" sz="1500" noProof="1"/>
          </a:p>
        </p:txBody>
      </p:sp>
      <p:sp>
        <p:nvSpPr>
          <p:cNvPr id="6" name="analogy-body"/>
          <p:cNvSpPr txBox="1"/>
          <p:nvPr/>
        </p:nvSpPr>
        <p:spPr>
          <a:xfrm>
            <a:off x="812800" y="1905000"/>
            <a:ext cx="5461000" cy="12192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A side-car is the extra seat bolted to the side of a motorbike. The bike is not taken apart to fit it — the engine, the wheels and the handlebars stay exactly as they were. The side-car travels alongside and adds something the bike never had.</a:t>
            </a:r>
            <a:endParaRPr lang="en-US" sz="1250" noProof="1"/>
          </a:p>
          <a:p>
            <a:pPr>
              <a:lnSpc>
                <a:spcPct val="150000"/>
              </a:lnSpc>
              <a:spcBef>
                <a:spcPts val="800"/>
              </a:spcBef>
            </a:pPr>
            <a:r>
              <a:rPr lang="en-US" sz="1250" noProof="1">
                <a:solidFill>
                  <a:srgbClr val="6E747B"/>
                </a:solidFill>
                <a:latin typeface="Inter"/>
                <a:ea typeface="Inter"/>
              </a:rPr>
              <a:t>Same idea: a battery phone case, a bike rack on a car, an external drive.</a:t>
            </a:r>
            <a:endParaRPr lang="en-US" sz="1250" noProof="1"/>
          </a:p>
        </p:txBody>
      </p:sp>
      <p:sp>
        <p:nvSpPr>
          <p:cNvPr id="7" name="why-head"/>
          <p:cNvSpPr txBox="1"/>
          <p:nvPr/>
        </p:nvSpPr>
        <p:spPr>
          <a:xfrm>
            <a:off x="812800" y="3759200"/>
            <a:ext cx="5461000" cy="254000"/>
          </a:xfrm>
          <a:prstGeom prst="rect">
            <a:avLst/>
          </a:prstGeom>
          <a:noFill/>
          <a:ln>
            <a:noFill/>
          </a:ln>
        </p:spPr>
        <p:txBody>
          <a:bodyPr lIns="0" rIns="0" tIns="0" bIns="0" wrap="none" rtlCol="0"/>
          <a:lstStyle/>
          <a:p>
            <a:pPr>
              <a:lnSpc>
                <a:spcPct val="120000"/>
              </a:lnSpc>
            </a:pPr>
            <a:r>
              <a:rPr lang="en-US" sz="1500" noProof="1" b="1">
                <a:solidFill>
                  <a:srgbClr val="1E5B4E"/>
                </a:solidFill>
                <a:latin typeface="Space Grotesk"/>
                <a:ea typeface="Space Grotesk"/>
              </a:rPr>
              <a:t>Why people build this way</a:t>
            </a:r>
            <a:endParaRPr lang="en-US" sz="1500" noProof="1"/>
          </a:p>
        </p:txBody>
      </p:sp>
      <p:sp>
        <p:nvSpPr>
          <p:cNvPr id="8" name="why-body"/>
          <p:cNvSpPr txBox="1"/>
          <p:nvPr/>
        </p:nvSpPr>
        <p:spPr>
          <a:xfrm>
            <a:off x="812800" y="4114800"/>
            <a:ext cx="5558790" cy="14986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 Nothing that already works gets opened up, so there is no risk of breaking it.</a:t>
            </a:r>
            <a:endParaRPr lang="en-US" sz="1150" noProof="1"/>
          </a:p>
          <a:p>
            <a:pPr>
              <a:lnSpc>
                <a:spcPct val="150000"/>
              </a:lnSpc>
              <a:spcBef>
                <a:spcPts val="500"/>
              </a:spcBef>
            </a:pPr>
            <a:r>
              <a:rPr lang="en-US" sz="1150" noProof="1">
                <a:solidFill>
                  <a:srgbClr val="1A1D20"/>
                </a:solidFill>
                <a:latin typeface="Inter"/>
                <a:ea typeface="Inter"/>
              </a:rPr>
              <a:t>— The add-on can be fitted, updated or removed on its own; the main thing never changes.</a:t>
            </a:r>
            <a:endParaRPr lang="en-US" sz="1150" noProof="1"/>
          </a:p>
          <a:p>
            <a:pPr>
              <a:lnSpc>
                <a:spcPct val="150000"/>
              </a:lnSpc>
              <a:spcBef>
                <a:spcPts val="500"/>
              </a:spcBef>
            </a:pPr>
            <a:r>
              <a:rPr lang="en-US" sz="1150" noProof="1">
                <a:solidFill>
                  <a:srgbClr val="1A1D20"/>
                </a:solidFill>
                <a:latin typeface="Inter"/>
                <a:ea typeface="Inter"/>
              </a:rPr>
              <a:t>— Each part can be looked after and repaired separately.</a:t>
            </a:r>
            <a:endParaRPr lang="en-US" sz="1150" noProof="1"/>
          </a:p>
          <a:p>
            <a:pPr>
              <a:lnSpc>
                <a:spcPct val="150000"/>
              </a:lnSpc>
              <a:spcBef>
                <a:spcPts val="500"/>
              </a:spcBef>
            </a:pPr>
            <a:r>
              <a:rPr lang="en-US" sz="1150" noProof="1">
                <a:solidFill>
                  <a:srgbClr val="1A1D20"/>
                </a:solidFill>
                <a:latin typeface="Inter"/>
                <a:ea typeface="Inter"/>
              </a:rPr>
              <a:t>— Far quicker and cheaper than rebuilding the main thing.</a:t>
            </a:r>
            <a:endParaRPr lang="en-US" sz="1150" noProof="1"/>
          </a:p>
        </p:txBody>
      </p:sp>
      <p:sp>
        <p:nvSpPr>
          <p:cNvPr id="9" name="divider"/>
          <p:cNvSpPr/>
          <p:nvPr/>
        </p:nvSpPr>
        <p:spPr>
          <a:xfrm>
            <a:off x="6654800" y="1549400"/>
            <a:ext cx="12700" cy="4419600"/>
          </a:xfrm>
          <a:prstGeom prst="rect">
            <a:avLst/>
          </a:prstGeom>
          <a:solidFill>
            <a:srgbClr val="DCD8CF"/>
          </a:solidFill>
          <a:ln>
            <a:noFill/>
          </a:ln>
        </p:spPr>
      </p:sp>
      <p:sp>
        <p:nvSpPr>
          <p:cNvPr id="10" name="model-head"/>
          <p:cNvSpPr txBox="1"/>
          <p:nvPr/>
        </p:nvSpPr>
        <p:spPr>
          <a:xfrm>
            <a:off x="7112000" y="1549400"/>
            <a:ext cx="4267200" cy="254000"/>
          </a:xfrm>
          <a:prstGeom prst="rect">
            <a:avLst/>
          </a:prstGeom>
          <a:noFill/>
          <a:ln>
            <a:noFill/>
          </a:ln>
        </p:spPr>
        <p:txBody>
          <a:bodyPr lIns="0" rIns="0" tIns="0" bIns="0" wrap="none" rtlCol="0"/>
          <a:lstStyle/>
          <a:p>
            <a:pPr>
              <a:lnSpc>
                <a:spcPct val="120000"/>
              </a:lnSpc>
            </a:pPr>
            <a:r>
              <a:rPr lang="en-US" sz="1500" noProof="1" b="1">
                <a:solidFill>
                  <a:srgbClr val="C2521E"/>
                </a:solidFill>
                <a:latin typeface="Space Grotesk"/>
                <a:ea typeface="Space Grotesk"/>
              </a:rPr>
              <a:t>Now put your AI model where the motorbike is</a:t>
            </a:r>
            <a:endParaRPr lang="en-US" sz="1500" noProof="1"/>
          </a:p>
        </p:txBody>
      </p:sp>
      <p:sp>
        <p:nvSpPr>
          <p:cNvPr id="11" name="model-body"/>
          <p:cNvSpPr txBox="1"/>
          <p:nvPr/>
        </p:nvSpPr>
        <p:spPr>
          <a:xfrm>
            <a:off x="7112000" y="1905000"/>
            <a:ext cx="4267200" cy="1905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Our side-car is bolted on beside the model you already use, and its single job is to </a:t>
            </a:r>
            <a:r>
              <a:rPr lang="en-US" sz="1250" noProof="1" b="1">
                <a:solidFill>
                  <a:srgbClr val="1A1D20"/>
                </a:solidFill>
                <a:latin typeface="Inter"/>
                <a:ea typeface="Inter"/>
              </a:rPr>
              <a:t>remember</a:t>
            </a:r>
            <a:r>
              <a:rPr lang="en-US" sz="1250" noProof="1">
                <a:solidFill>
                  <a:srgbClr val="1A1D20"/>
                </a:solidFill>
                <a:latin typeface="Inter"/>
                <a:ea typeface="Inter"/>
              </a:rPr>
              <a:t>.</a:t>
            </a:r>
            <a:endParaRPr lang="en-US" sz="1250" noProof="1"/>
          </a:p>
          <a:p>
            <a:pPr>
              <a:lnSpc>
                <a:spcPct val="150000"/>
              </a:lnSpc>
              <a:spcBef>
                <a:spcPts val="800"/>
              </a:spcBef>
            </a:pPr>
            <a:r>
              <a:rPr lang="en-US" sz="1250" noProof="1">
                <a:solidFill>
                  <a:srgbClr val="1A1D20"/>
                </a:solidFill>
                <a:latin typeface="Inter"/>
                <a:ea typeface="Inter"/>
              </a:rPr>
              <a:t>It listens to the signals the model produces while it works — its internal encodings — keeps a record of them </a:t>
            </a:r>
            <a:r>
              <a:rPr lang="en-US" sz="1250" noProof="1" b="1">
                <a:solidFill>
                  <a:srgbClr val="1A1D20"/>
                </a:solidFill>
                <a:latin typeface="Inter"/>
                <a:ea typeface="Inter"/>
              </a:rPr>
              <a:t>outside the model</a:t>
            </a:r>
            <a:r>
              <a:rPr lang="en-US" sz="1250" noProof="1">
                <a:solidFill>
                  <a:srgbClr val="1A1D20"/>
                </a:solidFill>
                <a:latin typeface="Inter"/>
                <a:ea typeface="Inter"/>
              </a:rPr>
              <a:t>, and can hand similar signals back when the model needs them.</a:t>
            </a:r>
            <a:endParaRPr lang="en-US" sz="1250" noProof="1"/>
          </a:p>
        </p:txBody>
      </p:sp>
      <p:sp>
        <p:nvSpPr>
          <p:cNvPr id="12" name="model-limit"/>
          <p:cNvSpPr txBox="1"/>
          <p:nvPr/>
        </p:nvSpPr>
        <p:spPr>
          <a:xfrm>
            <a:off x="7112000" y="3937000"/>
            <a:ext cx="4267200" cy="1143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The model is not opened up, retrained or replaced — it keeps its weights, tokenizer and usual behaviour.</a:t>
            </a:r>
            <a:endParaRPr lang="en-US" sz="1250" noProof="1"/>
          </a:p>
          <a:p>
            <a:pPr>
              <a:lnSpc>
                <a:spcPct val="150000"/>
              </a:lnSpc>
              <a:spcBef>
                <a:spcPts val="800"/>
              </a:spcBef>
            </a:pPr>
            <a:r>
              <a:rPr lang="en-US" sz="1250" noProof="1">
                <a:solidFill>
                  <a:srgbClr val="6E747B"/>
                </a:solidFill>
                <a:latin typeface="Inter"/>
                <a:ea typeface="Inter"/>
              </a:rPr>
              <a:t>The honest limit: we can only work with the signals the model makes available to us.</a:t>
            </a:r>
            <a:endParaRPr lang="en-US" sz="1250" noProof="1"/>
          </a:p>
        </p:txBody>
      </p:sp>
      <p:sp>
        <p:nvSpPr>
          <p:cNvPr id="13" name="strip-bar"/>
          <p:cNvSpPr/>
          <p:nvPr/>
        </p:nvSpPr>
        <p:spPr>
          <a:xfrm>
            <a:off x="812800" y="5816600"/>
            <a:ext cx="38100" cy="457200"/>
          </a:xfrm>
          <a:prstGeom prst="rect">
            <a:avLst/>
          </a:prstGeom>
          <a:solidFill>
            <a:srgbClr val="C2521E"/>
          </a:solidFill>
          <a:ln>
            <a:noFill/>
          </a:ln>
        </p:spPr>
      </p:sp>
      <p:sp>
        <p:nvSpPr>
          <p:cNvPr id="14" name="strip-text"/>
          <p:cNvSpPr txBox="1"/>
          <p:nvPr/>
        </p:nvSpPr>
        <p:spPr>
          <a:xfrm>
            <a:off x="1016000" y="5816600"/>
            <a:ext cx="10363200" cy="4572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Software already uses this pattern everywhere — small helpers attached to a large program for logging, security checks or monitoring, so the large program never has to be modified.</a:t>
            </a:r>
            <a:endParaRPr lang="en-US" sz="1200" noProof="1"/>
          </a:p>
        </p:txBody>
      </p:sp>
      <p:sp>
        <p:nvSpPr>
          <p:cNvPr id="15"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16"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02</a:t>
            </a:r>
            <a:endParaRPr lang="en-US" sz="900" noProof="1"/>
          </a:p>
        </p:txBody>
      </p:sp>
    </p:spTree>
  </p:cSld>
  <p:clrMapOvr>
    <a:masterClrMapping/>
  </p:clrMapOvr>
</p:sld>
</file>

<file path=ppt/slides/slide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02 · THE DISTINCTION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Context and memory are two different jobs</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col-ctx-head"/>
          <p:cNvSpPr txBox="1"/>
          <p:nvPr/>
        </p:nvSpPr>
        <p:spPr>
          <a:xfrm>
            <a:off x="812800" y="1498600"/>
            <a:ext cx="5080000" cy="254000"/>
          </a:xfrm>
          <a:prstGeom prst="rect">
            <a:avLst/>
          </a:prstGeom>
          <a:noFill/>
          <a:ln>
            <a:noFill/>
          </a:ln>
        </p:spPr>
        <p:txBody>
          <a:bodyPr lIns="0" rIns="0" tIns="0" bIns="0" wrap="none" rtlCol="0"/>
          <a:lstStyle/>
          <a:p>
            <a:pPr>
              <a:lnSpc>
                <a:spcPct val="120000"/>
              </a:lnSpc>
            </a:pPr>
            <a:r>
              <a:rPr lang="en-US" sz="1500" noProof="1" b="1">
                <a:solidFill>
                  <a:srgbClr val="1A1D20"/>
                </a:solidFill>
                <a:latin typeface="Space Grotesk"/>
                <a:ea typeface="Space Grotesk"/>
              </a:rPr>
              <a:t>Context — the working set</a:t>
            </a:r>
            <a:endParaRPr lang="en-US" sz="1500" noProof="1"/>
          </a:p>
        </p:txBody>
      </p:sp>
      <p:sp>
        <p:nvSpPr>
          <p:cNvPr id="6" name="col-ctx-body"/>
          <p:cNvSpPr txBox="1"/>
          <p:nvPr/>
        </p:nvSpPr>
        <p:spPr>
          <a:xfrm>
            <a:off x="812800" y="1828800"/>
            <a:ext cx="5080000" cy="11176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Everything the model can see at the moment it answers: instructions, the conversation so far, retrieved passages, tool output. Re-sent every turn, bounded by the window, gone once the call returns.</a:t>
            </a:r>
            <a:endParaRPr lang="en-US" sz="1200" noProof="1"/>
          </a:p>
        </p:txBody>
      </p:sp>
      <p:sp>
        <p:nvSpPr>
          <p:cNvPr id="7" name="col-mem-head"/>
          <p:cNvSpPr txBox="1"/>
          <p:nvPr/>
        </p:nvSpPr>
        <p:spPr>
          <a:xfrm>
            <a:off x="6299200" y="1498600"/>
            <a:ext cx="5080000" cy="254000"/>
          </a:xfrm>
          <a:prstGeom prst="rect">
            <a:avLst/>
          </a:prstGeom>
          <a:noFill/>
          <a:ln>
            <a:noFill/>
          </a:ln>
        </p:spPr>
        <p:txBody>
          <a:bodyPr lIns="0" rIns="0" tIns="0" bIns="0" wrap="none" rtlCol="0"/>
          <a:lstStyle/>
          <a:p>
            <a:pPr>
              <a:lnSpc>
                <a:spcPct val="120000"/>
              </a:lnSpc>
            </a:pPr>
            <a:r>
              <a:rPr lang="en-US" sz="1500" noProof="1" b="1">
                <a:solidFill>
                  <a:srgbClr val="1E5B4E"/>
                </a:solidFill>
                <a:latin typeface="Space Grotesk"/>
                <a:ea typeface="Space Grotesk"/>
              </a:rPr>
              <a:t>Memory — the durable state</a:t>
            </a:r>
            <a:endParaRPr lang="en-US" sz="1500" noProof="1"/>
          </a:p>
        </p:txBody>
      </p:sp>
      <p:sp>
        <p:nvSpPr>
          <p:cNvPr id="8" name="col-mem-body"/>
          <p:cNvSpPr txBox="1"/>
          <p:nvPr/>
        </p:nvSpPr>
        <p:spPr>
          <a:xfrm>
            <a:off x="6299200" y="1828800"/>
            <a:ext cx="5080000" cy="11176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What a system keeps after the call is over and can find again on purpose: decisions, results, history, structure. It lives outside the model — in a store, an index, a database — and retrieval is the pipe into context.</a:t>
            </a:r>
            <a:endParaRPr lang="en-US" sz="1200" noProof="1"/>
          </a:p>
        </p:txBody>
      </p:sp>
      <p:graphicFrame>
        <p:nvGraphicFramePr>
          <p:cNvPr id="9" name="table"/>
          <p:cNvGraphicFramePr>
            <a:graphicFrameLocks noGrp="1"/>
          </p:cNvGraphicFramePr>
          <p:nvPr/>
        </p:nvGraphicFramePr>
        <p:xfrm>
          <a:off x="812800" y="3098800"/>
          <a:ext cx="10566400" cy="2362200"/>
        </p:xfrm>
        <a:graphic>
          <a:graphicData uri="http://schemas.openxmlformats.org/drawingml/2006/table">
            <a:tbl>
              <a:tblPr/>
              <a:tblGrid>
                <a:gridCol w="1901952"/>
                <a:gridCol w="4332224"/>
                <a:gridCol w="4332224"/>
              </a:tblGrid>
              <a:tr h="377952">
                <a:tc>
                  <a:txBody>
                    <a:bodyPr wrap="square" rtlCol="0" anchor="ctr"/>
                    <a:lstStyle/>
                    <a:p>
                      <a:pPr algn="l"/>
                    </a:p>
                  </a:txBody>
                  <a:tcPr marL="91440" marR="91440" marT="45720" marB="45720" anchor="ctr">
                    <a:lnL>
                      <a:noFill/>
                    </a:lnL>
                    <a:lnR>
                      <a:noFill/>
                    </a:lnR>
                    <a:lnT>
                      <a:noFill/>
                    </a:lnT>
                    <a:lnB w="12700">
                      <a:solidFill>
                        <a:srgbClr val="DCD8CF"/>
                      </a:solidFill>
                    </a:lnB>
                    <a:solidFill>
                      <a:srgbClr val="F1EFE9"/>
                    </a:solidFill>
                  </a:tcPr>
                </a:tc>
                <a:tc>
                  <a:txBody>
                    <a:bodyPr wrap="square" rtlCol="0" anchor="ctr"/>
                    <a:lstStyle/>
                    <a:p>
                      <a:pPr algn="l"/>
                      <a:r>
                        <a:rPr lang="en-US" sz="1000" noProof="1" b="1">
                          <a:solidFill>
                            <a:srgbClr val="6E747B"/>
                          </a:solidFill>
                          <a:latin typeface="JetBrains Mono"/>
                          <a:ea typeface="JetBrains Mono"/>
                        </a:rPr>
                        <a:t>CONTEXT</a:t>
                      </a:r>
                    </a:p>
                  </a:txBody>
                  <a:tcPr marL="91440" marR="91440" marT="45720" marB="45720" anchor="ctr">
                    <a:lnL>
                      <a:noFill/>
                    </a:lnL>
                    <a:lnR>
                      <a:noFill/>
                    </a:lnR>
                    <a:lnT>
                      <a:noFill/>
                    </a:lnT>
                    <a:lnB w="12700">
                      <a:solidFill>
                        <a:srgbClr val="DCD8CF"/>
                      </a:solidFill>
                    </a:lnB>
                    <a:solidFill>
                      <a:srgbClr val="F1EFE9"/>
                    </a:solidFill>
                  </a:tcPr>
                </a:tc>
                <a:tc>
                  <a:txBody>
                    <a:bodyPr wrap="square" rtlCol="0" anchor="ctr"/>
                    <a:lstStyle/>
                    <a:p>
                      <a:pPr algn="l"/>
                      <a:r>
                        <a:rPr lang="en-US" sz="1000" noProof="1" b="1">
                          <a:solidFill>
                            <a:srgbClr val="6E747B"/>
                          </a:solidFill>
                          <a:latin typeface="JetBrains Mono"/>
                          <a:ea typeface="JetBrains Mono"/>
                        </a:rPr>
                        <a:t>MEMORY</a:t>
                      </a:r>
                    </a:p>
                  </a:txBody>
                  <a:tcPr marL="91440" marR="91440" marT="45720" marB="45720" anchor="ctr">
                    <a:lnL>
                      <a:noFill/>
                    </a:lnL>
                    <a:lnR>
                      <a:noFill/>
                    </a:lnR>
                    <a:lnT>
                      <a:noFill/>
                    </a:lnT>
                    <a:lnB w="12700">
                      <a:solidFill>
                        <a:srgbClr val="DCD8CF"/>
                      </a:solidFill>
                    </a:lnB>
                    <a:solidFill>
                      <a:srgbClr val="F1EFE9"/>
                    </a:solidFill>
                  </a:tcPr>
                </a:tc>
              </a:tr>
              <a:tr h="396850">
                <a:tc>
                  <a:txBody>
                    <a:bodyPr wrap="square" rtlCol="0" anchor="ctr"/>
                    <a:lstStyle/>
                    <a:p>
                      <a:pPr algn="l"/>
                      <a:r>
                        <a:rPr lang="en-US" sz="1050" noProof="1" b="1">
                          <a:solidFill>
                            <a:srgbClr val="6E747B"/>
                          </a:solidFill>
                          <a:latin typeface="Inter"/>
                          <a:ea typeface="Inter"/>
                        </a:rPr>
                        <a:t>What it is</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The working set visible in a single call</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State that survives between calls, addressable later</a:t>
                      </a:r>
                    </a:p>
                  </a:txBody>
                  <a:tcPr marL="91440" marR="91440" marT="45720" marB="45720" anchor="ctr">
                    <a:lnL>
                      <a:noFill/>
                    </a:lnL>
                    <a:lnR>
                      <a:noFill/>
                    </a:lnR>
                    <a:lnT>
                      <a:noFill/>
                    </a:lnT>
                    <a:lnB w="12700">
                      <a:solidFill>
                        <a:srgbClr val="DCD8CF"/>
                      </a:solidFill>
                    </a:lnB>
                    <a:noFill/>
                  </a:tcPr>
                </a:tc>
              </a:tr>
              <a:tr h="396850">
                <a:tc>
                  <a:txBody>
                    <a:bodyPr wrap="square" rtlCol="0" anchor="ctr"/>
                    <a:lstStyle/>
                    <a:p>
                      <a:pPr algn="l"/>
                      <a:r>
                        <a:rPr lang="en-US" sz="1050" noProof="1" b="1">
                          <a:solidFill>
                            <a:srgbClr val="6E747B"/>
                          </a:solidFill>
                          <a:latin typeface="Inter"/>
                          <a:ea typeface="Inter"/>
                        </a:rPr>
                        <a:t>Lifetime</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The length of the call</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Until something explicitly removes it</a:t>
                      </a:r>
                    </a:p>
                  </a:txBody>
                  <a:tcPr marL="91440" marR="91440" marT="45720" marB="45720" anchor="ctr">
                    <a:lnL>
                      <a:noFill/>
                    </a:lnL>
                    <a:lnR>
                      <a:noFill/>
                    </a:lnR>
                    <a:lnT>
                      <a:noFill/>
                    </a:lnT>
                    <a:lnB w="12700">
                      <a:solidFill>
                        <a:srgbClr val="DCD8CF"/>
                      </a:solidFill>
                    </a:lnB>
                    <a:noFill/>
                  </a:tcPr>
                </a:tc>
              </a:tr>
              <a:tr h="396850">
                <a:tc>
                  <a:txBody>
                    <a:bodyPr wrap="square" rtlCol="0" anchor="ctr"/>
                    <a:lstStyle/>
                    <a:p>
                      <a:pPr algn="l"/>
                      <a:r>
                        <a:rPr lang="en-US" sz="1050" noProof="1" b="1">
                          <a:solidFill>
                            <a:srgbClr val="6E747B"/>
                          </a:solidFill>
                          <a:latin typeface="Inter"/>
                          <a:ea typeface="Inter"/>
                        </a:rPr>
                        <a:t>What limits it</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The context window</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Whatever your storage can hold</a:t>
                      </a:r>
                    </a:p>
                  </a:txBody>
                  <a:tcPr marL="91440" marR="91440" marT="45720" marB="45720" anchor="ctr">
                    <a:lnL>
                      <a:noFill/>
                    </a:lnL>
                    <a:lnR>
                      <a:noFill/>
                    </a:lnR>
                    <a:lnT>
                      <a:noFill/>
                    </a:lnT>
                    <a:lnB w="12700">
                      <a:solidFill>
                        <a:srgbClr val="DCD8CF"/>
                      </a:solidFill>
                    </a:lnB>
                    <a:noFill/>
                  </a:tcPr>
                </a:tc>
              </a:tr>
              <a:tr h="396850">
                <a:tc>
                  <a:txBody>
                    <a:bodyPr wrap="square" rtlCol="0" anchor="ctr"/>
                    <a:lstStyle/>
                    <a:p>
                      <a:pPr algn="l"/>
                      <a:r>
                        <a:rPr lang="en-US" sz="1050" noProof="1" b="1">
                          <a:solidFill>
                            <a:srgbClr val="6E747B"/>
                          </a:solidFill>
                          <a:latin typeface="Inter"/>
                          <a:ea typeface="Inter"/>
                        </a:rPr>
                        <a:t>Cost behaviour</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Re-sent, and re-priced, on every turn</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Read when it is needed</a:t>
                      </a:r>
                    </a:p>
                  </a:txBody>
                  <a:tcPr marL="91440" marR="91440" marT="45720" marB="45720" anchor="ctr">
                    <a:lnL>
                      <a:noFill/>
                    </a:lnL>
                    <a:lnR>
                      <a:noFill/>
                    </a:lnR>
                    <a:lnT>
                      <a:noFill/>
                    </a:lnT>
                    <a:lnB w="12700">
                      <a:solidFill>
                        <a:srgbClr val="DCD8CF"/>
                      </a:solidFill>
                    </a:lnB>
                    <a:noFill/>
                  </a:tcPr>
                </a:tc>
              </a:tr>
              <a:tr h="396850">
                <a:tc>
                  <a:txBody>
                    <a:bodyPr wrap="square" rtlCol="0" anchor="ctr"/>
                    <a:lstStyle/>
                    <a:p>
                      <a:pPr algn="l"/>
                      <a:r>
                        <a:rPr lang="en-US" sz="1050" noProof="1" b="1">
                          <a:solidFill>
                            <a:srgbClr val="6E747B"/>
                          </a:solidFill>
                          <a:latin typeface="Inter"/>
                          <a:ea typeface="Inter"/>
                        </a:rPr>
                        <a:t>How you check it</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You can inspect what you sent</a:t>
                      </a:r>
                    </a:p>
                  </a:txBody>
                  <a:tcPr marL="91440" marR="91440" marT="45720" marB="45720" anchor="ctr">
                    <a:lnL>
                      <a:noFill/>
                    </a:lnL>
                    <a:lnR>
                      <a:noFill/>
                    </a:lnR>
                    <a:lnT>
                      <a:noFill/>
                    </a:lnT>
                    <a:lnB w="12700">
                      <a:solidFill>
                        <a:srgbClr val="DCD8CF"/>
                      </a:solidFill>
                    </a:lnB>
                    <a:noFill/>
                  </a:tcPr>
                </a:tc>
                <a:tc>
                  <a:txBody>
                    <a:bodyPr wrap="square" rtlCol="0" anchor="ctr"/>
                    <a:lstStyle/>
                    <a:p>
                      <a:pPr algn="l"/>
                      <a:r>
                        <a:rPr lang="en-US" sz="1050" noProof="1">
                          <a:solidFill>
                            <a:srgbClr val="1A1D20"/>
                          </a:solidFill>
                          <a:latin typeface="Inter"/>
                          <a:ea typeface="Inter"/>
                        </a:rPr>
                        <a:t>Only if the store itself is checkable</a:t>
                      </a:r>
                    </a:p>
                  </a:txBody>
                  <a:tcPr marL="91440" marR="91440" marT="45720" marB="45720" anchor="ctr">
                    <a:lnL>
                      <a:noFill/>
                    </a:lnL>
                    <a:lnR>
                      <a:noFill/>
                    </a:lnR>
                    <a:lnT>
                      <a:noFill/>
                    </a:lnT>
                    <a:lnB w="12700">
                      <a:solidFill>
                        <a:srgbClr val="DCD8CF"/>
                      </a:solidFill>
                    </a:lnB>
                    <a:noFill/>
                  </a:tcPr>
                </a:tc>
              </a:tr>
            </a:tbl>
          </a:graphicData>
        </a:graphic>
      </p:graphicFrame>
      <p:sp>
        <p:nvSpPr>
          <p:cNvPr id="10" name="strip-bar"/>
          <p:cNvSpPr/>
          <p:nvPr/>
        </p:nvSpPr>
        <p:spPr>
          <a:xfrm>
            <a:off x="812800" y="5689600"/>
            <a:ext cx="38100" cy="508000"/>
          </a:xfrm>
          <a:prstGeom prst="rect">
            <a:avLst/>
          </a:prstGeom>
          <a:solidFill>
            <a:srgbClr val="C2521E"/>
          </a:solidFill>
          <a:ln>
            <a:noFill/>
          </a:ln>
        </p:spPr>
      </p:sp>
      <p:sp>
        <p:nvSpPr>
          <p:cNvPr id="11" name="strip-text"/>
          <p:cNvSpPr txBox="1"/>
          <p:nvPr/>
        </p:nvSpPr>
        <p:spPr>
          <a:xfrm>
            <a:off x="1016000" y="5689600"/>
            <a:ext cx="10363200" cy="5080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The pipeline is </a:t>
            </a:r>
            <a:r>
              <a:rPr lang="en-US" sz="1200" noProof="1" b="1">
                <a:solidFill>
                  <a:srgbClr val="1A1D20"/>
                </a:solidFill>
                <a:latin typeface="Inter"/>
                <a:ea typeface="Inter"/>
              </a:rPr>
              <a:t>memory → retrieval → context</a:t>
            </a:r>
            <a:r>
              <a:rPr lang="en-US" sz="1200" noProof="1">
                <a:solidFill>
                  <a:srgbClr val="1A1D20"/>
                </a:solidFill>
                <a:latin typeface="Inter"/>
                <a:ea typeface="Inter"/>
              </a:rPr>
              <a:t>. A system can have a very large window and still have no memory — and adding retrieval does not by itself produce a memory you can audit.</a:t>
            </a:r>
            <a:endParaRPr lang="en-US" sz="1200" noProof="1"/>
          </a:p>
        </p:txBody>
      </p:sp>
      <p:sp>
        <p:nvSpPr>
          <p:cNvPr id="12"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13"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03</a:t>
            </a:r>
            <a:endParaRPr lang="en-US" sz="900" noProof="1"/>
          </a:p>
        </p:txBody>
      </p:sp>
    </p:spTree>
  </p:cSld>
  <p:clrMapOvr>
    <a:masterClrMapping/>
  </p:clrMapOvr>
</p:sld>
</file>

<file path=ppt/slides/slide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03 · THE GAP</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The missing piece is memory, not intelligence</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g1-num"/>
          <p:cNvSpPr txBox="1"/>
          <p:nvPr/>
        </p:nvSpPr>
        <p:spPr>
          <a:xfrm>
            <a:off x="812800" y="1524000"/>
            <a:ext cx="558800" cy="381000"/>
          </a:xfrm>
          <a:prstGeom prst="rect">
            <a:avLst/>
          </a:prstGeom>
          <a:noFill/>
          <a:ln>
            <a:noFill/>
          </a:ln>
        </p:spPr>
        <p:txBody>
          <a:bodyPr lIns="0" rIns="0" tIns="0" bIns="0" wrap="none" rtlCol="0"/>
          <a:lstStyle/>
          <a:p>
            <a:pPr>
              <a:lnSpc>
                <a:spcPct val="120000"/>
              </a:lnSpc>
            </a:pPr>
            <a:r>
              <a:rPr lang="en-US" sz="2200" noProof="1" b="1">
                <a:solidFill>
                  <a:srgbClr val="C2521E"/>
                </a:solidFill>
                <a:latin typeface="JetBrains Mono"/>
                <a:ea typeface="JetBrains Mono"/>
              </a:rPr>
              <a:t>1</a:t>
            </a:r>
            <a:endParaRPr lang="en-US" sz="2200" noProof="1"/>
          </a:p>
        </p:txBody>
      </p:sp>
      <p:sp>
        <p:nvSpPr>
          <p:cNvPr id="6" name="g1-name"/>
          <p:cNvSpPr txBox="1"/>
          <p:nvPr/>
        </p:nvSpPr>
        <p:spPr>
          <a:xfrm>
            <a:off x="1524000" y="1549400"/>
            <a:ext cx="5080000" cy="254000"/>
          </a:xfrm>
          <a:prstGeom prst="rect">
            <a:avLst/>
          </a:prstGeom>
          <a:noFill/>
          <a:ln>
            <a:noFill/>
          </a:ln>
        </p:spPr>
        <p:txBody>
          <a:bodyPr lIns="0" rIns="0" tIns="0" bIns="0" wrap="none" rtlCol="0"/>
          <a:lstStyle/>
          <a:p>
            <a:pPr>
              <a:lnSpc>
                <a:spcPct val="120000"/>
              </a:lnSpc>
            </a:pPr>
            <a:r>
              <a:rPr lang="en-US" sz="1500" noProof="1" b="1">
                <a:solidFill>
                  <a:srgbClr val="1A1D20"/>
                </a:solidFill>
                <a:latin typeface="Space Grotesk"/>
                <a:ea typeface="Space Grotesk"/>
              </a:rPr>
              <a:t>Bounded working context</a:t>
            </a:r>
            <a:endParaRPr lang="en-US" sz="1500" noProof="1"/>
          </a:p>
        </p:txBody>
      </p:sp>
      <p:sp>
        <p:nvSpPr>
          <p:cNvPr id="7" name="g1-body"/>
          <p:cNvSpPr txBox="1"/>
          <p:nvPr/>
        </p:nvSpPr>
        <p:spPr>
          <a:xfrm>
            <a:off x="1524000" y="1854200"/>
            <a:ext cx="9855200" cy="6604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Reasoning quality is capped by what fits in one window. Everything relevant must be re-sent every turn, so cost and latency scale with it. When the window fills, something is dropped — heuristically, not structurally — and the model cannot tell you what it lost.</a:t>
            </a:r>
            <a:endParaRPr lang="en-US" sz="1200" noProof="1"/>
          </a:p>
        </p:txBody>
      </p:sp>
      <p:sp>
        <p:nvSpPr>
          <p:cNvPr id="8" name="rule-g1"/>
          <p:cNvSpPr/>
          <p:nvPr/>
        </p:nvSpPr>
        <p:spPr>
          <a:xfrm>
            <a:off x="1524000" y="2667000"/>
            <a:ext cx="9855200" cy="12700"/>
          </a:xfrm>
          <a:prstGeom prst="rect">
            <a:avLst/>
          </a:prstGeom>
          <a:solidFill>
            <a:srgbClr val="DCD8CF"/>
          </a:solidFill>
          <a:ln>
            <a:noFill/>
          </a:ln>
        </p:spPr>
      </p:sp>
      <p:sp>
        <p:nvSpPr>
          <p:cNvPr id="9" name="g2-num"/>
          <p:cNvSpPr txBox="1"/>
          <p:nvPr/>
        </p:nvSpPr>
        <p:spPr>
          <a:xfrm>
            <a:off x="812800" y="2844800"/>
            <a:ext cx="558800" cy="381000"/>
          </a:xfrm>
          <a:prstGeom prst="rect">
            <a:avLst/>
          </a:prstGeom>
          <a:noFill/>
          <a:ln>
            <a:noFill/>
          </a:ln>
        </p:spPr>
        <p:txBody>
          <a:bodyPr lIns="0" rIns="0" tIns="0" bIns="0" wrap="none" rtlCol="0"/>
          <a:lstStyle/>
          <a:p>
            <a:pPr>
              <a:lnSpc>
                <a:spcPct val="120000"/>
              </a:lnSpc>
            </a:pPr>
            <a:r>
              <a:rPr lang="en-US" sz="2200" noProof="1" b="1">
                <a:solidFill>
                  <a:srgbClr val="C2521E"/>
                </a:solidFill>
                <a:latin typeface="JetBrains Mono"/>
                <a:ea typeface="JetBrains Mono"/>
              </a:rPr>
              <a:t>2</a:t>
            </a:r>
            <a:endParaRPr lang="en-US" sz="2200" noProof="1"/>
          </a:p>
        </p:txBody>
      </p:sp>
      <p:sp>
        <p:nvSpPr>
          <p:cNvPr id="10" name="g2-name"/>
          <p:cNvSpPr txBox="1"/>
          <p:nvPr/>
        </p:nvSpPr>
        <p:spPr>
          <a:xfrm>
            <a:off x="1524000" y="2870200"/>
            <a:ext cx="5080000" cy="254000"/>
          </a:xfrm>
          <a:prstGeom prst="rect">
            <a:avLst/>
          </a:prstGeom>
          <a:noFill/>
          <a:ln>
            <a:noFill/>
          </a:ln>
        </p:spPr>
        <p:txBody>
          <a:bodyPr lIns="0" rIns="0" tIns="0" bIns="0" wrap="none" rtlCol="0"/>
          <a:lstStyle/>
          <a:p>
            <a:pPr>
              <a:lnSpc>
                <a:spcPct val="120000"/>
              </a:lnSpc>
            </a:pPr>
            <a:r>
              <a:rPr lang="en-US" sz="1500" noProof="1" b="1">
                <a:solidFill>
                  <a:srgbClr val="1A1D20"/>
                </a:solidFill>
                <a:latin typeface="Space Grotesk"/>
                <a:ea typeface="Space Grotesk"/>
              </a:rPr>
              <a:t>Lossy, unstructured history</a:t>
            </a:r>
            <a:endParaRPr lang="en-US" sz="1500" noProof="1"/>
          </a:p>
        </p:txBody>
      </p:sp>
      <p:sp>
        <p:nvSpPr>
          <p:cNvPr id="11" name="g2-body"/>
          <p:cNvSpPr txBox="1"/>
          <p:nvPr/>
        </p:nvSpPr>
        <p:spPr>
          <a:xfrm>
            <a:off x="1524000" y="3175000"/>
            <a:ext cx="9855200" cy="6604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Long-term memory arrives as summaries, notes or retrieved chunks. Summarization discards structure — counts, overlaps and novelty vanish. Retrieval is similarity, not position in a lattice, so there is no guarantee of coverage.</a:t>
            </a:r>
            <a:endParaRPr lang="en-US" sz="1200" noProof="1"/>
          </a:p>
        </p:txBody>
      </p:sp>
      <p:sp>
        <p:nvSpPr>
          <p:cNvPr id="12" name="rule-g2"/>
          <p:cNvSpPr/>
          <p:nvPr/>
        </p:nvSpPr>
        <p:spPr>
          <a:xfrm>
            <a:off x="1524000" y="3987800"/>
            <a:ext cx="9855200" cy="12700"/>
          </a:xfrm>
          <a:prstGeom prst="rect">
            <a:avLst/>
          </a:prstGeom>
          <a:solidFill>
            <a:srgbClr val="DCD8CF"/>
          </a:solidFill>
          <a:ln>
            <a:noFill/>
          </a:ln>
        </p:spPr>
      </p:sp>
      <p:sp>
        <p:nvSpPr>
          <p:cNvPr id="13" name="g3-num"/>
          <p:cNvSpPr txBox="1"/>
          <p:nvPr/>
        </p:nvSpPr>
        <p:spPr>
          <a:xfrm>
            <a:off x="812800" y="4165600"/>
            <a:ext cx="558800" cy="381000"/>
          </a:xfrm>
          <a:prstGeom prst="rect">
            <a:avLst/>
          </a:prstGeom>
          <a:noFill/>
          <a:ln>
            <a:noFill/>
          </a:ln>
        </p:spPr>
        <p:txBody>
          <a:bodyPr lIns="0" rIns="0" tIns="0" bIns="0" wrap="none" rtlCol="0"/>
          <a:lstStyle/>
          <a:p>
            <a:pPr>
              <a:lnSpc>
                <a:spcPct val="120000"/>
              </a:lnSpc>
            </a:pPr>
            <a:r>
              <a:rPr lang="en-US" sz="2200" noProof="1" b="1">
                <a:solidFill>
                  <a:srgbClr val="C2521E"/>
                </a:solidFill>
                <a:latin typeface="JetBrains Mono"/>
                <a:ea typeface="JetBrains Mono"/>
              </a:rPr>
              <a:t>3</a:t>
            </a:r>
            <a:endParaRPr lang="en-US" sz="2200" noProof="1"/>
          </a:p>
        </p:txBody>
      </p:sp>
      <p:sp>
        <p:nvSpPr>
          <p:cNvPr id="14" name="g3-name"/>
          <p:cNvSpPr txBox="1"/>
          <p:nvPr/>
        </p:nvSpPr>
        <p:spPr>
          <a:xfrm>
            <a:off x="1524000" y="4191000"/>
            <a:ext cx="5080000" cy="254000"/>
          </a:xfrm>
          <a:prstGeom prst="rect">
            <a:avLst/>
          </a:prstGeom>
          <a:noFill/>
          <a:ln>
            <a:noFill/>
          </a:ln>
        </p:spPr>
        <p:txBody>
          <a:bodyPr lIns="0" rIns="0" tIns="0" bIns="0" wrap="none" rtlCol="0"/>
          <a:lstStyle/>
          <a:p>
            <a:pPr>
              <a:lnSpc>
                <a:spcPct val="120000"/>
              </a:lnSpc>
            </a:pPr>
            <a:r>
              <a:rPr lang="en-US" sz="1500" noProof="1" b="1">
                <a:solidFill>
                  <a:srgbClr val="1A1D20"/>
                </a:solidFill>
                <a:latin typeface="Space Grotesk"/>
                <a:ea typeface="Space Grotesk"/>
              </a:rPr>
              <a:t>No structural view at all</a:t>
            </a:r>
            <a:endParaRPr lang="en-US" sz="1500" noProof="1"/>
          </a:p>
        </p:txBody>
      </p:sp>
      <p:sp>
        <p:nvSpPr>
          <p:cNvPr id="15" name="g3-body"/>
          <p:cNvSpPr txBox="1"/>
          <p:nvPr/>
        </p:nvSpPr>
        <p:spPr>
          <a:xfrm>
            <a:off x="1524000" y="4495800"/>
            <a:ext cx="9855200" cy="6604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You cannot ask a model's own output what is new, what is retained and what departed. There is no algebra over model state — only text diffs and embeddings. Nothing is content-addressed, so nothing is independently verifiable.</a:t>
            </a:r>
            <a:endParaRPr lang="en-US" sz="1200" noProof="1"/>
          </a:p>
        </p:txBody>
      </p:sp>
      <p:sp>
        <p:nvSpPr>
          <p:cNvPr id="16" name="rule-g3"/>
          <p:cNvSpPr/>
          <p:nvPr/>
        </p:nvSpPr>
        <p:spPr>
          <a:xfrm>
            <a:off x="1524000" y="5308600"/>
            <a:ext cx="9855200" cy="12700"/>
          </a:xfrm>
          <a:prstGeom prst="rect">
            <a:avLst/>
          </a:prstGeom>
          <a:solidFill>
            <a:srgbClr val="DCD8CF"/>
          </a:solidFill>
          <a:ln>
            <a:noFill/>
          </a:ln>
        </p:spPr>
      </p:sp>
      <p:sp>
        <p:nvSpPr>
          <p:cNvPr id="17" name="strip-bar"/>
          <p:cNvSpPr/>
          <p:nvPr/>
        </p:nvSpPr>
        <p:spPr>
          <a:xfrm>
            <a:off x="812800" y="5588000"/>
            <a:ext cx="38100" cy="609600"/>
          </a:xfrm>
          <a:prstGeom prst="rect">
            <a:avLst/>
          </a:prstGeom>
          <a:solidFill>
            <a:srgbClr val="1E5B4E"/>
          </a:solidFill>
          <a:ln>
            <a:noFill/>
          </a:ln>
        </p:spPr>
      </p:sp>
      <p:sp>
        <p:nvSpPr>
          <p:cNvPr id="18" name="strip-text"/>
          <p:cNvSpPr txBox="1"/>
          <p:nvPr/>
        </p:nvSpPr>
        <p:spPr>
          <a:xfrm>
            <a:off x="1016000" y="5588000"/>
            <a:ext cx="10363200" cy="609600"/>
          </a:xfrm>
          <a:prstGeom prst="rect">
            <a:avLst/>
          </a:prstGeom>
          <a:noFill/>
          <a:ln>
            <a:noFill/>
          </a:ln>
        </p:spPr>
        <p:txBody>
          <a:bodyPr lIns="0" rIns="0" tIns="0" bIns="0" wrap="square" rtlCol="0" anchor="ctr"/>
          <a:lstStyle/>
          <a:p>
            <a:pPr algn="l">
              <a:lnSpc>
                <a:spcPct val="150000"/>
              </a:lnSpc>
            </a:pPr>
            <a:r>
              <a:rPr lang="en-US" sz="1200" noProof="1" b="1">
                <a:solidFill>
                  <a:srgbClr val="1A1D20"/>
                </a:solidFill>
                <a:latin typeface="Inter"/>
                <a:ea typeface="Inter"/>
              </a:rPr>
              <a:t>How the side-car relates to all three:</a:t>
            </a:r>
            <a:r>
              <a:rPr lang="en-US" sz="1200" noProof="1">
                <a:solidFill>
                  <a:srgbClr val="1A1D20"/>
                </a:solidFill>
                <a:latin typeface="Inter"/>
                <a:ea typeface="Inter"/>
              </a:rPr>
              <a:t> it does not remove the window, and it does not replace retrieval or summaries. It adds a structural state beside them — the model keeps reasoning exactly as it does today, and gains a record of what it retained, what departed and what is new.</a:t>
            </a:r>
            <a:endParaRPr lang="en-US" sz="1200" noProof="1"/>
          </a:p>
        </p:txBody>
      </p:sp>
      <p:sp>
        <p:nvSpPr>
          <p:cNvPr id="19"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0"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04</a:t>
            </a:r>
            <a:endParaRPr lang="en-US" sz="900" noProof="1"/>
          </a:p>
        </p:txBody>
      </p:sp>
    </p:spTree>
  </p:cSld>
  <p:clrMapOvr>
    <a:masterClrMapping/>
  </p:clrMapOvr>
</p:sld>
</file>

<file path=ppt/slides/slide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04 · POSITIONING</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Where EWM sits in the world-model movement</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intro"/>
          <p:cNvSpPr txBox="1"/>
          <p:nvPr/>
        </p:nvSpPr>
        <p:spPr>
          <a:xfrm>
            <a:off x="812800" y="1524000"/>
            <a:ext cx="10566400" cy="7112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World models are a bet much of the field is making — that a system should carry an internal, predictive model of its world, not only a larger next-token predictor. Latent predictive architectures such as JEPA, learned simulators and generative video models are all part of that programme, advanced by far more groups than ours. </a:t>
            </a:r>
            <a:r>
              <a:rPr lang="en-US" sz="1250" noProof="1" b="1">
                <a:solidFill>
                  <a:srgbClr val="1A1D20"/>
                </a:solidFill>
                <a:latin typeface="Inter"/>
                <a:ea typeface="Inter"/>
              </a:rPr>
              <a:t>We do not claim the thesis. We contribute one part of it: the memory.</a:t>
            </a:r>
            <a:endParaRPr lang="en-US" sz="1250" noProof="1"/>
          </a:p>
        </p:txBody>
      </p:sp>
      <p:sp>
        <p:nvSpPr>
          <p:cNvPr id="6" name="p1-head"/>
          <p:cNvSpPr txBox="1"/>
          <p:nvPr/>
        </p:nvSpPr>
        <p:spPr>
          <a:xfrm>
            <a:off x="812800" y="2489200"/>
            <a:ext cx="5283200" cy="254000"/>
          </a:xfrm>
          <a:prstGeom prst="rect">
            <a:avLst/>
          </a:prstGeom>
          <a:noFill/>
          <a:ln>
            <a:noFill/>
          </a:ln>
        </p:spPr>
        <p:txBody>
          <a:bodyPr lIns="0" rIns="0" tIns="0" bIns="0" wrap="none" rtlCol="0"/>
          <a:lstStyle/>
          <a:p>
            <a:pPr>
              <a:lnSpc>
                <a:spcPct val="120000"/>
              </a:lnSpc>
            </a:pPr>
            <a:r>
              <a:rPr lang="en-US" sz="1400" noProof="1" b="1">
                <a:solidFill>
                  <a:srgbClr val="1E5B4E"/>
                </a:solidFill>
                <a:latin typeface="Space Grotesk"/>
                <a:ea typeface="Space Grotesk"/>
              </a:rPr>
              <a:t>A shared programme, not a contested one</a:t>
            </a:r>
            <a:endParaRPr lang="en-US" sz="1400" noProof="1"/>
          </a:p>
        </p:txBody>
      </p:sp>
      <p:sp>
        <p:nvSpPr>
          <p:cNvPr id="7" name="p1-body"/>
          <p:cNvSpPr txBox="1"/>
          <p:nvPr/>
        </p:nvSpPr>
        <p:spPr>
          <a:xfrm>
            <a:off x="812800" y="2819400"/>
            <a:ext cx="5283200" cy="10160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We treat the wider world-model work as the ground EWM grows in. Our papers, vocabulary and guarantees are meant to sit alongside it — a layer other groups can use, including teams building predictive encoders and latent state models.</a:t>
            </a:r>
            <a:endParaRPr lang="en-US" sz="1200" noProof="1"/>
          </a:p>
        </p:txBody>
      </p:sp>
      <p:sp>
        <p:nvSpPr>
          <p:cNvPr id="8" name="p2-head"/>
          <p:cNvSpPr txBox="1"/>
          <p:nvPr/>
        </p:nvSpPr>
        <p:spPr>
          <a:xfrm>
            <a:off x="6502400" y="2489200"/>
            <a:ext cx="4876800" cy="254000"/>
          </a:xfrm>
          <a:prstGeom prst="rect">
            <a:avLst/>
          </a:prstGeom>
          <a:noFill/>
          <a:ln>
            <a:noFill/>
          </a:ln>
        </p:spPr>
        <p:txBody>
          <a:bodyPr lIns="0" rIns="0" tIns="0" bIns="0" wrap="none" rtlCol="0"/>
          <a:lstStyle/>
          <a:p>
            <a:pPr>
              <a:lnSpc>
                <a:spcPct val="120000"/>
              </a:lnSpc>
            </a:pPr>
            <a:r>
              <a:rPr lang="en-US" sz="1400" noProof="1" b="1">
                <a:solidFill>
                  <a:srgbClr val="1E5B4E"/>
                </a:solidFill>
                <a:latin typeface="Space Grotesk"/>
                <a:ea typeface="Space Grotesk"/>
              </a:rPr>
              <a:t>We add to your model, we do not replace it</a:t>
            </a:r>
            <a:endParaRPr lang="en-US" sz="1400" noProof="1"/>
          </a:p>
        </p:txBody>
      </p:sp>
      <p:sp>
        <p:nvSpPr>
          <p:cNvPr id="9" name="p2-body"/>
          <p:cNvSpPr txBox="1"/>
          <p:nvPr/>
        </p:nvSpPr>
        <p:spPr>
          <a:xfrm>
            <a:off x="6502400" y="2819400"/>
            <a:ext cx="4876800" cy="10160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The side-car reads the host's own internal encodings, keeps state outside the model and hands encodings back. Weights, tokenizer, prompts and APIs are untouched — adopting the memory never means retiring the model.</a:t>
            </a:r>
            <a:endParaRPr lang="en-US" sz="1200" noProof="1"/>
          </a:p>
        </p:txBody>
      </p:sp>
      <p:sp>
        <p:nvSpPr>
          <p:cNvPr id="10" name="p3-head"/>
          <p:cNvSpPr txBox="1"/>
          <p:nvPr/>
        </p:nvSpPr>
        <p:spPr>
          <a:xfrm>
            <a:off x="812800" y="4038600"/>
            <a:ext cx="5283200" cy="254000"/>
          </a:xfrm>
          <a:prstGeom prst="rect">
            <a:avLst/>
          </a:prstGeom>
          <a:noFill/>
          <a:ln>
            <a:noFill/>
          </a:ln>
        </p:spPr>
        <p:txBody>
          <a:bodyPr lIns="0" rIns="0" tIns="0" bIns="0" wrap="none" rtlCol="0"/>
          <a:lstStyle/>
          <a:p>
            <a:pPr>
              <a:lnSpc>
                <a:spcPct val="120000"/>
              </a:lnSpc>
            </a:pPr>
            <a:r>
              <a:rPr lang="en-US" sz="1400" noProof="1" b="1">
                <a:solidFill>
                  <a:srgbClr val="1E5B4E"/>
                </a:solidFill>
                <a:latin typeface="Space Grotesk"/>
                <a:ea typeface="Space Grotesk"/>
              </a:rPr>
              <a:t>Model-agnostic on purpose</a:t>
            </a:r>
            <a:endParaRPr lang="en-US" sz="1400" noProof="1"/>
          </a:p>
        </p:txBody>
      </p:sp>
      <p:sp>
        <p:nvSpPr>
          <p:cNvPr id="11" name="p3-body"/>
          <p:cNvSpPr txBox="1"/>
          <p:nvPr/>
        </p:nvSpPr>
        <p:spPr>
          <a:xfrm>
            <a:off x="812800" y="4368800"/>
            <a:ext cx="5283200" cy="10160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Because EWM works at the measurement level, one lattice spans model families and modalities: a JEPA-style predictive encoder, a vision stack, an OCR model or a driving policy. The memory travels; the model stays where it is.</a:t>
            </a:r>
            <a:endParaRPr lang="en-US" sz="1200" noProof="1"/>
          </a:p>
        </p:txBody>
      </p:sp>
      <p:sp>
        <p:nvSpPr>
          <p:cNvPr id="12" name="p4-head"/>
          <p:cNvSpPr txBox="1"/>
          <p:nvPr/>
        </p:nvSpPr>
        <p:spPr>
          <a:xfrm>
            <a:off x="6502400" y="4038600"/>
            <a:ext cx="4876800" cy="254000"/>
          </a:xfrm>
          <a:prstGeom prst="rect">
            <a:avLst/>
          </a:prstGeom>
          <a:noFill/>
          <a:ln>
            <a:noFill/>
          </a:ln>
        </p:spPr>
        <p:txBody>
          <a:bodyPr lIns="0" rIns="0" tIns="0" bIns="0" wrap="none" rtlCol="0"/>
          <a:lstStyle/>
          <a:p>
            <a:pPr>
              <a:lnSpc>
                <a:spcPct val="120000"/>
              </a:lnSpc>
            </a:pPr>
            <a:r>
              <a:rPr lang="en-US" sz="1400" noProof="1" b="1">
                <a:solidFill>
                  <a:srgbClr val="C2521E"/>
                </a:solidFill>
                <a:latin typeface="Space Grotesk"/>
                <a:ea typeface="Space Grotesk"/>
              </a:rPr>
              <a:t>What we do claim</a:t>
            </a:r>
            <a:endParaRPr lang="en-US" sz="1400" noProof="1"/>
          </a:p>
        </p:txBody>
      </p:sp>
      <p:sp>
        <p:nvSpPr>
          <p:cNvPr id="13" name="p4-body"/>
          <p:cNvSpPr txBox="1"/>
          <p:nvPr/>
        </p:nvSpPr>
        <p:spPr>
          <a:xfrm>
            <a:off x="6502400" y="4368800"/>
            <a:ext cx="4876800" cy="10160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That a memory layer beside a model can be </a:t>
            </a:r>
            <a:r>
              <a:rPr lang="en-US" sz="1200" noProof="1" b="1">
                <a:solidFill>
                  <a:srgbClr val="1A1D20"/>
                </a:solidFill>
                <a:latin typeface="Inter"/>
                <a:ea typeface="Inter"/>
              </a:rPr>
              <a:t>measured, verified and carried across models</a:t>
            </a:r>
            <a:r>
              <a:rPr lang="en-US" sz="1200" noProof="1">
                <a:solidFill>
                  <a:srgbClr val="1A1D20"/>
                </a:solidFill>
                <a:latin typeface="Inter"/>
                <a:ea typeface="Inter"/>
              </a:rPr>
              <a:t> — with no change to the model itself. A deliberately narrow claim, and the evidence for it is published in full.</a:t>
            </a:r>
            <a:endParaRPr lang="en-US" sz="1200" noProof="1"/>
          </a:p>
        </p:txBody>
      </p:sp>
      <p:sp>
        <p:nvSpPr>
          <p:cNvPr id="14" name="strip-bar"/>
          <p:cNvSpPr/>
          <p:nvPr/>
        </p:nvSpPr>
        <p:spPr>
          <a:xfrm>
            <a:off x="812800" y="5689600"/>
            <a:ext cx="38100" cy="508000"/>
          </a:xfrm>
          <a:prstGeom prst="rect">
            <a:avLst/>
          </a:prstGeom>
          <a:solidFill>
            <a:srgbClr val="C2521E"/>
          </a:solidFill>
          <a:ln>
            <a:noFill/>
          </a:ln>
        </p:spPr>
      </p:sp>
      <p:sp>
        <p:nvSpPr>
          <p:cNvPr id="15" name="strip-text"/>
          <p:cNvSpPr txBox="1"/>
          <p:nvPr/>
        </p:nvSpPr>
        <p:spPr>
          <a:xfrm>
            <a:off x="1016000" y="5689600"/>
            <a:ext cx="10363200" cy="5080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The side-car sits on the </a:t>
            </a:r>
            <a:r>
              <a:rPr lang="en-US" sz="1200" noProof="1" b="1">
                <a:solidFill>
                  <a:srgbClr val="1A1D20"/>
                </a:solidFill>
                <a:latin typeface="Inter"/>
                <a:ea typeface="Inter"/>
              </a:rPr>
              <a:t>memory side</a:t>
            </a:r>
            <a:r>
              <a:rPr lang="en-US" sz="1200" noProof="1">
                <a:solidFill>
                  <a:srgbClr val="1A1D20"/>
                </a:solidFill>
                <a:latin typeface="Inter"/>
                <a:ea typeface="Inter"/>
              </a:rPr>
              <a:t>, not the context side: a home for durable state outside the model, with a structure that can be checked — what is retained, what departed and what is new.</a:t>
            </a:r>
            <a:endParaRPr lang="en-US" sz="1200" noProof="1"/>
          </a:p>
        </p:txBody>
      </p:sp>
      <p:sp>
        <p:nvSpPr>
          <p:cNvPr id="16"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17"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05</a:t>
            </a:r>
            <a:endParaRPr lang="en-US" sz="900" noProof="1"/>
          </a:p>
        </p:txBody>
      </p:sp>
    </p:spTree>
  </p:cSld>
  <p:clrMapOvr>
    <a:masterClrMapping/>
  </p:clrMapOvr>
</p:sld>
</file>

<file path=ppt/slides/slide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05 · THE MEMORY LAYER</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Six properties — each traceable to a run, not asserted</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r1-icon"/>
          <p:cNvSpPr/>
          <p:nvPr>
            <p:extLst>
              <p:ext uri="{F5677B7D-0D2A-4D9B-9A5C-6D8D7D0E5A5D}">
                <pptd:icon encoding="base64url">eyJpY29uTmFtZSI6ImZhczpsYXllci1ncm91cCJ9</pptd:icon>
              </p:ext>
            </p:extLst>
          </p:nvPr>
        </p:nvSpPr>
        <p:spPr>
          <a:xfrm>
            <a:off x="812800" y="1600200"/>
            <a:ext cx="279400" cy="279400"/>
          </a:xfrm>
          <a:custGeom>
            <a:avLst/>
            <a:gdLst/>
            <a:ahLst/>
            <a:cxnLst/>
            <a:rect l="l" t="t" r="r" b="b"/>
            <a:pathLst>
              <a:path w="512" h="512">
                <a:moveTo>
                  <a:pt x="233" y="5"/>
                </a:moveTo>
                <a:cubicBezTo>
                  <a:pt x="247" y="-2"/>
                  <a:pt x="265" y="-2"/>
                  <a:pt x="280" y="5"/>
                </a:cubicBezTo>
                <a:lnTo>
                  <a:pt x="498" y="106"/>
                </a:lnTo>
                <a:cubicBezTo>
                  <a:pt x="507" y="110"/>
                  <a:pt x="512" y="119"/>
                  <a:pt x="512" y="128"/>
                </a:cubicBezTo>
                <a:cubicBezTo>
                  <a:pt x="512" y="137"/>
                  <a:pt x="507" y="146"/>
                  <a:pt x="498" y="150"/>
                </a:cubicBezTo>
                <a:lnTo>
                  <a:pt x="280" y="251"/>
                </a:lnTo>
                <a:cubicBezTo>
                  <a:pt x="265" y="258"/>
                  <a:pt x="247" y="258"/>
                  <a:pt x="233" y="251"/>
                </a:cubicBezTo>
                <a:lnTo>
                  <a:pt x="14" y="150"/>
                </a:lnTo>
                <a:cubicBezTo>
                  <a:pt x="5" y="146"/>
                  <a:pt x="0" y="137"/>
                  <a:pt x="0" y="128"/>
                </a:cubicBezTo>
                <a:cubicBezTo>
                  <a:pt x="0" y="119"/>
                  <a:pt x="5" y="110"/>
                  <a:pt x="14" y="106"/>
                </a:cubicBezTo>
                <a:lnTo>
                  <a:pt x="233" y="5"/>
                </a:lnTo>
                <a:close/>
              </a:path>
              <a:path w="512" h="512">
                <a:moveTo>
                  <a:pt x="48" y="218"/>
                </a:moveTo>
                <a:lnTo>
                  <a:pt x="212" y="294"/>
                </a:lnTo>
                <a:cubicBezTo>
                  <a:pt x="240" y="307"/>
                  <a:pt x="272" y="307"/>
                  <a:pt x="300" y="294"/>
                </a:cubicBezTo>
                <a:lnTo>
                  <a:pt x="464" y="218"/>
                </a:lnTo>
                <a:lnTo>
                  <a:pt x="498" y="234"/>
                </a:lnTo>
                <a:cubicBezTo>
                  <a:pt x="507" y="238"/>
                  <a:pt x="512" y="247"/>
                  <a:pt x="512" y="256"/>
                </a:cubicBezTo>
                <a:cubicBezTo>
                  <a:pt x="512" y="265"/>
                  <a:pt x="507" y="274"/>
                  <a:pt x="498" y="278"/>
                </a:cubicBezTo>
                <a:lnTo>
                  <a:pt x="280" y="379"/>
                </a:lnTo>
                <a:cubicBezTo>
                  <a:pt x="265" y="386"/>
                  <a:pt x="247" y="386"/>
                  <a:pt x="233" y="379"/>
                </a:cubicBezTo>
                <a:lnTo>
                  <a:pt x="14" y="278"/>
                </a:lnTo>
                <a:cubicBezTo>
                  <a:pt x="5" y="274"/>
                  <a:pt x="0" y="265"/>
                  <a:pt x="0" y="256"/>
                </a:cubicBezTo>
                <a:cubicBezTo>
                  <a:pt x="0" y="247"/>
                  <a:pt x="5" y="238"/>
                  <a:pt x="14" y="234"/>
                </a:cubicBezTo>
                <a:lnTo>
                  <a:pt x="48" y="218"/>
                </a:lnTo>
                <a:close/>
              </a:path>
              <a:path w="512" h="512">
                <a:moveTo>
                  <a:pt x="14" y="362"/>
                </a:moveTo>
                <a:lnTo>
                  <a:pt x="48" y="346"/>
                </a:lnTo>
                <a:lnTo>
                  <a:pt x="212" y="422"/>
                </a:lnTo>
                <a:cubicBezTo>
                  <a:pt x="240" y="435"/>
                  <a:pt x="272" y="435"/>
                  <a:pt x="300" y="422"/>
                </a:cubicBezTo>
                <a:lnTo>
                  <a:pt x="464" y="346"/>
                </a:lnTo>
                <a:lnTo>
                  <a:pt x="498" y="362"/>
                </a:lnTo>
                <a:cubicBezTo>
                  <a:pt x="507" y="366"/>
                  <a:pt x="512" y="375"/>
                  <a:pt x="512" y="384"/>
                </a:cubicBezTo>
                <a:cubicBezTo>
                  <a:pt x="512" y="393"/>
                  <a:pt x="507" y="402"/>
                  <a:pt x="498" y="406"/>
                </a:cubicBezTo>
                <a:lnTo>
                  <a:pt x="279" y="507"/>
                </a:lnTo>
                <a:cubicBezTo>
                  <a:pt x="265" y="514"/>
                  <a:pt x="247" y="514"/>
                  <a:pt x="232" y="507"/>
                </a:cubicBezTo>
                <a:lnTo>
                  <a:pt x="14" y="406"/>
                </a:lnTo>
                <a:cubicBezTo>
                  <a:pt x="5" y="402"/>
                  <a:pt x="0" y="393"/>
                  <a:pt x="0" y="384"/>
                </a:cubicBezTo>
                <a:cubicBezTo>
                  <a:pt x="0" y="375"/>
                  <a:pt x="5" y="366"/>
                  <a:pt x="14" y="362"/>
                </a:cubicBezTo>
                <a:close/>
              </a:path>
            </a:pathLst>
          </a:custGeom>
          <a:solidFill>
            <a:srgbClr val="1E5B4E"/>
          </a:solidFill>
          <a:ln>
            <a:noFill/>
          </a:ln>
        </p:spPr>
      </p:sp>
      <p:sp>
        <p:nvSpPr>
          <p:cNvPr id="6" name="r1-head"/>
          <p:cNvSpPr txBox="1"/>
          <p:nvPr/>
        </p:nvSpPr>
        <p:spPr>
          <a:xfrm>
            <a:off x="1270000" y="1600200"/>
            <a:ext cx="4318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A structure, not a summary</a:t>
            </a:r>
            <a:endParaRPr lang="en-US" sz="1400" noProof="1"/>
          </a:p>
        </p:txBody>
      </p:sp>
      <p:sp>
        <p:nvSpPr>
          <p:cNvPr id="7" name="r1-body"/>
          <p:cNvSpPr txBox="1"/>
          <p:nvPr/>
        </p:nvSpPr>
        <p:spPr>
          <a:xfrm>
            <a:off x="1270000" y="1905000"/>
            <a:ext cx="4572000" cy="711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D / R / N per commit — departed, retained, novel — with a conservation balance. A precise answer to "what changed?"</a:t>
            </a:r>
            <a:endParaRPr lang="en-US" sz="1150" noProof="1"/>
          </a:p>
        </p:txBody>
      </p:sp>
      <p:sp>
        <p:nvSpPr>
          <p:cNvPr id="8" name="r2-icon"/>
          <p:cNvSpPr/>
          <p:nvPr>
            <p:extLst>
              <p:ext uri="{F5677B7D-0D2A-4D9B-9A5C-6D8D7D0E5A5D}">
                <pptd:icon encoding="base64url">eyJpY29uTmFtZSI6ImZhczpyb2JvdCJ9</pptd:icon>
              </p:ext>
            </p:extLst>
          </p:nvPr>
        </p:nvSpPr>
        <p:spPr>
          <a:xfrm>
            <a:off x="6502400" y="1600200"/>
            <a:ext cx="279400" cy="279400"/>
          </a:xfrm>
          <a:custGeom>
            <a:avLst/>
            <a:gdLst/>
            <a:ahLst/>
            <a:cxnLst/>
            <a:rect l="l" t="t" r="r" b="b"/>
            <a:pathLst>
              <a:path w="640" h="512">
                <a:moveTo>
                  <a:pt x="352" y="0"/>
                </a:moveTo>
                <a:cubicBezTo>
                  <a:pt x="352" y="-18"/>
                  <a:pt x="338" y="-32"/>
                  <a:pt x="320" y="-32"/>
                </a:cubicBezTo>
                <a:cubicBezTo>
                  <a:pt x="302" y="-32"/>
                  <a:pt x="288" y="-18"/>
                  <a:pt x="288" y="0"/>
                </a:cubicBezTo>
                <a:lnTo>
                  <a:pt x="288" y="64"/>
                </a:lnTo>
                <a:lnTo>
                  <a:pt x="192" y="64"/>
                </a:lnTo>
                <a:cubicBezTo>
                  <a:pt x="139" y="64"/>
                  <a:pt x="96" y="107"/>
                  <a:pt x="96" y="160"/>
                </a:cubicBezTo>
                <a:lnTo>
                  <a:pt x="96" y="384"/>
                </a:lnTo>
                <a:cubicBezTo>
                  <a:pt x="96" y="437"/>
                  <a:pt x="139" y="480"/>
                  <a:pt x="192" y="480"/>
                </a:cubicBezTo>
                <a:lnTo>
                  <a:pt x="448" y="480"/>
                </a:lnTo>
                <a:cubicBezTo>
                  <a:pt x="501" y="480"/>
                  <a:pt x="544" y="437"/>
                  <a:pt x="544" y="384"/>
                </a:cubicBezTo>
                <a:lnTo>
                  <a:pt x="544" y="160"/>
                </a:lnTo>
                <a:cubicBezTo>
                  <a:pt x="544" y="107"/>
                  <a:pt x="501" y="64"/>
                  <a:pt x="448" y="64"/>
                </a:cubicBezTo>
                <a:lnTo>
                  <a:pt x="352" y="64"/>
                </a:lnTo>
                <a:lnTo>
                  <a:pt x="352" y="0"/>
                </a:lnTo>
                <a:close/>
                <a:moveTo>
                  <a:pt x="160" y="368"/>
                </a:moveTo>
                <a:cubicBezTo>
                  <a:pt x="160" y="355"/>
                  <a:pt x="171" y="344"/>
                  <a:pt x="184" y="344"/>
                </a:cubicBezTo>
                <a:lnTo>
                  <a:pt x="216" y="344"/>
                </a:lnTo>
                <a:cubicBezTo>
                  <a:pt x="229" y="344"/>
                  <a:pt x="240" y="355"/>
                  <a:pt x="240" y="368"/>
                </a:cubicBezTo>
                <a:cubicBezTo>
                  <a:pt x="240" y="381"/>
                  <a:pt x="229" y="392"/>
                  <a:pt x="216" y="392"/>
                </a:cubicBezTo>
                <a:lnTo>
                  <a:pt x="184" y="392"/>
                </a:lnTo>
                <a:cubicBezTo>
                  <a:pt x="171" y="392"/>
                  <a:pt x="160" y="381"/>
                  <a:pt x="160" y="368"/>
                </a:cubicBezTo>
                <a:close/>
                <a:moveTo>
                  <a:pt x="280" y="368"/>
                </a:moveTo>
                <a:cubicBezTo>
                  <a:pt x="280" y="355"/>
                  <a:pt x="291" y="344"/>
                  <a:pt x="304" y="344"/>
                </a:cubicBezTo>
                <a:lnTo>
                  <a:pt x="336" y="344"/>
                </a:lnTo>
                <a:cubicBezTo>
                  <a:pt x="349" y="344"/>
                  <a:pt x="360" y="355"/>
                  <a:pt x="360" y="368"/>
                </a:cubicBezTo>
                <a:cubicBezTo>
                  <a:pt x="360" y="381"/>
                  <a:pt x="349" y="392"/>
                  <a:pt x="336" y="392"/>
                </a:cubicBezTo>
                <a:lnTo>
                  <a:pt x="304" y="392"/>
                </a:lnTo>
                <a:cubicBezTo>
                  <a:pt x="291" y="392"/>
                  <a:pt x="280" y="381"/>
                  <a:pt x="280" y="368"/>
                </a:cubicBezTo>
                <a:close/>
                <a:moveTo>
                  <a:pt x="400" y="368"/>
                </a:moveTo>
                <a:cubicBezTo>
                  <a:pt x="400" y="355"/>
                  <a:pt x="411" y="344"/>
                  <a:pt x="424" y="344"/>
                </a:cubicBezTo>
                <a:lnTo>
                  <a:pt x="456" y="344"/>
                </a:lnTo>
                <a:cubicBezTo>
                  <a:pt x="469" y="344"/>
                  <a:pt x="480" y="355"/>
                  <a:pt x="480" y="368"/>
                </a:cubicBezTo>
                <a:cubicBezTo>
                  <a:pt x="480" y="381"/>
                  <a:pt x="469" y="392"/>
                  <a:pt x="456" y="392"/>
                </a:cubicBezTo>
                <a:lnTo>
                  <a:pt x="424" y="392"/>
                </a:lnTo>
                <a:cubicBezTo>
                  <a:pt x="411" y="392"/>
                  <a:pt x="400" y="381"/>
                  <a:pt x="400" y="368"/>
                </a:cubicBezTo>
                <a:close/>
                <a:moveTo>
                  <a:pt x="224" y="176"/>
                </a:moveTo>
                <a:cubicBezTo>
                  <a:pt x="251" y="176"/>
                  <a:pt x="272" y="197"/>
                  <a:pt x="272" y="224"/>
                </a:cubicBezTo>
                <a:cubicBezTo>
                  <a:pt x="272" y="251"/>
                  <a:pt x="251" y="272"/>
                  <a:pt x="224" y="272"/>
                </a:cubicBezTo>
                <a:cubicBezTo>
                  <a:pt x="197" y="272"/>
                  <a:pt x="176" y="251"/>
                  <a:pt x="176" y="224"/>
                </a:cubicBezTo>
                <a:cubicBezTo>
                  <a:pt x="176" y="197"/>
                  <a:pt x="197" y="176"/>
                  <a:pt x="224" y="176"/>
                </a:cubicBezTo>
                <a:close/>
                <a:moveTo>
                  <a:pt x="368" y="224"/>
                </a:moveTo>
                <a:cubicBezTo>
                  <a:pt x="368" y="197"/>
                  <a:pt x="389" y="176"/>
                  <a:pt x="416" y="176"/>
                </a:cubicBezTo>
                <a:cubicBezTo>
                  <a:pt x="443" y="176"/>
                  <a:pt x="464" y="197"/>
                  <a:pt x="464" y="224"/>
                </a:cubicBezTo>
                <a:cubicBezTo>
                  <a:pt x="464" y="251"/>
                  <a:pt x="443" y="272"/>
                  <a:pt x="416" y="272"/>
                </a:cubicBezTo>
                <a:cubicBezTo>
                  <a:pt x="389" y="272"/>
                  <a:pt x="368" y="251"/>
                  <a:pt x="368" y="224"/>
                </a:cubicBezTo>
                <a:close/>
              </a:path>
              <a:path w="640" h="512">
                <a:moveTo>
                  <a:pt x="64" y="224"/>
                </a:moveTo>
                <a:cubicBezTo>
                  <a:pt x="64" y="206"/>
                  <a:pt x="50" y="192"/>
                  <a:pt x="32" y="192"/>
                </a:cubicBezTo>
                <a:cubicBezTo>
                  <a:pt x="14" y="192"/>
                  <a:pt x="0" y="206"/>
                  <a:pt x="0" y="224"/>
                </a:cubicBezTo>
                <a:lnTo>
                  <a:pt x="0" y="320"/>
                </a:lnTo>
                <a:cubicBezTo>
                  <a:pt x="0" y="338"/>
                  <a:pt x="14" y="352"/>
                  <a:pt x="32" y="352"/>
                </a:cubicBezTo>
                <a:cubicBezTo>
                  <a:pt x="50" y="352"/>
                  <a:pt x="64" y="338"/>
                  <a:pt x="64" y="320"/>
                </a:cubicBezTo>
                <a:lnTo>
                  <a:pt x="64" y="224"/>
                </a:lnTo>
                <a:close/>
              </a:path>
              <a:path w="640" h="512">
                <a:moveTo>
                  <a:pt x="608" y="192"/>
                </a:moveTo>
                <a:cubicBezTo>
                  <a:pt x="590" y="192"/>
                  <a:pt x="576" y="206"/>
                  <a:pt x="576" y="224"/>
                </a:cubicBezTo>
                <a:lnTo>
                  <a:pt x="576" y="320"/>
                </a:lnTo>
                <a:cubicBezTo>
                  <a:pt x="576" y="338"/>
                  <a:pt x="590" y="352"/>
                  <a:pt x="608" y="352"/>
                </a:cubicBezTo>
                <a:cubicBezTo>
                  <a:pt x="626" y="352"/>
                  <a:pt x="640" y="338"/>
                  <a:pt x="640" y="320"/>
                </a:cubicBezTo>
                <a:lnTo>
                  <a:pt x="640" y="224"/>
                </a:lnTo>
                <a:cubicBezTo>
                  <a:pt x="640" y="206"/>
                  <a:pt x="626" y="192"/>
                  <a:pt x="608" y="192"/>
                </a:cubicBezTo>
                <a:close/>
              </a:path>
            </a:pathLst>
          </a:custGeom>
          <a:solidFill>
            <a:srgbClr val="1E5B4E"/>
          </a:solidFill>
          <a:ln>
            <a:noFill/>
          </a:ln>
        </p:spPr>
      </p:sp>
      <p:sp>
        <p:nvSpPr>
          <p:cNvPr id="9" name="r2-head"/>
          <p:cNvSpPr txBox="1"/>
          <p:nvPr/>
        </p:nvSpPr>
        <p:spPr>
          <a:xfrm>
            <a:off x="6959600" y="1600200"/>
            <a:ext cx="44196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The model is untouched</a:t>
            </a:r>
            <a:endParaRPr lang="en-US" sz="1400" noProof="1"/>
          </a:p>
        </p:txBody>
      </p:sp>
      <p:sp>
        <p:nvSpPr>
          <p:cNvPr id="10" name="r2-body"/>
          <p:cNvSpPr txBox="1"/>
          <p:nvPr/>
        </p:nvSpPr>
        <p:spPr>
          <a:xfrm>
            <a:off x="6959600" y="1905000"/>
            <a:ext cx="4419600" cy="711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Zero model changes — no retraining, no fine-tuning, no new weights. The host keeps its weights, tokenizer and APIs.</a:t>
            </a:r>
            <a:endParaRPr lang="en-US" sz="1150" noProof="1"/>
          </a:p>
        </p:txBody>
      </p:sp>
      <p:sp>
        <p:nvSpPr>
          <p:cNvPr id="11" name="rule-r1"/>
          <p:cNvSpPr/>
          <p:nvPr/>
        </p:nvSpPr>
        <p:spPr>
          <a:xfrm>
            <a:off x="812800" y="2743200"/>
            <a:ext cx="10566400" cy="12700"/>
          </a:xfrm>
          <a:prstGeom prst="rect">
            <a:avLst/>
          </a:prstGeom>
          <a:solidFill>
            <a:srgbClr val="DCD8CF"/>
          </a:solidFill>
          <a:ln>
            <a:noFill/>
          </a:ln>
        </p:spPr>
      </p:sp>
      <p:sp>
        <p:nvSpPr>
          <p:cNvPr id="12" name="r3-icon"/>
          <p:cNvSpPr/>
          <p:nvPr>
            <p:extLst>
              <p:ext uri="{F5677B7D-0D2A-4D9B-9A5C-6D8D7D0E5A5D}">
                <pptd:icon encoding="base64url">eyJpY29uTmFtZSI6ImZhczpzaGllbGQtaGFsdmVkIn0</pptd:icon>
              </p:ext>
            </p:extLst>
          </p:nvPr>
        </p:nvSpPr>
        <p:spPr>
          <a:xfrm>
            <a:off x="812800" y="2946400"/>
            <a:ext cx="279400" cy="279400"/>
          </a:xfrm>
          <a:custGeom>
            <a:avLst/>
            <a:gdLst/>
            <a:ahLst/>
            <a:cxnLst/>
            <a:rect l="l" t="t" r="r" b="b"/>
            <a:pathLst>
              <a:path w="512" h="512">
                <a:moveTo>
                  <a:pt x="256" y="0"/>
                </a:moveTo>
                <a:cubicBezTo>
                  <a:pt x="261" y="0"/>
                  <a:pt x="265" y="1"/>
                  <a:pt x="269" y="3"/>
                </a:cubicBezTo>
                <a:lnTo>
                  <a:pt x="458" y="83"/>
                </a:lnTo>
                <a:cubicBezTo>
                  <a:pt x="480" y="92"/>
                  <a:pt x="496" y="114"/>
                  <a:pt x="496" y="140"/>
                </a:cubicBezTo>
                <a:cubicBezTo>
                  <a:pt x="496" y="239"/>
                  <a:pt x="455" y="421"/>
                  <a:pt x="283" y="503"/>
                </a:cubicBezTo>
                <a:cubicBezTo>
                  <a:pt x="266" y="511"/>
                  <a:pt x="246" y="511"/>
                  <a:pt x="230" y="503"/>
                </a:cubicBezTo>
                <a:cubicBezTo>
                  <a:pt x="57" y="421"/>
                  <a:pt x="17" y="239"/>
                  <a:pt x="16" y="140"/>
                </a:cubicBezTo>
                <a:cubicBezTo>
                  <a:pt x="16" y="114"/>
                  <a:pt x="32" y="92"/>
                  <a:pt x="54" y="83"/>
                </a:cubicBezTo>
                <a:lnTo>
                  <a:pt x="243" y="3"/>
                </a:lnTo>
                <a:cubicBezTo>
                  <a:pt x="247" y="1"/>
                  <a:pt x="251" y="0"/>
                  <a:pt x="256" y="0"/>
                </a:cubicBezTo>
                <a:close/>
                <a:moveTo>
                  <a:pt x="256" y="67"/>
                </a:moveTo>
                <a:lnTo>
                  <a:pt x="256" y="445"/>
                </a:lnTo>
                <a:cubicBezTo>
                  <a:pt x="394" y="378"/>
                  <a:pt x="431" y="230"/>
                  <a:pt x="432" y="142"/>
                </a:cubicBezTo>
                <a:lnTo>
                  <a:pt x="256" y="67"/>
                </a:lnTo>
                <a:lnTo>
                  <a:pt x="256" y="67"/>
                </a:lnTo>
                <a:close/>
              </a:path>
            </a:pathLst>
          </a:custGeom>
          <a:solidFill>
            <a:srgbClr val="1E5B4E"/>
          </a:solidFill>
          <a:ln>
            <a:noFill/>
          </a:ln>
        </p:spPr>
      </p:sp>
      <p:sp>
        <p:nvSpPr>
          <p:cNvPr id="13" name="r3-head"/>
          <p:cNvSpPr txBox="1"/>
          <p:nvPr/>
        </p:nvSpPr>
        <p:spPr>
          <a:xfrm>
            <a:off x="1270000" y="2946400"/>
            <a:ext cx="4318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Auditable by construction</a:t>
            </a:r>
            <a:endParaRPr lang="en-US" sz="1400" noProof="1"/>
          </a:p>
        </p:txBody>
      </p:sp>
      <p:sp>
        <p:nvSpPr>
          <p:cNvPr id="14" name="r3-body"/>
          <p:cNvSpPr txBox="1"/>
          <p:nvPr/>
        </p:nvSpPr>
        <p:spPr>
          <a:xfrm>
            <a:off x="1270000" y="3251200"/>
            <a:ext cx="4572000" cy="711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Content-addressed, immutable commits give an append-only record — exactly what an auditor asks for.</a:t>
            </a:r>
            <a:endParaRPr lang="en-US" sz="1150" noProof="1"/>
          </a:p>
        </p:txBody>
      </p:sp>
      <p:sp>
        <p:nvSpPr>
          <p:cNvPr id="15" name="r4-icon"/>
          <p:cNvSpPr/>
          <p:nvPr>
            <p:extLst>
              <p:ext uri="{F5677B7D-0D2A-4D9B-9A5C-6D8D7D0E5A5D}">
                <pptd:icon encoding="base64url">eyJpY29uTmFtZSI6ImZhczpnbG9iZSJ9</pptd:icon>
              </p:ext>
            </p:extLst>
          </p:nvPr>
        </p:nvSpPr>
        <p:spPr>
          <a:xfrm>
            <a:off x="6502400" y="2946400"/>
            <a:ext cx="279400" cy="279400"/>
          </a:xfrm>
          <a:custGeom>
            <a:avLst/>
            <a:gdLst/>
            <a:ahLst/>
            <a:cxnLst/>
            <a:rect l="l" t="t" r="r" b="b"/>
            <a:pathLst>
              <a:path w="512" h="512">
                <a:moveTo>
                  <a:pt x="352" y="280"/>
                </a:moveTo>
                <a:lnTo>
                  <a:pt x="161" y="280"/>
                </a:lnTo>
                <a:cubicBezTo>
                  <a:pt x="164" y="345"/>
                  <a:pt x="178" y="404"/>
                  <a:pt x="198" y="447"/>
                </a:cubicBezTo>
                <a:cubicBezTo>
                  <a:pt x="210" y="472"/>
                  <a:pt x="222" y="489"/>
                  <a:pt x="234" y="500"/>
                </a:cubicBezTo>
                <a:cubicBezTo>
                  <a:pt x="245" y="510"/>
                  <a:pt x="252" y="512"/>
                  <a:pt x="256" y="512"/>
                </a:cubicBezTo>
                <a:cubicBezTo>
                  <a:pt x="260" y="512"/>
                  <a:pt x="268" y="510"/>
                  <a:pt x="279" y="500"/>
                </a:cubicBezTo>
                <a:cubicBezTo>
                  <a:pt x="291" y="489"/>
                  <a:pt x="303" y="472"/>
                  <a:pt x="314" y="447"/>
                </a:cubicBezTo>
                <a:cubicBezTo>
                  <a:pt x="335" y="404"/>
                  <a:pt x="349" y="345"/>
                  <a:pt x="352" y="280"/>
                </a:cubicBezTo>
                <a:close/>
              </a:path>
              <a:path w="512" h="512">
                <a:moveTo>
                  <a:pt x="161" y="232"/>
                </a:moveTo>
                <a:lnTo>
                  <a:pt x="352" y="232"/>
                </a:lnTo>
                <a:cubicBezTo>
                  <a:pt x="349" y="168"/>
                  <a:pt x="335" y="108"/>
                  <a:pt x="314" y="65"/>
                </a:cubicBezTo>
                <a:cubicBezTo>
                  <a:pt x="303" y="40"/>
                  <a:pt x="291" y="23"/>
                  <a:pt x="279" y="12"/>
                </a:cubicBezTo>
                <a:cubicBezTo>
                  <a:pt x="268" y="2"/>
                  <a:pt x="260" y="0"/>
                  <a:pt x="256" y="0"/>
                </a:cubicBezTo>
                <a:cubicBezTo>
                  <a:pt x="252" y="0"/>
                  <a:pt x="245" y="2"/>
                  <a:pt x="233" y="12"/>
                </a:cubicBezTo>
                <a:cubicBezTo>
                  <a:pt x="222" y="23"/>
                  <a:pt x="210" y="40"/>
                  <a:pt x="198" y="65"/>
                </a:cubicBezTo>
                <a:cubicBezTo>
                  <a:pt x="178" y="108"/>
                  <a:pt x="164" y="168"/>
                  <a:pt x="161" y="232"/>
                </a:cubicBezTo>
                <a:close/>
              </a:path>
              <a:path w="512" h="512">
                <a:moveTo>
                  <a:pt x="113" y="232"/>
                </a:moveTo>
                <a:cubicBezTo>
                  <a:pt x="116" y="146"/>
                  <a:pt x="139" y="67"/>
                  <a:pt x="171" y="15"/>
                </a:cubicBezTo>
                <a:cubicBezTo>
                  <a:pt x="79" y="47"/>
                  <a:pt x="11" y="131"/>
                  <a:pt x="2" y="232"/>
                </a:cubicBezTo>
                <a:lnTo>
                  <a:pt x="113" y="232"/>
                </a:lnTo>
                <a:close/>
              </a:path>
              <a:path w="512" h="512">
                <a:moveTo>
                  <a:pt x="2" y="280"/>
                </a:moveTo>
                <a:cubicBezTo>
                  <a:pt x="11" y="381"/>
                  <a:pt x="79" y="465"/>
                  <a:pt x="171" y="497"/>
                </a:cubicBezTo>
                <a:cubicBezTo>
                  <a:pt x="139" y="445"/>
                  <a:pt x="116" y="366"/>
                  <a:pt x="113" y="280"/>
                </a:cubicBezTo>
                <a:lnTo>
                  <a:pt x="2" y="280"/>
                </a:lnTo>
                <a:close/>
              </a:path>
              <a:path w="512" h="512">
                <a:moveTo>
                  <a:pt x="400" y="280"/>
                </a:moveTo>
                <a:cubicBezTo>
                  <a:pt x="396" y="366"/>
                  <a:pt x="374" y="445"/>
                  <a:pt x="342" y="497"/>
                </a:cubicBezTo>
                <a:cubicBezTo>
                  <a:pt x="434" y="465"/>
                  <a:pt x="502" y="381"/>
                  <a:pt x="511" y="280"/>
                </a:cubicBezTo>
                <a:lnTo>
                  <a:pt x="400" y="280"/>
                </a:lnTo>
                <a:close/>
              </a:path>
              <a:path w="512" h="512">
                <a:moveTo>
                  <a:pt x="511" y="232"/>
                </a:moveTo>
                <a:cubicBezTo>
                  <a:pt x="502" y="131"/>
                  <a:pt x="434" y="47"/>
                  <a:pt x="342" y="15"/>
                </a:cubicBezTo>
                <a:cubicBezTo>
                  <a:pt x="374" y="67"/>
                  <a:pt x="396" y="146"/>
                  <a:pt x="400" y="232"/>
                </a:cubicBezTo>
                <a:lnTo>
                  <a:pt x="511" y="232"/>
                </a:lnTo>
                <a:close/>
              </a:path>
            </a:pathLst>
          </a:custGeom>
          <a:solidFill>
            <a:srgbClr val="1E5B4E"/>
          </a:solidFill>
          <a:ln>
            <a:noFill/>
          </a:ln>
        </p:spPr>
      </p:sp>
      <p:sp>
        <p:nvSpPr>
          <p:cNvPr id="16" name="r4-head"/>
          <p:cNvSpPr txBox="1"/>
          <p:nvPr/>
        </p:nvSpPr>
        <p:spPr>
          <a:xfrm>
            <a:off x="6959600" y="2946400"/>
            <a:ext cx="44196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Portable across models</a:t>
            </a:r>
            <a:endParaRPr lang="en-US" sz="1400" noProof="1"/>
          </a:p>
        </p:txBody>
      </p:sp>
      <p:sp>
        <p:nvSpPr>
          <p:cNvPr id="17" name="r4-body"/>
          <p:cNvSpPr txBox="1"/>
          <p:nvPr/>
        </p:nvSpPr>
        <p:spPr>
          <a:xfrm>
            <a:off x="6959600" y="3251200"/>
            <a:ext cx="4419600" cy="711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Measurement-level and model-agnostic: the same lattice spans hosts and modalities, so memory is not trapped in one checkpoint.</a:t>
            </a:r>
            <a:endParaRPr lang="en-US" sz="1150" noProof="1"/>
          </a:p>
        </p:txBody>
      </p:sp>
      <p:sp>
        <p:nvSpPr>
          <p:cNvPr id="18" name="rule-r2"/>
          <p:cNvSpPr/>
          <p:nvPr/>
        </p:nvSpPr>
        <p:spPr>
          <a:xfrm>
            <a:off x="812800" y="4089400"/>
            <a:ext cx="10566400" cy="12700"/>
          </a:xfrm>
          <a:prstGeom prst="rect">
            <a:avLst/>
          </a:prstGeom>
          <a:solidFill>
            <a:srgbClr val="DCD8CF"/>
          </a:solidFill>
          <a:ln>
            <a:noFill/>
          </a:ln>
        </p:spPr>
      </p:sp>
      <p:sp>
        <p:nvSpPr>
          <p:cNvPr id="19" name="r5-icon"/>
          <p:cNvSpPr/>
          <p:nvPr>
            <p:extLst>
              <p:ext uri="{F5677B7D-0D2A-4D9B-9A5C-6D8D7D0E5A5D}">
                <pptd:icon encoding="base64url">eyJpY29uTmFtZSI6ImZhczpsb2NrIn0</pptd:icon>
              </p:ext>
            </p:extLst>
          </p:nvPr>
        </p:nvSpPr>
        <p:spPr>
          <a:xfrm>
            <a:off x="812800" y="4292600"/>
            <a:ext cx="279400" cy="279400"/>
          </a:xfrm>
          <a:custGeom>
            <a:avLst/>
            <a:gdLst/>
            <a:ahLst/>
            <a:cxnLst/>
            <a:rect l="l" t="t" r="r" b="b"/>
            <a:pathLst>
              <a:path w="384" h="512">
                <a:moveTo>
                  <a:pt x="128" y="96"/>
                </a:moveTo>
                <a:lnTo>
                  <a:pt x="128" y="160"/>
                </a:lnTo>
                <a:lnTo>
                  <a:pt x="256" y="160"/>
                </a:lnTo>
                <a:lnTo>
                  <a:pt x="256" y="96"/>
                </a:lnTo>
                <a:cubicBezTo>
                  <a:pt x="256" y="61"/>
                  <a:pt x="227" y="32"/>
                  <a:pt x="192" y="32"/>
                </a:cubicBezTo>
                <a:cubicBezTo>
                  <a:pt x="157" y="32"/>
                  <a:pt x="128" y="61"/>
                  <a:pt x="128" y="96"/>
                </a:cubicBezTo>
                <a:close/>
                <a:moveTo>
                  <a:pt x="64" y="160"/>
                </a:moveTo>
                <a:lnTo>
                  <a:pt x="64" y="96"/>
                </a:lnTo>
                <a:cubicBezTo>
                  <a:pt x="64" y="25"/>
                  <a:pt x="121" y="-32"/>
                  <a:pt x="192" y="-32"/>
                </a:cubicBezTo>
                <a:cubicBezTo>
                  <a:pt x="263" y="-32"/>
                  <a:pt x="320" y="25"/>
                  <a:pt x="320" y="96"/>
                </a:cubicBezTo>
                <a:lnTo>
                  <a:pt x="320" y="160"/>
                </a:lnTo>
                <a:cubicBezTo>
                  <a:pt x="355" y="160"/>
                  <a:pt x="384" y="189"/>
                  <a:pt x="384" y="224"/>
                </a:cubicBezTo>
                <a:lnTo>
                  <a:pt x="384" y="448"/>
                </a:lnTo>
                <a:cubicBezTo>
                  <a:pt x="384" y="483"/>
                  <a:pt x="355" y="512"/>
                  <a:pt x="320" y="512"/>
                </a:cubicBezTo>
                <a:lnTo>
                  <a:pt x="64" y="512"/>
                </a:lnTo>
                <a:cubicBezTo>
                  <a:pt x="29" y="512"/>
                  <a:pt x="0" y="483"/>
                  <a:pt x="0" y="448"/>
                </a:cubicBezTo>
                <a:lnTo>
                  <a:pt x="0" y="224"/>
                </a:lnTo>
                <a:cubicBezTo>
                  <a:pt x="0" y="189"/>
                  <a:pt x="29" y="160"/>
                  <a:pt x="64" y="160"/>
                </a:cubicBezTo>
                <a:close/>
              </a:path>
            </a:pathLst>
          </a:custGeom>
          <a:solidFill>
            <a:srgbClr val="1E5B4E"/>
          </a:solidFill>
          <a:ln>
            <a:noFill/>
          </a:ln>
        </p:spPr>
      </p:sp>
      <p:sp>
        <p:nvSpPr>
          <p:cNvPr id="20" name="r5-head"/>
          <p:cNvSpPr txBox="1"/>
          <p:nvPr/>
        </p:nvSpPr>
        <p:spPr>
          <a:xfrm>
            <a:off x="1270000" y="4292600"/>
            <a:ext cx="4318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On-premise &amp; air-gapped</a:t>
            </a:r>
            <a:endParaRPr lang="en-US" sz="1400" noProof="1"/>
          </a:p>
        </p:txBody>
      </p:sp>
      <p:sp>
        <p:nvSpPr>
          <p:cNvPr id="21" name="r5-body"/>
          <p:cNvSpPr txBox="1"/>
          <p:nvPr/>
        </p:nvSpPr>
        <p:spPr>
          <a:xfrm>
            <a:off x="1270000" y="4597400"/>
            <a:ext cx="4572000" cy="711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Deployed inside your own boundary, including air-gapped environments with zero outbound calls. The state store sits in storage you control.</a:t>
            </a:r>
            <a:endParaRPr lang="en-US" sz="1150" noProof="1"/>
          </a:p>
        </p:txBody>
      </p:sp>
      <p:sp>
        <p:nvSpPr>
          <p:cNvPr id="22" name="r6-icon"/>
          <p:cNvSpPr/>
          <p:nvPr>
            <p:extLst>
              <p:ext uri="{F5677B7D-0D2A-4D9B-9A5C-6D8D7D0E5A5D}">
                <pptd:icon encoding="base64url">eyJpY29uTmFtZSI6ImZhczpjaGFydC1saW5lIn0</pptd:icon>
              </p:ext>
            </p:extLst>
          </p:nvPr>
        </p:nvSpPr>
        <p:spPr>
          <a:xfrm>
            <a:off x="6502400" y="4292600"/>
            <a:ext cx="279400" cy="279400"/>
          </a:xfrm>
          <a:custGeom>
            <a:avLst/>
            <a:gdLst/>
            <a:ahLst/>
            <a:cxnLst/>
            <a:rect l="l" t="t" r="r" b="b"/>
            <a:pathLst>
              <a:path w="512" h="512">
                <a:moveTo>
                  <a:pt x="64" y="64"/>
                </a:moveTo>
                <a:cubicBezTo>
                  <a:pt x="64" y="46"/>
                  <a:pt x="50" y="32"/>
                  <a:pt x="32" y="32"/>
                </a:cubicBezTo>
                <a:cubicBezTo>
                  <a:pt x="14" y="32"/>
                  <a:pt x="0" y="46"/>
                  <a:pt x="0" y="64"/>
                </a:cubicBezTo>
                <a:lnTo>
                  <a:pt x="0" y="400"/>
                </a:lnTo>
                <a:cubicBezTo>
                  <a:pt x="0" y="444"/>
                  <a:pt x="36" y="480"/>
                  <a:pt x="80" y="480"/>
                </a:cubicBezTo>
                <a:lnTo>
                  <a:pt x="480" y="480"/>
                </a:lnTo>
                <a:cubicBezTo>
                  <a:pt x="498" y="480"/>
                  <a:pt x="512" y="466"/>
                  <a:pt x="512" y="448"/>
                </a:cubicBezTo>
                <a:cubicBezTo>
                  <a:pt x="512" y="430"/>
                  <a:pt x="498" y="416"/>
                  <a:pt x="480" y="416"/>
                </a:cubicBezTo>
                <a:lnTo>
                  <a:pt x="80" y="416"/>
                </a:lnTo>
                <a:cubicBezTo>
                  <a:pt x="71" y="416"/>
                  <a:pt x="64" y="409"/>
                  <a:pt x="64" y="400"/>
                </a:cubicBezTo>
                <a:lnTo>
                  <a:pt x="64" y="64"/>
                </a:lnTo>
                <a:close/>
                <a:moveTo>
                  <a:pt x="471" y="151"/>
                </a:moveTo>
                <a:cubicBezTo>
                  <a:pt x="483" y="138"/>
                  <a:pt x="483" y="118"/>
                  <a:pt x="471" y="105"/>
                </a:cubicBezTo>
                <a:cubicBezTo>
                  <a:pt x="458" y="93"/>
                  <a:pt x="438" y="93"/>
                  <a:pt x="425" y="105"/>
                </a:cubicBezTo>
                <a:lnTo>
                  <a:pt x="320" y="211"/>
                </a:lnTo>
                <a:lnTo>
                  <a:pt x="263" y="153"/>
                </a:lnTo>
                <a:cubicBezTo>
                  <a:pt x="250" y="141"/>
                  <a:pt x="230" y="141"/>
                  <a:pt x="217" y="153"/>
                </a:cubicBezTo>
                <a:lnTo>
                  <a:pt x="121" y="249"/>
                </a:lnTo>
                <a:cubicBezTo>
                  <a:pt x="109" y="262"/>
                  <a:pt x="109" y="282"/>
                  <a:pt x="121" y="295"/>
                </a:cubicBezTo>
                <a:cubicBezTo>
                  <a:pt x="134" y="307"/>
                  <a:pt x="154" y="307"/>
                  <a:pt x="167" y="295"/>
                </a:cubicBezTo>
                <a:lnTo>
                  <a:pt x="240" y="221"/>
                </a:lnTo>
                <a:lnTo>
                  <a:pt x="297" y="279"/>
                </a:lnTo>
                <a:cubicBezTo>
                  <a:pt x="310" y="291"/>
                  <a:pt x="330" y="291"/>
                  <a:pt x="343" y="279"/>
                </a:cubicBezTo>
                <a:lnTo>
                  <a:pt x="471" y="151"/>
                </a:lnTo>
                <a:close/>
              </a:path>
            </a:pathLst>
          </a:custGeom>
          <a:solidFill>
            <a:srgbClr val="1E5B4E"/>
          </a:solidFill>
          <a:ln>
            <a:noFill/>
          </a:ln>
        </p:spPr>
      </p:sp>
      <p:sp>
        <p:nvSpPr>
          <p:cNvPr id="23" name="r6-head"/>
          <p:cNvSpPr txBox="1"/>
          <p:nvPr/>
        </p:nvSpPr>
        <p:spPr>
          <a:xfrm>
            <a:off x="6959600" y="4292600"/>
            <a:ext cx="44196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Proven on real models</a:t>
            </a:r>
            <a:endParaRPr lang="en-US" sz="1400" noProof="1"/>
          </a:p>
        </p:txBody>
      </p:sp>
      <p:sp>
        <p:nvSpPr>
          <p:cNvPr id="24" name="r6-body"/>
          <p:cNvSpPr txBox="1"/>
          <p:nvPr/>
        </p:nvSpPr>
        <p:spPr>
          <a:xfrm>
            <a:off x="6959600" y="4597400"/>
            <a:ext cx="4419600" cy="711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Six measured scenarios across a vision-language-action stack, OCR, vision grids and a document platform.</a:t>
            </a:r>
            <a:endParaRPr lang="en-US" sz="1150" noProof="1"/>
          </a:p>
        </p:txBody>
      </p:sp>
      <p:sp>
        <p:nvSpPr>
          <p:cNvPr id="25" name="strip-bar"/>
          <p:cNvSpPr/>
          <p:nvPr/>
        </p:nvSpPr>
        <p:spPr>
          <a:xfrm>
            <a:off x="812800" y="5689600"/>
            <a:ext cx="38100" cy="508000"/>
          </a:xfrm>
          <a:prstGeom prst="rect">
            <a:avLst/>
          </a:prstGeom>
          <a:solidFill>
            <a:srgbClr val="C2521E"/>
          </a:solidFill>
          <a:ln>
            <a:noFill/>
          </a:ln>
        </p:spPr>
      </p:sp>
      <p:sp>
        <p:nvSpPr>
          <p:cNvPr id="26" name="strip-text"/>
          <p:cNvSpPr txBox="1"/>
          <p:nvPr/>
        </p:nvSpPr>
        <p:spPr>
          <a:xfrm>
            <a:off x="1016000" y="5689600"/>
            <a:ext cx="10363200" cy="5080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Bring your own model — we bring the memory. Your weights, tokenizer and APIs stay exactly as they are.</a:t>
            </a:r>
            <a:endParaRPr lang="en-US" sz="1200" noProof="1"/>
          </a:p>
        </p:txBody>
      </p:sp>
      <p:sp>
        <p:nvSpPr>
          <p:cNvPr id="27"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8"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06</a:t>
            </a:r>
            <a:endParaRPr lang="en-US" sz="900" noProof="1"/>
          </a:p>
        </p:txBody>
      </p:sp>
    </p:spTree>
  </p:cSld>
  <p:clrMapOvr>
    <a:masterClrMapping/>
  </p:clrMapOvr>
</p:sld>
</file>

<file path=ppt/slides/slide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06 · EVIDENCE</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Measured on real models, caveats published</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intro"/>
          <p:cNvSpPr txBox="1"/>
          <p:nvPr/>
        </p:nvSpPr>
        <p:spPr>
          <a:xfrm>
            <a:off x="812800" y="1498600"/>
            <a:ext cx="10566400" cy="4572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Every figure comes from a run in our own repositories — real model encodings, real documents, on our own machines. Where a number has a limit, the limit is printed beside it.</a:t>
            </a:r>
            <a:endParaRPr lang="en-US" sz="1200" noProof="1"/>
          </a:p>
        </p:txBody>
      </p:sp>
      <p:sp>
        <p:nvSpPr>
          <p:cNvPr id="6" name="m1-num"/>
          <p:cNvSpPr txBox="1"/>
          <p:nvPr/>
        </p:nvSpPr>
        <p:spPr>
          <a:xfrm>
            <a:off x="812800" y="2184400"/>
            <a:ext cx="2413000" cy="711200"/>
          </a:xfrm>
          <a:prstGeom prst="rect">
            <a:avLst/>
          </a:prstGeom>
          <a:noFill/>
          <a:ln>
            <a:noFill/>
          </a:ln>
        </p:spPr>
        <p:txBody>
          <a:bodyPr lIns="0" rIns="0" tIns="0" bIns="0" wrap="none" rtlCol="0"/>
          <a:lstStyle/>
          <a:p>
            <a:pPr>
              <a:lnSpc>
                <a:spcPct val="120000"/>
              </a:lnSpc>
            </a:pPr>
            <a:r>
              <a:rPr lang="en-US" sz="4400" noProof="1" b="1">
                <a:solidFill>
                  <a:srgbClr val="C2521E"/>
                </a:solidFill>
                <a:latin typeface="JetBrains Mono"/>
                <a:ea typeface="JetBrains Mono"/>
              </a:rPr>
              <a:t>1.0</a:t>
            </a:r>
            <a:endParaRPr lang="en-US" sz="4400" noProof="1"/>
          </a:p>
        </p:txBody>
      </p:sp>
      <p:sp>
        <p:nvSpPr>
          <p:cNvPr id="7" name="m1-label"/>
          <p:cNvSpPr txBox="1"/>
          <p:nvPr/>
        </p:nvSpPr>
        <p:spPr>
          <a:xfrm>
            <a:off x="812800" y="2971800"/>
            <a:ext cx="2413000" cy="762000"/>
          </a:xfrm>
          <a:prstGeom prst="rect">
            <a:avLst/>
          </a:prstGeom>
          <a:noFill/>
          <a:ln>
            <a:noFill/>
          </a:ln>
        </p:spPr>
        <p:txBody>
          <a:bodyPr lIns="0" rIns="0" tIns="0" bIns="0" wrap="square" rtlCol="0"/>
          <a:lstStyle/>
          <a:p>
            <a:pPr>
              <a:lnSpc>
                <a:spcPct val="145000"/>
              </a:lnSpc>
            </a:pPr>
            <a:r>
              <a:rPr lang="en-US" sz="1100" noProof="1">
                <a:solidFill>
                  <a:srgbClr val="6E747B"/>
                </a:solidFill>
                <a:latin typeface="Inter"/>
                <a:ea typeface="Inter"/>
              </a:rPr>
              <a:t>loop accuracy — hash-level round-trip on a real VLA</a:t>
            </a:r>
            <a:endParaRPr lang="en-US" sz="1100" noProof="1"/>
          </a:p>
        </p:txBody>
      </p:sp>
      <p:sp>
        <p:nvSpPr>
          <p:cNvPr id="8" name="m2-num"/>
          <p:cNvSpPr txBox="1"/>
          <p:nvPr/>
        </p:nvSpPr>
        <p:spPr>
          <a:xfrm>
            <a:off x="3530600" y="2184400"/>
            <a:ext cx="2413000" cy="711200"/>
          </a:xfrm>
          <a:prstGeom prst="rect">
            <a:avLst/>
          </a:prstGeom>
          <a:noFill/>
          <a:ln>
            <a:noFill/>
          </a:ln>
        </p:spPr>
        <p:txBody>
          <a:bodyPr lIns="0" rIns="0" tIns="0" bIns="0" wrap="none" rtlCol="0"/>
          <a:lstStyle/>
          <a:p>
            <a:pPr>
              <a:lnSpc>
                <a:spcPct val="120000"/>
              </a:lnSpc>
            </a:pPr>
            <a:r>
              <a:rPr lang="en-US" sz="4400" noProof="1" b="1">
                <a:solidFill>
                  <a:srgbClr val="C2521E"/>
                </a:solidFill>
                <a:latin typeface="JetBrains Mono"/>
                <a:ea typeface="JetBrains Mono"/>
              </a:rPr>
              <a:t>100%</a:t>
            </a:r>
            <a:endParaRPr lang="en-US" sz="4400" noProof="1"/>
          </a:p>
        </p:txBody>
      </p:sp>
      <p:sp>
        <p:nvSpPr>
          <p:cNvPr id="9" name="m2-label"/>
          <p:cNvSpPr txBox="1"/>
          <p:nvPr/>
        </p:nvSpPr>
        <p:spPr>
          <a:xfrm>
            <a:off x="3530600" y="2971800"/>
            <a:ext cx="2413000" cy="762000"/>
          </a:xfrm>
          <a:prstGeom prst="rect">
            <a:avLst/>
          </a:prstGeom>
          <a:noFill/>
          <a:ln>
            <a:noFill/>
          </a:ln>
        </p:spPr>
        <p:txBody>
          <a:bodyPr lIns="0" rIns="0" tIns="0" bIns="0" wrap="square" rtlCol="0"/>
          <a:lstStyle/>
          <a:p>
            <a:pPr>
              <a:lnSpc>
                <a:spcPct val="145000"/>
              </a:lnSpc>
            </a:pPr>
            <a:r>
              <a:rPr lang="en-US" sz="1100" noProof="1">
                <a:solidFill>
                  <a:srgbClr val="6E747B"/>
                </a:solidFill>
                <a:latin typeface="Inter"/>
                <a:ea typeface="Inter"/>
              </a:rPr>
              <a:t>word retention — ordered OCR reconstruction</a:t>
            </a:r>
            <a:endParaRPr lang="en-US" sz="1100" noProof="1"/>
          </a:p>
        </p:txBody>
      </p:sp>
      <p:sp>
        <p:nvSpPr>
          <p:cNvPr id="10" name="m3-num"/>
          <p:cNvSpPr txBox="1"/>
          <p:nvPr/>
        </p:nvSpPr>
        <p:spPr>
          <a:xfrm>
            <a:off x="6248400" y="2184400"/>
            <a:ext cx="2667000" cy="711200"/>
          </a:xfrm>
          <a:prstGeom prst="rect">
            <a:avLst/>
          </a:prstGeom>
          <a:noFill/>
          <a:ln>
            <a:noFill/>
          </a:ln>
        </p:spPr>
        <p:txBody>
          <a:bodyPr lIns="0" rIns="0" tIns="0" bIns="0" wrap="none" rtlCol="0"/>
          <a:lstStyle/>
          <a:p>
            <a:pPr>
              <a:lnSpc>
                <a:spcPct val="120000"/>
              </a:lnSpc>
            </a:pPr>
            <a:r>
              <a:rPr lang="en-US" sz="4400" noProof="1" b="1">
                <a:solidFill>
                  <a:srgbClr val="C2521E"/>
                </a:solidFill>
                <a:latin typeface="JetBrains Mono"/>
                <a:ea typeface="JetBrains Mono"/>
              </a:rPr>
              <a:t>32,768</a:t>
            </a:r>
            <a:endParaRPr lang="en-US" sz="4400" noProof="1"/>
          </a:p>
        </p:txBody>
      </p:sp>
      <p:sp>
        <p:nvSpPr>
          <p:cNvPr id="11" name="m3-label"/>
          <p:cNvSpPr txBox="1"/>
          <p:nvPr/>
        </p:nvSpPr>
        <p:spPr>
          <a:xfrm>
            <a:off x="6248400" y="2971800"/>
            <a:ext cx="2413000" cy="762000"/>
          </a:xfrm>
          <a:prstGeom prst="rect">
            <a:avLst/>
          </a:prstGeom>
          <a:noFill/>
          <a:ln>
            <a:noFill/>
          </a:ln>
        </p:spPr>
        <p:txBody>
          <a:bodyPr lIns="0" rIns="0" tIns="0" bIns="0" wrap="square" rtlCol="0"/>
          <a:lstStyle/>
          <a:p>
            <a:pPr>
              <a:lnSpc>
                <a:spcPct val="145000"/>
              </a:lnSpc>
            </a:pPr>
            <a:r>
              <a:rPr lang="en-US" sz="1100" noProof="1">
                <a:solidFill>
                  <a:srgbClr val="6E747B"/>
                </a:solidFill>
                <a:latin typeface="Inter"/>
                <a:ea typeface="Inter"/>
              </a:rPr>
              <a:t>measurement sites per state, content-addressed</a:t>
            </a:r>
            <a:endParaRPr lang="en-US" sz="1100" noProof="1"/>
          </a:p>
        </p:txBody>
      </p:sp>
      <p:sp>
        <p:nvSpPr>
          <p:cNvPr id="12" name="m4-num"/>
          <p:cNvSpPr txBox="1"/>
          <p:nvPr/>
        </p:nvSpPr>
        <p:spPr>
          <a:xfrm>
            <a:off x="8966200" y="2184400"/>
            <a:ext cx="2413000" cy="711200"/>
          </a:xfrm>
          <a:prstGeom prst="rect">
            <a:avLst/>
          </a:prstGeom>
          <a:noFill/>
          <a:ln>
            <a:noFill/>
          </a:ln>
        </p:spPr>
        <p:txBody>
          <a:bodyPr lIns="0" rIns="0" tIns="0" bIns="0" wrap="none" rtlCol="0"/>
          <a:lstStyle/>
          <a:p>
            <a:pPr>
              <a:lnSpc>
                <a:spcPct val="120000"/>
              </a:lnSpc>
            </a:pPr>
            <a:r>
              <a:rPr lang="en-US" sz="4400" noProof="1" b="1">
                <a:solidFill>
                  <a:srgbClr val="C2521E"/>
                </a:solidFill>
                <a:latin typeface="JetBrains Mono"/>
                <a:ea typeface="JetBrains Mono"/>
              </a:rPr>
              <a:t>0</a:t>
            </a:r>
            <a:endParaRPr lang="en-US" sz="4400" noProof="1"/>
          </a:p>
        </p:txBody>
      </p:sp>
      <p:sp>
        <p:nvSpPr>
          <p:cNvPr id="13" name="m4-label"/>
          <p:cNvSpPr txBox="1"/>
          <p:nvPr/>
        </p:nvSpPr>
        <p:spPr>
          <a:xfrm>
            <a:off x="8966200" y="2971800"/>
            <a:ext cx="2413000" cy="762000"/>
          </a:xfrm>
          <a:prstGeom prst="rect">
            <a:avLst/>
          </a:prstGeom>
          <a:noFill/>
          <a:ln>
            <a:noFill/>
          </a:ln>
        </p:spPr>
        <p:txBody>
          <a:bodyPr lIns="0" rIns="0" tIns="0" bIns="0" wrap="square" rtlCol="0"/>
          <a:lstStyle/>
          <a:p>
            <a:pPr>
              <a:lnSpc>
                <a:spcPct val="145000"/>
              </a:lnSpc>
            </a:pPr>
            <a:r>
              <a:rPr lang="en-US" sz="1100" noProof="1">
                <a:solidFill>
                  <a:srgbClr val="6E747B"/>
                </a:solidFill>
                <a:latin typeface="Inter"/>
                <a:ea typeface="Inter"/>
              </a:rPr>
              <a:t>model changes — no retraining, no fine-tuning, no new weights</a:t>
            </a:r>
            <a:endParaRPr lang="en-US" sz="1100" noProof="1"/>
          </a:p>
        </p:txBody>
      </p:sp>
      <p:sp>
        <p:nvSpPr>
          <p:cNvPr id="14" name="rule-m"/>
          <p:cNvSpPr/>
          <p:nvPr/>
        </p:nvSpPr>
        <p:spPr>
          <a:xfrm>
            <a:off x="812800" y="3987800"/>
            <a:ext cx="10566400" cy="12700"/>
          </a:xfrm>
          <a:prstGeom prst="rect">
            <a:avLst/>
          </a:prstGeom>
          <a:solidFill>
            <a:srgbClr val="DCD8CF"/>
          </a:solidFill>
          <a:ln>
            <a:noFill/>
          </a:ln>
        </p:spPr>
      </p:sp>
      <p:sp>
        <p:nvSpPr>
          <p:cNvPr id="15" name="scen-head"/>
          <p:cNvSpPr txBox="1"/>
          <p:nvPr/>
        </p:nvSpPr>
        <p:spPr>
          <a:xfrm>
            <a:off x="812800" y="4216400"/>
            <a:ext cx="6350000" cy="254000"/>
          </a:xfrm>
          <a:prstGeom prst="rect">
            <a:avLst/>
          </a:prstGeom>
          <a:noFill/>
          <a:ln>
            <a:noFill/>
          </a:ln>
        </p:spPr>
        <p:txBody>
          <a:bodyPr lIns="0" rIns="0" tIns="0" bIns="0" wrap="none" rtlCol="0"/>
          <a:lstStyle/>
          <a:p>
            <a:pPr>
              <a:lnSpc>
                <a:spcPct val="120000"/>
              </a:lnSpc>
            </a:pPr>
            <a:r>
              <a:rPr lang="en-US" sz="1400" noProof="1" b="1">
                <a:solidFill>
                  <a:srgbClr val="1E5B4E"/>
                </a:solidFill>
                <a:latin typeface="Space Grotesk"/>
                <a:ea typeface="Space Grotesk"/>
              </a:rPr>
              <a:t>All six measured scenarios</a:t>
            </a:r>
            <a:endParaRPr lang="en-US" sz="1400" noProof="1"/>
          </a:p>
        </p:txBody>
      </p:sp>
      <p:sp>
        <p:nvSpPr>
          <p:cNvPr id="16" name="scen-body"/>
          <p:cNvSpPr txBox="1"/>
          <p:nvPr/>
        </p:nvSpPr>
        <p:spPr>
          <a:xfrm>
            <a:off x="812800" y="4546600"/>
            <a:ext cx="10566400" cy="12700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 </a:t>
            </a:r>
            <a:r>
              <a:rPr lang="en-US" sz="1150" noProof="1" b="1">
                <a:solidFill>
                  <a:srgbClr val="1A1D20"/>
                </a:solidFill>
                <a:latin typeface="Inter"/>
                <a:ea typeface="Inter"/>
              </a:rPr>
              <a:t>Vision-language-action stack</a:t>
            </a:r>
            <a:r>
              <a:rPr lang="en-US" sz="1150" noProof="1">
                <a:solidFill>
                  <a:srgbClr val="1A1D20"/>
                </a:solidFill>
                <a:latin typeface="Inter"/>
                <a:ea typeface="Inter"/>
              </a:rPr>
              <a:t> — hash-level round-trip accuracy 1.0 on a real VLA host</a:t>
            </a:r>
            <a:endParaRPr lang="en-US" sz="1150" noProof="1"/>
          </a:p>
          <a:p>
            <a:pPr>
              <a:lnSpc>
                <a:spcPct val="150000"/>
              </a:lnSpc>
              <a:spcBef>
                <a:spcPts val="500"/>
              </a:spcBef>
            </a:pPr>
            <a:r>
              <a:rPr lang="en-US" sz="1150" noProof="1">
                <a:solidFill>
                  <a:srgbClr val="1A1D20"/>
                </a:solidFill>
                <a:latin typeface="Inter"/>
                <a:ea typeface="Inter"/>
              </a:rPr>
              <a:t>— </a:t>
            </a:r>
            <a:r>
              <a:rPr lang="en-US" sz="1150" noProof="1" b="1">
                <a:solidFill>
                  <a:srgbClr val="1A1D20"/>
                </a:solidFill>
                <a:latin typeface="Inter"/>
                <a:ea typeface="Inter"/>
              </a:rPr>
              <a:t>Document intelligence (DeepSeek-OCR)</a:t>
            </a:r>
            <a:r>
              <a:rPr lang="en-US" sz="1150" noProof="1">
                <a:solidFill>
                  <a:srgbClr val="1A1D20"/>
                </a:solidFill>
                <a:latin typeface="Inter"/>
                <a:ea typeface="Inter"/>
              </a:rPr>
              <a:t> — 100% word retention, zero order loss, across a real 128K-vocabulary BPE boundary</a:t>
            </a:r>
            <a:endParaRPr lang="en-US" sz="1150" noProof="1"/>
          </a:p>
          <a:p>
            <a:pPr>
              <a:lnSpc>
                <a:spcPct val="150000"/>
              </a:lnSpc>
              <a:spcBef>
                <a:spcPts val="500"/>
              </a:spcBef>
            </a:pPr>
            <a:r>
              <a:rPr lang="en-US" sz="1150" noProof="1">
                <a:solidFill>
                  <a:srgbClr val="1A1D20"/>
                </a:solidFill>
                <a:latin typeface="Inter"/>
                <a:ea typeface="Inter"/>
              </a:rPr>
              <a:t>— </a:t>
            </a:r>
            <a:r>
              <a:rPr lang="en-US" sz="1150" noProof="1" b="1">
                <a:solidFill>
                  <a:srgbClr val="1A1D20"/>
                </a:solidFill>
                <a:latin typeface="Inter"/>
                <a:ea typeface="Inter"/>
              </a:rPr>
              <a:t>Vision grids</a:t>
            </a:r>
            <a:r>
              <a:rPr lang="en-US" sz="1150" noProof="1">
                <a:solidFill>
                  <a:srgbClr val="1A1D20"/>
                </a:solidFill>
                <a:latin typeface="Inter"/>
                <a:ea typeface="Inter"/>
              </a:rPr>
              <a:t> — 16×16 patch grids through conv(n,2) encoders, frame-by-frame positional restoration</a:t>
            </a:r>
            <a:endParaRPr lang="en-US" sz="1150" noProof="1"/>
          </a:p>
          <a:p>
            <a:pPr>
              <a:lnSpc>
                <a:spcPct val="150000"/>
              </a:lnSpc>
              <a:spcBef>
                <a:spcPts val="500"/>
              </a:spcBef>
            </a:pPr>
            <a:r>
              <a:rPr lang="en-US" sz="1150" noProof="1">
                <a:solidFill>
                  <a:srgbClr val="1A1D20"/>
                </a:solidFill>
                <a:latin typeface="Inter"/>
                <a:ea typeface="Inter"/>
              </a:rPr>
              <a:t>— </a:t>
            </a:r>
            <a:r>
              <a:rPr lang="en-US" sz="1150" noProof="1" b="1">
                <a:solidFill>
                  <a:srgbClr val="1A1D20"/>
                </a:solidFill>
                <a:latin typeface="Inter"/>
                <a:ea typeface="Inter"/>
              </a:rPr>
              <a:t>World-model memory (JEPA-style)</a:t>
            </a:r>
            <a:r>
              <a:rPr lang="en-US" sz="1150" noProof="1">
                <a:solidFill>
                  <a:srgbClr val="1A1D20"/>
                </a:solidFill>
                <a:latin typeface="Inter"/>
                <a:ea typeface="Inter"/>
              </a:rPr>
              <a:t> — content-addressed recall by Bell State Similarity, no GPU, no torch</a:t>
            </a:r>
            <a:endParaRPr lang="en-US" sz="1150" noProof="1"/>
          </a:p>
          <a:p>
            <a:pPr>
              <a:lnSpc>
                <a:spcPct val="150000"/>
              </a:lnSpc>
              <a:spcBef>
                <a:spcPts val="500"/>
              </a:spcBef>
            </a:pPr>
            <a:r>
              <a:rPr lang="en-US" sz="1150" noProof="1">
                <a:solidFill>
                  <a:srgbClr val="1A1D20"/>
                </a:solidFill>
                <a:latin typeface="Inter"/>
                <a:ea typeface="Inter"/>
              </a:rPr>
              <a:t>— </a:t>
            </a:r>
            <a:r>
              <a:rPr lang="en-US" sz="1150" noProof="1" b="1">
                <a:solidFill>
                  <a:srgbClr val="1A1D20"/>
                </a:solidFill>
                <a:latin typeface="Inter"/>
                <a:ea typeface="Inter"/>
              </a:rPr>
              <a:t>Language models</a:t>
            </a:r>
            <a:r>
              <a:rPr lang="en-US" sz="1150" noProof="1">
                <a:solidFill>
                  <a:srgbClr val="1A1D20"/>
                </a:solidFill>
                <a:latin typeface="Inter"/>
                <a:ea typeface="Inter"/>
              </a:rPr>
              <a:t> — multi-LLM side-car loops on real small LLMs · </a:t>
            </a:r>
            <a:r>
              <a:rPr lang="en-US" sz="1150" noProof="1" b="1">
                <a:solidFill>
                  <a:srgbClr val="1A1D20"/>
                </a:solidFill>
                <a:latin typeface="Inter"/>
                <a:ea typeface="Inter"/>
              </a:rPr>
              <a:t>Document platform</a:t>
            </a:r>
            <a:r>
              <a:rPr lang="en-US" sz="1150" noProof="1">
                <a:solidFill>
                  <a:srgbClr val="1A1D20"/>
                </a:solidFill>
                <a:latin typeface="Inter"/>
                <a:ea typeface="Inter"/>
              </a:rPr>
              <a:t> — the semantic compressor</a:t>
            </a:r>
            <a:endParaRPr lang="en-US" sz="1150" noProof="1"/>
          </a:p>
        </p:txBody>
      </p:sp>
      <p:sp>
        <p:nvSpPr>
          <p:cNvPr id="17" name="caveat"/>
          <p:cNvSpPr txBox="1"/>
          <p:nvPr/>
        </p:nvSpPr>
        <p:spPr>
          <a:xfrm>
            <a:off x="812800" y="6121400"/>
            <a:ext cx="10566400" cy="203200"/>
          </a:xfrm>
          <a:prstGeom prst="rect">
            <a:avLst/>
          </a:prstGeom>
          <a:noFill/>
          <a:ln>
            <a:noFill/>
          </a:ln>
        </p:spPr>
        <p:txBody>
          <a:bodyPr lIns="0" rIns="0" tIns="0" bIns="0" wrap="square" rtlCol="0"/>
          <a:lstStyle/>
          <a:p>
            <a:pPr>
              <a:lnSpc>
                <a:spcPct val="145000"/>
              </a:lnSpc>
            </a:pPr>
            <a:r>
              <a:rPr lang="en-US" sz="1000" noProof="1">
                <a:solidFill>
                  <a:srgbClr val="6E747B"/>
                </a:solidFill>
                <a:latin typeface="Inter"/>
                <a:ea typeface="Inter"/>
              </a:rPr>
              <a:t>Clinical and diagnostic outputs are research demonstrations for partner evaluation — not a medical device, and no replacement for clinician review.</a:t>
            </a:r>
            <a:endParaRPr lang="en-US" sz="1000" noProof="1"/>
          </a:p>
        </p:txBody>
      </p:sp>
      <p:sp>
        <p:nvSpPr>
          <p:cNvPr id="18"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19"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07</a:t>
            </a:r>
            <a:endParaRPr lang="en-US" sz="900" noProof="1"/>
          </a:p>
        </p:txBody>
      </p:sp>
    </p:spTree>
  </p:cSld>
  <p:clrMapOvr>
    <a:masterClrMapping/>
  </p:clrMapOvr>
</p:sld>
</file>

<file path=ppt/slides/slide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07 · HOW IT WORKS — THE REPRESENTATION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Under the hood: every state is a set of bits</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left-body"/>
          <p:cNvSpPr txBox="1"/>
          <p:nvPr/>
        </p:nvSpPr>
        <p:spPr>
          <a:xfrm>
            <a:off x="812800" y="1549400"/>
            <a:ext cx="5969000" cy="2159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The memory does not store text or embeddings. Each signal the model emits is lifted — by a fixed, deterministic mapping — into a </a:t>
            </a:r>
            <a:r>
              <a:rPr lang="en-US" sz="1250" noProof="1" b="1">
                <a:solidFill>
                  <a:srgbClr val="1A1D20"/>
                </a:solidFill>
                <a:latin typeface="Inter"/>
                <a:ea typeface="Inter"/>
              </a:rPr>
              <a:t>large bit set called an HLLSet</a:t>
            </a:r>
            <a:r>
              <a:rPr lang="en-US" sz="1250" noProof="1">
                <a:solidFill>
                  <a:srgbClr val="1A1D20"/>
                </a:solidFill>
                <a:latin typeface="Inter"/>
                <a:ea typeface="Inter"/>
              </a:rPr>
              <a:t>: a row of positions, each either on or off.</a:t>
            </a:r>
            <a:endParaRPr lang="en-US" sz="1250" noProof="1"/>
          </a:p>
          <a:p>
            <a:pPr>
              <a:lnSpc>
                <a:spcPct val="150000"/>
              </a:lnSpc>
              <a:spcBef>
                <a:spcPts val="1000"/>
              </a:spcBef>
            </a:pPr>
            <a:r>
              <a:rPr lang="en-US" sz="1250" noProof="1">
                <a:solidFill>
                  <a:srgbClr val="1A1D20"/>
                </a:solidFill>
                <a:latin typeface="Inter"/>
                <a:ea typeface="Inter"/>
              </a:rPr>
              <a:t>Because every state is a set of bits over the same space, states can be compared with plain set operations — union, intersection, difference — at the bit level. That is what makes the memory </a:t>
            </a:r>
            <a:r>
              <a:rPr lang="en-US" sz="1250" noProof="1" b="1">
                <a:solidFill>
                  <a:srgbClr val="1A1D20"/>
                </a:solidFill>
                <a:latin typeface="Inter"/>
                <a:ea typeface="Inter"/>
              </a:rPr>
              <a:t>structural</a:t>
            </a:r>
            <a:r>
              <a:rPr lang="en-US" sz="1250" noProof="1">
                <a:solidFill>
                  <a:srgbClr val="1A1D20"/>
                </a:solidFill>
                <a:latin typeface="Inter"/>
                <a:ea typeface="Inter"/>
              </a:rPr>
              <a:t>: "what changed?" becomes a set difference, not a guess over text.</a:t>
            </a:r>
            <a:endParaRPr lang="en-US" sz="1250" noProof="1"/>
          </a:p>
        </p:txBody>
      </p:sp>
      <p:sp>
        <p:nvSpPr>
          <p:cNvPr id="6" name="left-body-2"/>
          <p:cNvSpPr txBox="1"/>
          <p:nvPr/>
        </p:nvSpPr>
        <p:spPr>
          <a:xfrm>
            <a:off x="812800" y="3810000"/>
            <a:ext cx="5969000" cy="1397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The mapping itself is the only contract, called </a:t>
            </a:r>
            <a:r>
              <a:rPr lang="en-US" sz="1250" noProof="1" b="1">
                <a:solidFill>
                  <a:srgbClr val="1A1D20"/>
                </a:solidFill>
                <a:latin typeface="Inter"/>
                <a:ea typeface="Inter"/>
              </a:rPr>
              <a:t>IICA</a:t>
            </a:r>
            <a:r>
              <a:rPr lang="en-US" sz="1250" noProof="1">
                <a:solidFill>
                  <a:srgbClr val="1A1D20"/>
                </a:solidFill>
                <a:latin typeface="Inter"/>
                <a:ea typeface="Inter"/>
              </a:rPr>
              <a:t> — Idempotence, Immutability, Content Addressability: the same input always yields the same bit set, states never change once written, and every state is named by its own content hash. Any mapping that honours IICA is interchangeable.</a:t>
            </a:r>
            <a:endParaRPr lang="en-US" sz="1250" noProof="1"/>
          </a:p>
        </p:txBody>
      </p:sp>
      <p:sp>
        <p:nvSpPr>
          <p:cNvPr id="7" name="strip-bar"/>
          <p:cNvSpPr/>
          <p:nvPr/>
        </p:nvSpPr>
        <p:spPr>
          <a:xfrm>
            <a:off x="812800" y="5588000"/>
            <a:ext cx="38100" cy="609600"/>
          </a:xfrm>
          <a:prstGeom prst="rect">
            <a:avLst/>
          </a:prstGeom>
          <a:solidFill>
            <a:srgbClr val="C2521E"/>
          </a:solidFill>
          <a:ln>
            <a:noFill/>
          </a:ln>
        </p:spPr>
      </p:sp>
      <p:sp>
        <p:nvSpPr>
          <p:cNvPr id="8" name="strip-text"/>
          <p:cNvSpPr txBox="1"/>
          <p:nvPr/>
        </p:nvSpPr>
        <p:spPr>
          <a:xfrm>
            <a:off x="1016000" y="5588000"/>
            <a:ext cx="5969000" cy="6096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Tokens are restored only by </a:t>
            </a:r>
            <a:r>
              <a:rPr lang="en-US" sz="1200" noProof="1" b="1">
                <a:solidFill>
                  <a:srgbClr val="1A1D20"/>
                </a:solidFill>
                <a:latin typeface="Inter"/>
                <a:ea typeface="Inter"/>
              </a:rPr>
              <a:t>materialization</a:t>
            </a:r>
            <a:r>
              <a:rPr lang="en-US" sz="1200" noProof="1">
                <a:solidFill>
                  <a:srgbClr val="1A1D20"/>
                </a:solidFill>
                <a:latin typeface="Inter"/>
                <a:ea typeface="Inter"/>
              </a:rPr>
              <a:t> — a lookup that keeps every candidate, probabilistic on the extras, exact on the builders. Ingest lifts tokens into bits; materialize lowers bits back into tokens.</a:t>
            </a:r>
            <a:endParaRPr lang="en-US" sz="1200" noProof="1"/>
          </a:p>
        </p:txBody>
      </p:sp>
      <p:sp>
        <p:nvSpPr>
          <p:cNvPr id="9" name="bits-label"/>
          <p:cNvSpPr txBox="1"/>
          <p:nvPr/>
        </p:nvSpPr>
        <p:spPr>
          <a:xfrm>
            <a:off x="7620000" y="1549400"/>
            <a:ext cx="3759200" cy="203200"/>
          </a:xfrm>
          <a:prstGeom prst="rect">
            <a:avLst/>
          </a:prstGeom>
          <a:noFill/>
          <a:ln>
            <a:noFill/>
          </a:ln>
        </p:spPr>
        <p:txBody>
          <a:bodyPr lIns="0" rIns="0" tIns="0" bIns="0" wrap="none" rtlCol="0"/>
          <a:lstStyle/>
          <a:p>
            <a:pPr>
              <a:lnSpc>
                <a:spcPct val="120000"/>
              </a:lnSpc>
            </a:pPr>
            <a:r>
              <a:rPr lang="en-US" sz="1000" noProof="1">
                <a:solidFill>
                  <a:srgbClr val="6E747B"/>
                </a:solidFill>
                <a:latin typeface="JetBrains Mono"/>
                <a:ea typeface="JetBrains Mono"/>
              </a:rPr>
              <a:t>ONE HLLSET — A ROW OF BITS</a:t>
            </a:r>
            <a:endParaRPr lang="en-US" sz="1000" noProof="1"/>
          </a:p>
        </p:txBody>
      </p:sp>
      <p:sp>
        <p:nvSpPr>
          <p:cNvPr id="10" name="b01"/>
          <p:cNvSpPr/>
          <p:nvPr/>
        </p:nvSpPr>
        <p:spPr>
          <a:xfrm>
            <a:off x="7620000" y="1879600"/>
            <a:ext cx="203200" cy="203200"/>
          </a:xfrm>
          <a:prstGeom prst="rect">
            <a:avLst/>
          </a:prstGeom>
          <a:solidFill>
            <a:srgbClr val="DDD9D0"/>
          </a:solidFill>
          <a:ln>
            <a:noFill/>
          </a:ln>
        </p:spPr>
      </p:sp>
      <p:sp>
        <p:nvSpPr>
          <p:cNvPr id="11" name="b02"/>
          <p:cNvSpPr/>
          <p:nvPr/>
        </p:nvSpPr>
        <p:spPr>
          <a:xfrm>
            <a:off x="7874000" y="1879600"/>
            <a:ext cx="203200" cy="203200"/>
          </a:xfrm>
          <a:prstGeom prst="rect">
            <a:avLst/>
          </a:prstGeom>
          <a:solidFill>
            <a:srgbClr val="1E5B4E"/>
          </a:solidFill>
          <a:ln>
            <a:noFill/>
          </a:ln>
        </p:spPr>
      </p:sp>
      <p:sp>
        <p:nvSpPr>
          <p:cNvPr id="12" name="b03"/>
          <p:cNvSpPr/>
          <p:nvPr/>
        </p:nvSpPr>
        <p:spPr>
          <a:xfrm>
            <a:off x="8128000" y="1879600"/>
            <a:ext cx="203200" cy="203200"/>
          </a:xfrm>
          <a:prstGeom prst="rect">
            <a:avLst/>
          </a:prstGeom>
          <a:solidFill>
            <a:srgbClr val="DDD9D0"/>
          </a:solidFill>
          <a:ln>
            <a:noFill/>
          </a:ln>
        </p:spPr>
      </p:sp>
      <p:sp>
        <p:nvSpPr>
          <p:cNvPr id="13" name="b04"/>
          <p:cNvSpPr/>
          <p:nvPr/>
        </p:nvSpPr>
        <p:spPr>
          <a:xfrm>
            <a:off x="8382000" y="1879600"/>
            <a:ext cx="203200" cy="203200"/>
          </a:xfrm>
          <a:prstGeom prst="rect">
            <a:avLst/>
          </a:prstGeom>
          <a:solidFill>
            <a:srgbClr val="DDD9D0"/>
          </a:solidFill>
          <a:ln>
            <a:noFill/>
          </a:ln>
        </p:spPr>
      </p:sp>
      <p:sp>
        <p:nvSpPr>
          <p:cNvPr id="14" name="b05"/>
          <p:cNvSpPr/>
          <p:nvPr/>
        </p:nvSpPr>
        <p:spPr>
          <a:xfrm>
            <a:off x="8636000" y="1879600"/>
            <a:ext cx="203200" cy="203200"/>
          </a:xfrm>
          <a:prstGeom prst="rect">
            <a:avLst/>
          </a:prstGeom>
          <a:solidFill>
            <a:srgbClr val="1E5B4E"/>
          </a:solidFill>
          <a:ln>
            <a:noFill/>
          </a:ln>
        </p:spPr>
      </p:sp>
      <p:sp>
        <p:nvSpPr>
          <p:cNvPr id="15" name="b06"/>
          <p:cNvSpPr/>
          <p:nvPr/>
        </p:nvSpPr>
        <p:spPr>
          <a:xfrm>
            <a:off x="8890000" y="1879600"/>
            <a:ext cx="203200" cy="203200"/>
          </a:xfrm>
          <a:prstGeom prst="rect">
            <a:avLst/>
          </a:prstGeom>
          <a:solidFill>
            <a:srgbClr val="DDD9D0"/>
          </a:solidFill>
          <a:ln>
            <a:noFill/>
          </a:ln>
        </p:spPr>
      </p:sp>
      <p:sp>
        <p:nvSpPr>
          <p:cNvPr id="16" name="b07"/>
          <p:cNvSpPr/>
          <p:nvPr/>
        </p:nvSpPr>
        <p:spPr>
          <a:xfrm>
            <a:off x="9144000" y="1879600"/>
            <a:ext cx="203200" cy="203200"/>
          </a:xfrm>
          <a:prstGeom prst="rect">
            <a:avLst/>
          </a:prstGeom>
          <a:solidFill>
            <a:srgbClr val="DDD9D0"/>
          </a:solidFill>
          <a:ln>
            <a:noFill/>
          </a:ln>
        </p:spPr>
      </p:sp>
      <p:sp>
        <p:nvSpPr>
          <p:cNvPr id="17" name="b08"/>
          <p:cNvSpPr/>
          <p:nvPr/>
        </p:nvSpPr>
        <p:spPr>
          <a:xfrm>
            <a:off x="9398000" y="1879600"/>
            <a:ext cx="203200" cy="203200"/>
          </a:xfrm>
          <a:prstGeom prst="rect">
            <a:avLst/>
          </a:prstGeom>
          <a:solidFill>
            <a:srgbClr val="DDD9D0"/>
          </a:solidFill>
          <a:ln>
            <a:noFill/>
          </a:ln>
        </p:spPr>
      </p:sp>
      <p:sp>
        <p:nvSpPr>
          <p:cNvPr id="18" name="b09"/>
          <p:cNvSpPr/>
          <p:nvPr/>
        </p:nvSpPr>
        <p:spPr>
          <a:xfrm>
            <a:off x="9652000" y="1879600"/>
            <a:ext cx="203200" cy="203200"/>
          </a:xfrm>
          <a:prstGeom prst="rect">
            <a:avLst/>
          </a:prstGeom>
          <a:solidFill>
            <a:srgbClr val="1E5B4E"/>
          </a:solidFill>
          <a:ln>
            <a:noFill/>
          </a:ln>
        </p:spPr>
      </p:sp>
      <p:sp>
        <p:nvSpPr>
          <p:cNvPr id="19" name="b10"/>
          <p:cNvSpPr/>
          <p:nvPr/>
        </p:nvSpPr>
        <p:spPr>
          <a:xfrm>
            <a:off x="9906000" y="1879600"/>
            <a:ext cx="203200" cy="203200"/>
          </a:xfrm>
          <a:prstGeom prst="rect">
            <a:avLst/>
          </a:prstGeom>
          <a:solidFill>
            <a:srgbClr val="DDD9D0"/>
          </a:solidFill>
          <a:ln>
            <a:noFill/>
          </a:ln>
        </p:spPr>
      </p:sp>
      <p:sp>
        <p:nvSpPr>
          <p:cNvPr id="20" name="b11"/>
          <p:cNvSpPr/>
          <p:nvPr/>
        </p:nvSpPr>
        <p:spPr>
          <a:xfrm>
            <a:off x="10160000" y="1879600"/>
            <a:ext cx="203200" cy="203200"/>
          </a:xfrm>
          <a:prstGeom prst="rect">
            <a:avLst/>
          </a:prstGeom>
          <a:solidFill>
            <a:srgbClr val="DDD9D0"/>
          </a:solidFill>
          <a:ln>
            <a:noFill/>
          </a:ln>
        </p:spPr>
      </p:sp>
      <p:sp>
        <p:nvSpPr>
          <p:cNvPr id="21" name="b12"/>
          <p:cNvSpPr/>
          <p:nvPr/>
        </p:nvSpPr>
        <p:spPr>
          <a:xfrm>
            <a:off x="10414000" y="1879600"/>
            <a:ext cx="203200" cy="203200"/>
          </a:xfrm>
          <a:prstGeom prst="rect">
            <a:avLst/>
          </a:prstGeom>
          <a:solidFill>
            <a:srgbClr val="1E5B4E"/>
          </a:solidFill>
          <a:ln>
            <a:noFill/>
          </a:ln>
        </p:spPr>
      </p:sp>
      <p:sp>
        <p:nvSpPr>
          <p:cNvPr id="22" name="b13"/>
          <p:cNvSpPr/>
          <p:nvPr/>
        </p:nvSpPr>
        <p:spPr>
          <a:xfrm>
            <a:off x="10668000" y="1879600"/>
            <a:ext cx="203200" cy="203200"/>
          </a:xfrm>
          <a:prstGeom prst="rect">
            <a:avLst/>
          </a:prstGeom>
          <a:solidFill>
            <a:srgbClr val="DDD9D0"/>
          </a:solidFill>
          <a:ln>
            <a:noFill/>
          </a:ln>
        </p:spPr>
      </p:sp>
      <p:sp>
        <p:nvSpPr>
          <p:cNvPr id="23" name="b14"/>
          <p:cNvSpPr/>
          <p:nvPr/>
        </p:nvSpPr>
        <p:spPr>
          <a:xfrm>
            <a:off x="10922000" y="1879600"/>
            <a:ext cx="203200" cy="203200"/>
          </a:xfrm>
          <a:prstGeom prst="rect">
            <a:avLst/>
          </a:prstGeom>
          <a:solidFill>
            <a:srgbClr val="DDD9D0"/>
          </a:solidFill>
          <a:ln>
            <a:noFill/>
          </a:ln>
        </p:spPr>
      </p:sp>
      <p:sp>
        <p:nvSpPr>
          <p:cNvPr id="24" name="b15"/>
          <p:cNvSpPr/>
          <p:nvPr/>
        </p:nvSpPr>
        <p:spPr>
          <a:xfrm>
            <a:off x="11176000" y="1879600"/>
            <a:ext cx="203200" cy="203200"/>
          </a:xfrm>
          <a:prstGeom prst="rect">
            <a:avLst/>
          </a:prstGeom>
          <a:solidFill>
            <a:srgbClr val="1E5B4E"/>
          </a:solidFill>
          <a:ln>
            <a:noFill/>
          </a:ln>
        </p:spPr>
      </p:sp>
      <p:sp>
        <p:nvSpPr>
          <p:cNvPr id="25" name="ops-label"/>
          <p:cNvSpPr txBox="1"/>
          <p:nvPr/>
        </p:nvSpPr>
        <p:spPr>
          <a:xfrm>
            <a:off x="7620000" y="2413000"/>
            <a:ext cx="3759200" cy="203200"/>
          </a:xfrm>
          <a:prstGeom prst="rect">
            <a:avLst/>
          </a:prstGeom>
          <a:noFill/>
          <a:ln>
            <a:noFill/>
          </a:ln>
        </p:spPr>
        <p:txBody>
          <a:bodyPr lIns="0" rIns="0" tIns="0" bIns="0" wrap="none" rtlCol="0"/>
          <a:lstStyle/>
          <a:p>
            <a:pPr>
              <a:lnSpc>
                <a:spcPct val="120000"/>
              </a:lnSpc>
            </a:pPr>
            <a:r>
              <a:rPr lang="en-US" sz="1000" noProof="1">
                <a:solidFill>
                  <a:srgbClr val="6E747B"/>
                </a:solidFill>
                <a:latin typeface="JetBrains Mono"/>
                <a:ea typeface="JetBrains Mono"/>
              </a:rPr>
              <a:t>SET OPERATIONS OVER THE SAME SPACE</a:t>
            </a:r>
            <a:endParaRPr lang="en-US" sz="1000" noProof="1"/>
          </a:p>
        </p:txBody>
      </p:sp>
      <p:sp>
        <p:nvSpPr>
          <p:cNvPr id="26" name="op1-name"/>
          <p:cNvSpPr txBox="1"/>
          <p:nvPr/>
        </p:nvSpPr>
        <p:spPr>
          <a:xfrm>
            <a:off x="7620000" y="2743200"/>
            <a:ext cx="1651000" cy="228600"/>
          </a:xfrm>
          <a:prstGeom prst="rect">
            <a:avLst/>
          </a:prstGeom>
          <a:noFill/>
          <a:ln>
            <a:noFill/>
          </a:ln>
        </p:spPr>
        <p:txBody>
          <a:bodyPr lIns="0" rIns="0" tIns="0" bIns="0" wrap="none" rtlCol="0"/>
          <a:lstStyle/>
          <a:p>
            <a:pPr>
              <a:lnSpc>
                <a:spcPct val="120000"/>
              </a:lnSpc>
            </a:pPr>
            <a:r>
              <a:rPr lang="en-US" sz="1100" noProof="1" b="1">
                <a:solidFill>
                  <a:srgbClr val="1E5B4E"/>
                </a:solidFill>
                <a:latin typeface="JetBrains Mono"/>
                <a:ea typeface="JetBrains Mono"/>
              </a:rPr>
              <a:t>A ∪ B</a:t>
            </a:r>
            <a:endParaRPr lang="en-US" sz="1100" noProof="1"/>
          </a:p>
        </p:txBody>
      </p:sp>
      <p:sp>
        <p:nvSpPr>
          <p:cNvPr id="27" name="op1-desc"/>
          <p:cNvSpPr txBox="1"/>
          <p:nvPr/>
        </p:nvSpPr>
        <p:spPr>
          <a:xfrm>
            <a:off x="9347200" y="2743200"/>
            <a:ext cx="2032000" cy="4064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union — everything either state holds</a:t>
            </a:r>
            <a:endParaRPr lang="en-US" sz="1050" noProof="1"/>
          </a:p>
        </p:txBody>
      </p:sp>
      <p:sp>
        <p:nvSpPr>
          <p:cNvPr id="28" name="op2-name"/>
          <p:cNvSpPr txBox="1"/>
          <p:nvPr/>
        </p:nvSpPr>
        <p:spPr>
          <a:xfrm>
            <a:off x="7620000" y="3276600"/>
            <a:ext cx="1651000" cy="228600"/>
          </a:xfrm>
          <a:prstGeom prst="rect">
            <a:avLst/>
          </a:prstGeom>
          <a:noFill/>
          <a:ln>
            <a:noFill/>
          </a:ln>
        </p:spPr>
        <p:txBody>
          <a:bodyPr lIns="0" rIns="0" tIns="0" bIns="0" wrap="none" rtlCol="0"/>
          <a:lstStyle/>
          <a:p>
            <a:pPr>
              <a:lnSpc>
                <a:spcPct val="120000"/>
              </a:lnSpc>
            </a:pPr>
            <a:r>
              <a:rPr lang="en-US" sz="1100" noProof="1" b="1">
                <a:solidFill>
                  <a:srgbClr val="1E5B4E"/>
                </a:solidFill>
                <a:latin typeface="JetBrains Mono"/>
                <a:ea typeface="JetBrains Mono"/>
              </a:rPr>
              <a:t>A ∩ B</a:t>
            </a:r>
            <a:endParaRPr lang="en-US" sz="1100" noProof="1"/>
          </a:p>
        </p:txBody>
      </p:sp>
      <p:sp>
        <p:nvSpPr>
          <p:cNvPr id="29" name="op2-desc"/>
          <p:cNvSpPr txBox="1"/>
          <p:nvPr/>
        </p:nvSpPr>
        <p:spPr>
          <a:xfrm>
            <a:off x="9347200" y="3276600"/>
            <a:ext cx="2032000" cy="4064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intersection — what both states share</a:t>
            </a:r>
            <a:endParaRPr lang="en-US" sz="1050" noProof="1"/>
          </a:p>
        </p:txBody>
      </p:sp>
      <p:sp>
        <p:nvSpPr>
          <p:cNvPr id="30" name="op3-name"/>
          <p:cNvSpPr txBox="1"/>
          <p:nvPr/>
        </p:nvSpPr>
        <p:spPr>
          <a:xfrm>
            <a:off x="7620000" y="3810000"/>
            <a:ext cx="1651000" cy="228600"/>
          </a:xfrm>
          <a:prstGeom prst="rect">
            <a:avLst/>
          </a:prstGeom>
          <a:noFill/>
          <a:ln>
            <a:noFill/>
          </a:ln>
        </p:spPr>
        <p:txBody>
          <a:bodyPr lIns="0" rIns="0" tIns="0" bIns="0" wrap="none" rtlCol="0"/>
          <a:lstStyle/>
          <a:p>
            <a:pPr>
              <a:lnSpc>
                <a:spcPct val="120000"/>
              </a:lnSpc>
            </a:pPr>
            <a:r>
              <a:rPr lang="en-US" sz="1100" noProof="1" b="1">
                <a:solidFill>
                  <a:srgbClr val="1E5B4E"/>
                </a:solidFill>
                <a:latin typeface="JetBrains Mono"/>
                <a:ea typeface="JetBrains Mono"/>
              </a:rPr>
              <a:t>A \ B</a:t>
            </a:r>
            <a:endParaRPr lang="en-US" sz="1100" noProof="1"/>
          </a:p>
        </p:txBody>
      </p:sp>
      <p:sp>
        <p:nvSpPr>
          <p:cNvPr id="31" name="op3-desc"/>
          <p:cNvSpPr txBox="1"/>
          <p:nvPr/>
        </p:nvSpPr>
        <p:spPr>
          <a:xfrm>
            <a:off x="9347200" y="3810000"/>
            <a:ext cx="2032000" cy="4064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difference — what one state added or lost</a:t>
            </a:r>
            <a:endParaRPr lang="en-US" sz="1050" noProof="1"/>
          </a:p>
        </p:txBody>
      </p:sp>
      <p:sp>
        <p:nvSpPr>
          <p:cNvPr id="32" name="hash-label"/>
          <p:cNvSpPr txBox="1"/>
          <p:nvPr/>
        </p:nvSpPr>
        <p:spPr>
          <a:xfrm>
            <a:off x="7620000" y="4470400"/>
            <a:ext cx="3759200" cy="203200"/>
          </a:xfrm>
          <a:prstGeom prst="rect">
            <a:avLst/>
          </a:prstGeom>
          <a:noFill/>
          <a:ln>
            <a:noFill/>
          </a:ln>
        </p:spPr>
        <p:txBody>
          <a:bodyPr lIns="0" rIns="0" tIns="0" bIns="0" wrap="none" rtlCol="0"/>
          <a:lstStyle/>
          <a:p>
            <a:pPr>
              <a:lnSpc>
                <a:spcPct val="120000"/>
              </a:lnSpc>
            </a:pPr>
            <a:r>
              <a:rPr lang="en-US" sz="1000" noProof="1">
                <a:solidFill>
                  <a:srgbClr val="6E747B"/>
                </a:solidFill>
                <a:latin typeface="JetBrains Mono"/>
                <a:ea typeface="JetBrains Mono"/>
              </a:rPr>
              <a:t>EVERY STATE NAMED BY ITS CONTENT</a:t>
            </a:r>
            <a:endParaRPr lang="en-US" sz="1000" noProof="1"/>
          </a:p>
        </p:txBody>
      </p:sp>
      <p:sp>
        <p:nvSpPr>
          <p:cNvPr id="33" name="hash-box"/>
          <p:cNvSpPr/>
          <p:nvPr/>
        </p:nvSpPr>
        <p:spPr>
          <a:xfrm>
            <a:off x="7620000" y="4775200"/>
            <a:ext cx="3759200" cy="508000"/>
          </a:xfrm>
          <a:prstGeom prst="rect">
            <a:avLst/>
          </a:prstGeom>
          <a:solidFill>
            <a:srgbClr val="F1EFE9"/>
          </a:solidFill>
          <a:ln>
            <a:noFill/>
          </a:ln>
        </p:spPr>
      </p:sp>
      <p:sp>
        <p:nvSpPr>
          <p:cNvPr id="34" name="hash-text"/>
          <p:cNvSpPr txBox="1"/>
          <p:nvPr/>
        </p:nvSpPr>
        <p:spPr>
          <a:xfrm>
            <a:off x="7823200" y="4775200"/>
            <a:ext cx="3352800" cy="508000"/>
          </a:xfrm>
          <a:prstGeom prst="rect">
            <a:avLst/>
          </a:prstGeom>
          <a:noFill/>
          <a:ln>
            <a:noFill/>
          </a:ln>
        </p:spPr>
        <p:txBody>
          <a:bodyPr lIns="0" rIns="0" tIns="0" bIns="0" wrap="none" rtlCol="0" anchor="ctr"/>
          <a:lstStyle/>
          <a:p>
            <a:pPr algn="l">
              <a:lnSpc>
                <a:spcPct val="120000"/>
              </a:lnSpc>
            </a:pPr>
            <a:r>
              <a:rPr lang="en-US" sz="1050" noProof="1">
                <a:solidFill>
                  <a:srgbClr val="1A1D20"/>
                </a:solidFill>
                <a:latin typeface="JetBrains Mono"/>
                <a:ea typeface="JetBrains Mono"/>
              </a:rPr>
              <a:t>h:&lt;sha1&gt; → the state itself</a:t>
            </a:r>
            <a:endParaRPr lang="en-US" sz="1050" noProof="1"/>
          </a:p>
        </p:txBody>
      </p:sp>
      <p:sp>
        <p:nvSpPr>
          <p:cNvPr id="35" name="hash-note"/>
          <p:cNvSpPr txBox="1"/>
          <p:nvPr/>
        </p:nvSpPr>
        <p:spPr>
          <a:xfrm>
            <a:off x="7620000" y="5435600"/>
            <a:ext cx="3759200" cy="7620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Same content, same name — so any copy of the memory can be checked against any other, bit for bit.</a:t>
            </a:r>
            <a:endParaRPr lang="en-US" sz="1050" noProof="1"/>
          </a:p>
        </p:txBody>
      </p:sp>
      <p:sp>
        <p:nvSpPr>
          <p:cNvPr id="36"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37"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08</a:t>
            </a:r>
            <a:endParaRPr lang="en-US" sz="900" noProof="1"/>
          </a:p>
        </p:txBody>
      </p:sp>
    </p:spTree>
  </p:cSld>
  <p:clrMapOvr>
    <a:masterClrMapping/>
  </p:clrMapOvr>
</p:sld>
</file>

<file path=ppt/slides/slide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08 · HOW IT WORKS — THE STATE EQUATION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The fundamental equation — what changed, answered exactly</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eq-panel"/>
          <p:cNvSpPr/>
          <p:nvPr/>
        </p:nvSpPr>
        <p:spPr>
          <a:xfrm>
            <a:off x="812800" y="1549400"/>
            <a:ext cx="6350000" cy="711200"/>
          </a:xfrm>
          <a:prstGeom prst="rect">
            <a:avLst/>
          </a:prstGeom>
          <a:solidFill>
            <a:srgbClr val="F1EFE9"/>
          </a:solidFill>
          <a:ln>
            <a:noFill/>
          </a:ln>
        </p:spPr>
      </p:sp>
      <p:sp>
        <p:nvSpPr>
          <p:cNvPr id="6" name="eq-text"/>
          <p:cNvSpPr txBox="1"/>
          <p:nvPr/>
        </p:nvSpPr>
        <p:spPr>
          <a:xfrm>
            <a:off x="1066800" y="1549400"/>
            <a:ext cx="5969000" cy="711200"/>
          </a:xfrm>
          <a:prstGeom prst="rect">
            <a:avLst/>
          </a:prstGeom>
          <a:noFill/>
          <a:ln>
            <a:noFill/>
          </a:ln>
        </p:spPr>
        <p:txBody>
          <a:bodyPr lIns="0" rIns="0" tIns="0" bIns="0" wrap="none" rtlCol="0" anchor="ctr"/>
          <a:lstStyle/>
          <a:p>
            <a:pPr algn="l">
              <a:lnSpc>
                <a:spcPct val="120000"/>
              </a:lnSpc>
            </a:pPr>
            <a:r>
              <a:rPr lang="en-US" sz="1700" noProof="1" b="1">
                <a:solidFill>
                  <a:srgbClr val="1A1D20"/>
                </a:solidFill>
                <a:latin typeface="JetBrains Mono"/>
                <a:ea typeface="JetBrains Mono"/>
              </a:rPr>
              <a:t>H(t) = ( S(t), H(t−1), D, R, N )</a:t>
            </a:r>
            <a:endParaRPr lang="en-US" sz="1700" noProof="1"/>
          </a:p>
        </p:txBody>
      </p:sp>
      <p:sp>
        <p:nvSpPr>
          <p:cNvPr id="7" name="def-s"/>
          <p:cNvSpPr txBox="1"/>
          <p:nvPr/>
        </p:nvSpPr>
        <p:spPr>
          <a:xfrm>
            <a:off x="812800" y="2514600"/>
            <a:ext cx="6350000" cy="508000"/>
          </a:xfrm>
          <a:prstGeom prst="rect">
            <a:avLst/>
          </a:prstGeom>
          <a:noFill/>
          <a:ln>
            <a:noFill/>
          </a:ln>
        </p:spPr>
        <p:txBody>
          <a:bodyPr lIns="0" rIns="0" tIns="0" bIns="0" wrap="square" rtlCol="0"/>
          <a:lstStyle/>
          <a:p>
            <a:pPr>
              <a:lnSpc>
                <a:spcPct val="150000"/>
              </a:lnSpc>
            </a:pPr>
            <a:r>
              <a:rPr lang="en-US" sz="1200" noProof="1" b="1">
                <a:solidFill>
                  <a:srgbClr val="C2521E"/>
                </a:solidFill>
                <a:latin typeface="JetBrains Mono"/>
                <a:ea typeface="JetBrains Mono"/>
              </a:rPr>
              <a:t>S(t)</a:t>
            </a:r>
            <a:r>
              <a:rPr lang="en-US" sz="1200" noProof="1">
                <a:solidFill>
                  <a:srgbClr val="1A1D20"/>
                </a:solidFill>
                <a:latin typeface="Inter"/>
                <a:ea typeface="Inter"/>
              </a:rPr>
              <a:t> — the state forming right now; work in progress, the tip of the stack</a:t>
            </a:r>
            <a:endParaRPr lang="en-US" sz="1200" noProof="1"/>
          </a:p>
        </p:txBody>
      </p:sp>
      <p:sp>
        <p:nvSpPr>
          <p:cNvPr id="8" name="def-h"/>
          <p:cNvSpPr txBox="1"/>
          <p:nvPr/>
        </p:nvSpPr>
        <p:spPr>
          <a:xfrm>
            <a:off x="812800" y="3048000"/>
            <a:ext cx="6350000" cy="508000"/>
          </a:xfrm>
          <a:prstGeom prst="rect">
            <a:avLst/>
          </a:prstGeom>
          <a:noFill/>
          <a:ln>
            <a:noFill/>
          </a:ln>
        </p:spPr>
        <p:txBody>
          <a:bodyPr lIns="0" rIns="0" tIns="0" bIns="0" wrap="square" rtlCol="0"/>
          <a:lstStyle/>
          <a:p>
            <a:pPr>
              <a:lnSpc>
                <a:spcPct val="150000"/>
              </a:lnSpc>
            </a:pPr>
            <a:r>
              <a:rPr lang="en-US" sz="1200" noProof="1" b="1">
                <a:solidFill>
                  <a:srgbClr val="C2521E"/>
                </a:solidFill>
                <a:latin typeface="JetBrains Mono"/>
                <a:ea typeface="JetBrains Mono"/>
              </a:rPr>
              <a:t>H(t−1)</a:t>
            </a:r>
            <a:r>
              <a:rPr lang="en-US" sz="1200" noProof="1">
                <a:solidFill>
                  <a:srgbClr val="1A1D20"/>
                </a:solidFill>
                <a:latin typeface="Inter"/>
                <a:ea typeface="Inter"/>
              </a:rPr>
              <a:t> — the last committed state; the cache, required to commit</a:t>
            </a:r>
            <a:endParaRPr lang="en-US" sz="1200" noProof="1"/>
          </a:p>
        </p:txBody>
      </p:sp>
      <p:sp>
        <p:nvSpPr>
          <p:cNvPr id="9" name="def-n"/>
          <p:cNvSpPr txBox="1"/>
          <p:nvPr/>
        </p:nvSpPr>
        <p:spPr>
          <a:xfrm>
            <a:off x="812800" y="3581400"/>
            <a:ext cx="6350000" cy="508000"/>
          </a:xfrm>
          <a:prstGeom prst="rect">
            <a:avLst/>
          </a:prstGeom>
          <a:noFill/>
          <a:ln>
            <a:noFill/>
          </a:ln>
        </p:spPr>
        <p:txBody>
          <a:bodyPr lIns="0" rIns="0" tIns="0" bIns="0" wrap="square" rtlCol="0"/>
          <a:lstStyle/>
          <a:p>
            <a:pPr>
              <a:lnSpc>
                <a:spcPct val="150000"/>
              </a:lnSpc>
            </a:pPr>
            <a:r>
              <a:rPr lang="en-US" sz="1200" noProof="1" b="1">
                <a:solidFill>
                  <a:srgbClr val="1E5B4E"/>
                </a:solidFill>
                <a:latin typeface="JetBrains Mono"/>
                <a:ea typeface="JetBrains Mono"/>
              </a:rPr>
              <a:t>N(t) = S(t) \ H(t−1)</a:t>
            </a:r>
            <a:r>
              <a:rPr lang="en-US" sz="1200" noProof="1">
                <a:solidFill>
                  <a:srgbClr val="1A1D20"/>
                </a:solidFill>
                <a:latin typeface="Inter"/>
                <a:ea typeface="Inter"/>
              </a:rPr>
              <a:t> — what is new</a:t>
            </a:r>
            <a:endParaRPr lang="en-US" sz="1200" noProof="1"/>
          </a:p>
        </p:txBody>
      </p:sp>
      <p:sp>
        <p:nvSpPr>
          <p:cNvPr id="10" name="def-r"/>
          <p:cNvSpPr txBox="1"/>
          <p:nvPr/>
        </p:nvSpPr>
        <p:spPr>
          <a:xfrm>
            <a:off x="812800" y="4114800"/>
            <a:ext cx="6350000" cy="508000"/>
          </a:xfrm>
          <a:prstGeom prst="rect">
            <a:avLst/>
          </a:prstGeom>
          <a:noFill/>
          <a:ln>
            <a:noFill/>
          </a:ln>
        </p:spPr>
        <p:txBody>
          <a:bodyPr lIns="0" rIns="0" tIns="0" bIns="0" wrap="square" rtlCol="0"/>
          <a:lstStyle/>
          <a:p>
            <a:pPr>
              <a:lnSpc>
                <a:spcPct val="150000"/>
              </a:lnSpc>
            </a:pPr>
            <a:r>
              <a:rPr lang="en-US" sz="1200" noProof="1" b="1">
                <a:solidFill>
                  <a:srgbClr val="1E5B4E"/>
                </a:solidFill>
                <a:latin typeface="JetBrains Mono"/>
                <a:ea typeface="JetBrains Mono"/>
              </a:rPr>
              <a:t>R(t) = S(t) ∩ H(t−1)</a:t>
            </a:r>
            <a:r>
              <a:rPr lang="en-US" sz="1200" noProof="1">
                <a:solidFill>
                  <a:srgbClr val="1A1D20"/>
                </a:solidFill>
                <a:latin typeface="Inter"/>
                <a:ea typeface="Inter"/>
              </a:rPr>
              <a:t> — what is retained (the R-link)</a:t>
            </a:r>
            <a:endParaRPr lang="en-US" sz="1200" noProof="1"/>
          </a:p>
        </p:txBody>
      </p:sp>
      <p:sp>
        <p:nvSpPr>
          <p:cNvPr id="11" name="def-d"/>
          <p:cNvSpPr txBox="1"/>
          <p:nvPr/>
        </p:nvSpPr>
        <p:spPr>
          <a:xfrm>
            <a:off x="812800" y="4648200"/>
            <a:ext cx="6350000" cy="508000"/>
          </a:xfrm>
          <a:prstGeom prst="rect">
            <a:avLst/>
          </a:prstGeom>
          <a:noFill/>
          <a:ln>
            <a:noFill/>
          </a:ln>
        </p:spPr>
        <p:txBody>
          <a:bodyPr lIns="0" rIns="0" tIns="0" bIns="0" wrap="square" rtlCol="0"/>
          <a:lstStyle/>
          <a:p>
            <a:pPr>
              <a:lnSpc>
                <a:spcPct val="150000"/>
              </a:lnSpc>
            </a:pPr>
            <a:r>
              <a:rPr lang="en-US" sz="1200" noProof="1" b="1">
                <a:solidFill>
                  <a:srgbClr val="1E5B4E"/>
                </a:solidFill>
                <a:latin typeface="JetBrains Mono"/>
                <a:ea typeface="JetBrains Mono"/>
              </a:rPr>
              <a:t>D(t) = H(t−1) \ S(t)</a:t>
            </a:r>
            <a:r>
              <a:rPr lang="en-US" sz="1200" noProof="1">
                <a:solidFill>
                  <a:srgbClr val="1A1D20"/>
                </a:solidFill>
                <a:latin typeface="Inter"/>
                <a:ea typeface="Inter"/>
              </a:rPr>
              <a:t> — what departed</a:t>
            </a:r>
            <a:endParaRPr lang="en-US" sz="1200" noProof="1"/>
          </a:p>
        </p:txBody>
      </p:sp>
      <p:sp>
        <p:nvSpPr>
          <p:cNvPr id="12" name="venn-s"/>
          <p:cNvSpPr/>
          <p:nvPr/>
        </p:nvSpPr>
        <p:spPr>
          <a:xfrm>
            <a:off x="7696200" y="1981200"/>
            <a:ext cx="2286000" cy="2286000"/>
          </a:xfrm>
          <a:prstGeom prst="ellipse">
            <a:avLst/>
          </a:prstGeom>
          <a:solidFill>
            <a:srgbClr val="1E5B4E">
              <a:alpha val="10196"/>
            </a:srgbClr>
          </a:solidFill>
          <a:ln w="19050">
            <a:solidFill>
              <a:srgbClr val="1E5B4E"/>
            </a:solidFill>
          </a:ln>
        </p:spPr>
      </p:sp>
      <p:sp>
        <p:nvSpPr>
          <p:cNvPr id="13" name="venn-h"/>
          <p:cNvSpPr/>
          <p:nvPr/>
        </p:nvSpPr>
        <p:spPr>
          <a:xfrm>
            <a:off x="9093200" y="1981200"/>
            <a:ext cx="2286000" cy="2286000"/>
          </a:xfrm>
          <a:prstGeom prst="ellipse">
            <a:avLst/>
          </a:prstGeom>
          <a:solidFill>
            <a:srgbClr val="6E747B">
              <a:alpha val="7843"/>
            </a:srgbClr>
          </a:solidFill>
          <a:ln w="19050">
            <a:solidFill>
              <a:srgbClr val="6E747B"/>
            </a:solidFill>
          </a:ln>
        </p:spPr>
      </p:sp>
      <p:sp>
        <p:nvSpPr>
          <p:cNvPr id="14" name="venn-s-label"/>
          <p:cNvSpPr txBox="1"/>
          <p:nvPr/>
        </p:nvSpPr>
        <p:spPr>
          <a:xfrm>
            <a:off x="7696200" y="1625600"/>
            <a:ext cx="2286000" cy="228600"/>
          </a:xfrm>
          <a:prstGeom prst="rect">
            <a:avLst/>
          </a:prstGeom>
          <a:noFill/>
          <a:ln>
            <a:noFill/>
          </a:ln>
        </p:spPr>
        <p:txBody>
          <a:bodyPr lIns="0" rIns="0" tIns="0" bIns="0" wrap="none" rtlCol="0" anchor="t"/>
          <a:lstStyle/>
          <a:p>
            <a:pPr algn="ctr">
              <a:lnSpc>
                <a:spcPct val="120000"/>
              </a:lnSpc>
            </a:pPr>
            <a:r>
              <a:rPr lang="en-US" sz="1200" noProof="1" b="1">
                <a:solidFill>
                  <a:srgbClr val="1E5B4E"/>
                </a:solidFill>
                <a:latin typeface="JetBrains Mono"/>
                <a:ea typeface="JetBrains Mono"/>
              </a:rPr>
              <a:t>S(t)</a:t>
            </a:r>
            <a:endParaRPr lang="en-US" sz="1200" noProof="1"/>
          </a:p>
        </p:txBody>
      </p:sp>
      <p:sp>
        <p:nvSpPr>
          <p:cNvPr id="15" name="venn-h-label"/>
          <p:cNvSpPr txBox="1"/>
          <p:nvPr/>
        </p:nvSpPr>
        <p:spPr>
          <a:xfrm>
            <a:off x="9093200" y="1625600"/>
            <a:ext cx="2286000" cy="228600"/>
          </a:xfrm>
          <a:prstGeom prst="rect">
            <a:avLst/>
          </a:prstGeom>
          <a:noFill/>
          <a:ln>
            <a:noFill/>
          </a:ln>
        </p:spPr>
        <p:txBody>
          <a:bodyPr lIns="0" rIns="0" tIns="0" bIns="0" wrap="none" rtlCol="0" anchor="t"/>
          <a:lstStyle/>
          <a:p>
            <a:pPr algn="ctr">
              <a:lnSpc>
                <a:spcPct val="120000"/>
              </a:lnSpc>
            </a:pPr>
            <a:r>
              <a:rPr lang="en-US" sz="1200" noProof="1" b="1">
                <a:solidFill>
                  <a:srgbClr val="6E747B"/>
                </a:solidFill>
                <a:latin typeface="JetBrains Mono"/>
                <a:ea typeface="JetBrains Mono"/>
              </a:rPr>
              <a:t>H(t−1)</a:t>
            </a:r>
            <a:endParaRPr lang="en-US" sz="1200" noProof="1"/>
          </a:p>
        </p:txBody>
      </p:sp>
      <p:sp>
        <p:nvSpPr>
          <p:cNvPr id="16" name="venn-n"/>
          <p:cNvSpPr txBox="1"/>
          <p:nvPr/>
        </p:nvSpPr>
        <p:spPr>
          <a:xfrm>
            <a:off x="7874000" y="2997200"/>
            <a:ext cx="762000" cy="254000"/>
          </a:xfrm>
          <a:prstGeom prst="rect">
            <a:avLst/>
          </a:prstGeom>
          <a:noFill/>
          <a:ln>
            <a:noFill/>
          </a:ln>
        </p:spPr>
        <p:txBody>
          <a:bodyPr lIns="0" rIns="0" tIns="0" bIns="0" wrap="none" rtlCol="0" anchor="t"/>
          <a:lstStyle/>
          <a:p>
            <a:pPr algn="ctr">
              <a:lnSpc>
                <a:spcPct val="120000"/>
              </a:lnSpc>
            </a:pPr>
            <a:r>
              <a:rPr lang="en-US" sz="1400" noProof="1" b="1">
                <a:solidFill>
                  <a:srgbClr val="1E5B4E"/>
                </a:solidFill>
                <a:latin typeface="JetBrains Mono"/>
                <a:ea typeface="JetBrains Mono"/>
              </a:rPr>
              <a:t>N</a:t>
            </a:r>
            <a:endParaRPr lang="en-US" sz="1400" noProof="1"/>
          </a:p>
        </p:txBody>
      </p:sp>
      <p:sp>
        <p:nvSpPr>
          <p:cNvPr id="17" name="venn-r"/>
          <p:cNvSpPr txBox="1"/>
          <p:nvPr/>
        </p:nvSpPr>
        <p:spPr>
          <a:xfrm>
            <a:off x="9156700" y="2997200"/>
            <a:ext cx="762000" cy="254000"/>
          </a:xfrm>
          <a:prstGeom prst="rect">
            <a:avLst/>
          </a:prstGeom>
          <a:noFill/>
          <a:ln>
            <a:noFill/>
          </a:ln>
        </p:spPr>
        <p:txBody>
          <a:bodyPr lIns="0" rIns="0" tIns="0" bIns="0" wrap="none" rtlCol="0" anchor="t"/>
          <a:lstStyle/>
          <a:p>
            <a:pPr algn="ctr">
              <a:lnSpc>
                <a:spcPct val="120000"/>
              </a:lnSpc>
            </a:pPr>
            <a:r>
              <a:rPr lang="en-US" sz="1400" noProof="1" b="1">
                <a:solidFill>
                  <a:srgbClr val="1A1D20"/>
                </a:solidFill>
                <a:latin typeface="JetBrains Mono"/>
                <a:ea typeface="JetBrains Mono"/>
              </a:rPr>
              <a:t>R</a:t>
            </a:r>
            <a:endParaRPr lang="en-US" sz="1400" noProof="1"/>
          </a:p>
        </p:txBody>
      </p:sp>
      <p:sp>
        <p:nvSpPr>
          <p:cNvPr id="18" name="venn-d"/>
          <p:cNvSpPr txBox="1"/>
          <p:nvPr/>
        </p:nvSpPr>
        <p:spPr>
          <a:xfrm>
            <a:off x="10439400" y="2997200"/>
            <a:ext cx="762000" cy="254000"/>
          </a:xfrm>
          <a:prstGeom prst="rect">
            <a:avLst/>
          </a:prstGeom>
          <a:noFill/>
          <a:ln>
            <a:noFill/>
          </a:ln>
        </p:spPr>
        <p:txBody>
          <a:bodyPr lIns="0" rIns="0" tIns="0" bIns="0" wrap="none" rtlCol="0" anchor="t"/>
          <a:lstStyle/>
          <a:p>
            <a:pPr algn="ctr">
              <a:lnSpc>
                <a:spcPct val="120000"/>
              </a:lnSpc>
            </a:pPr>
            <a:r>
              <a:rPr lang="en-US" sz="1400" noProof="1" b="1">
                <a:solidFill>
                  <a:srgbClr val="6E747B"/>
                </a:solidFill>
                <a:latin typeface="JetBrains Mono"/>
                <a:ea typeface="JetBrains Mono"/>
              </a:rPr>
              <a:t>D</a:t>
            </a:r>
            <a:endParaRPr lang="en-US" sz="1400" noProof="1"/>
          </a:p>
        </p:txBody>
      </p:sp>
      <p:sp>
        <p:nvSpPr>
          <p:cNvPr id="19" name="venn-caption"/>
          <p:cNvSpPr txBox="1"/>
          <p:nvPr/>
        </p:nvSpPr>
        <p:spPr>
          <a:xfrm>
            <a:off x="7696200" y="4470400"/>
            <a:ext cx="3683000" cy="609600"/>
          </a:xfrm>
          <a:prstGeom prst="rect">
            <a:avLst/>
          </a:prstGeom>
          <a:noFill/>
          <a:ln>
            <a:noFill/>
          </a:ln>
        </p:spPr>
        <p:txBody>
          <a:bodyPr lIns="0" rIns="0" tIns="0" bIns="0" wrap="square" rtlCol="0" anchor="t"/>
          <a:lstStyle/>
          <a:p>
            <a:pPr algn="ctr">
              <a:lnSpc>
                <a:spcPct val="145000"/>
              </a:lnSpc>
            </a:pPr>
            <a:r>
              <a:rPr lang="en-US" sz="1100" noProof="1">
                <a:solidFill>
                  <a:srgbClr val="6E747B"/>
                </a:solidFill>
                <a:latin typeface="Inter"/>
                <a:ea typeface="Inter"/>
              </a:rPr>
              <a:t>D / R / N are derived at every commit — set differences and the intersection over the bit plane</a:t>
            </a:r>
            <a:endParaRPr lang="en-US" sz="1100" noProof="1"/>
          </a:p>
        </p:txBody>
      </p:sp>
      <p:sp>
        <p:nvSpPr>
          <p:cNvPr id="20" name="strip-bar"/>
          <p:cNvSpPr/>
          <p:nvPr/>
        </p:nvSpPr>
        <p:spPr>
          <a:xfrm>
            <a:off x="812800" y="5689600"/>
            <a:ext cx="38100" cy="508000"/>
          </a:xfrm>
          <a:prstGeom prst="rect">
            <a:avLst/>
          </a:prstGeom>
          <a:solidFill>
            <a:srgbClr val="C2521E"/>
          </a:solidFill>
          <a:ln>
            <a:noFill/>
          </a:ln>
        </p:spPr>
      </p:sp>
      <p:sp>
        <p:nvSpPr>
          <p:cNvPr id="21" name="strip-text"/>
          <p:cNvSpPr txBox="1"/>
          <p:nvPr/>
        </p:nvSpPr>
        <p:spPr>
          <a:xfrm>
            <a:off x="1016000" y="5689600"/>
            <a:ext cx="10363200" cy="5080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Everything in the equation is an HLLSet, and every operation runs at the bit level. Departed + retained + new, with a conservation balance — a precise answer to "what changed?" on every commit.</a:t>
            </a:r>
            <a:endParaRPr lang="en-US" sz="1200" noProof="1"/>
          </a:p>
        </p:txBody>
      </p:sp>
      <p:sp>
        <p:nvSpPr>
          <p:cNvPr id="22"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3"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09</a:t>
            </a:r>
            <a:endParaRPr lang="en-US" sz="900" noProof="1"/>
          </a:p>
        </p:txBody>
      </p:sp>
    </p:spTree>
  </p:cSld>
  <p:clrMapOvr>
    <a:masterClrMapping/>
  </p:clrMapOvr>
</p:sld>
</file>

<file path=ppt/slides/slide1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09 · HOW IT WORKS — THE MAP</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Four ideas carry the whole model</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n1"/>
          <p:cNvSpPr txBox="1"/>
          <p:nvPr/>
        </p:nvSpPr>
        <p:spPr>
          <a:xfrm>
            <a:off x="812800" y="1498600"/>
            <a:ext cx="558800" cy="431800"/>
          </a:xfrm>
          <a:prstGeom prst="rect">
            <a:avLst/>
          </a:prstGeom>
          <a:noFill/>
          <a:ln>
            <a:noFill/>
          </a:ln>
        </p:spPr>
        <p:txBody>
          <a:bodyPr lIns="0" rIns="0" tIns="0" bIns="0" wrap="none" rtlCol="0"/>
          <a:lstStyle/>
          <a:p>
            <a:pPr>
              <a:lnSpc>
                <a:spcPct val="120000"/>
              </a:lnSpc>
            </a:pPr>
            <a:r>
              <a:rPr lang="en-US" sz="2600" noProof="1" b="1">
                <a:solidFill>
                  <a:srgbClr val="C2521E"/>
                </a:solidFill>
                <a:latin typeface="JetBrains Mono"/>
                <a:ea typeface="JetBrains Mono"/>
              </a:rPr>
              <a:t>1</a:t>
            </a:r>
            <a:endParaRPr lang="en-US" sz="2600" noProof="1"/>
          </a:p>
        </p:txBody>
      </p:sp>
      <p:sp>
        <p:nvSpPr>
          <p:cNvPr id="6" name="n1-name"/>
          <p:cNvSpPr txBox="1"/>
          <p:nvPr/>
        </p:nvSpPr>
        <p:spPr>
          <a:xfrm>
            <a:off x="1524000" y="1498600"/>
            <a:ext cx="7112000" cy="254000"/>
          </a:xfrm>
          <a:prstGeom prst="rect">
            <a:avLst/>
          </a:prstGeom>
          <a:noFill/>
          <a:ln>
            <a:noFill/>
          </a:ln>
        </p:spPr>
        <p:txBody>
          <a:bodyPr lIns="0" rIns="0" tIns="0" bIns="0" wrap="none" rtlCol="0"/>
          <a:lstStyle/>
          <a:p>
            <a:pPr>
              <a:lnSpc>
                <a:spcPct val="120000"/>
              </a:lnSpc>
            </a:pPr>
            <a:r>
              <a:rPr lang="en-US" sz="1500" noProof="1" b="1">
                <a:solidFill>
                  <a:srgbClr val="1A1D20"/>
                </a:solidFill>
                <a:latin typeface="Space Grotesk"/>
                <a:ea typeface="Space Grotesk"/>
              </a:rPr>
              <a:t>One universe</a:t>
            </a:r>
            <a:endParaRPr lang="en-US" sz="1500" noProof="1"/>
          </a:p>
        </p:txBody>
      </p:sp>
      <p:sp>
        <p:nvSpPr>
          <p:cNvPr id="7" name="n1-desc"/>
          <p:cNvSpPr txBox="1"/>
          <p:nvPr/>
        </p:nvSpPr>
        <p:spPr>
          <a:xfrm>
            <a:off x="1524000" y="1778000"/>
            <a:ext cx="9855200" cy="457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Every state is a node of the same Boolean lattice over the bit plane — sets ordered by inclusion, combined by union and intersection. Nothing new is created: a computation names a lattice expression and discovers the node.</a:t>
            </a:r>
            <a:endParaRPr lang="en-US" sz="1150" noProof="1"/>
          </a:p>
        </p:txBody>
      </p:sp>
      <p:sp>
        <p:nvSpPr>
          <p:cNvPr id="8" name="rule-1"/>
          <p:cNvSpPr/>
          <p:nvPr/>
        </p:nvSpPr>
        <p:spPr>
          <a:xfrm>
            <a:off x="1524000" y="2362200"/>
            <a:ext cx="9855200" cy="12700"/>
          </a:xfrm>
          <a:prstGeom prst="rect">
            <a:avLst/>
          </a:prstGeom>
          <a:solidFill>
            <a:srgbClr val="DCD8CF"/>
          </a:solidFill>
          <a:ln>
            <a:noFill/>
          </a:ln>
        </p:spPr>
      </p:sp>
      <p:sp>
        <p:nvSpPr>
          <p:cNvPr id="9" name="n2"/>
          <p:cNvSpPr txBox="1"/>
          <p:nvPr/>
        </p:nvSpPr>
        <p:spPr>
          <a:xfrm>
            <a:off x="812800" y="2514600"/>
            <a:ext cx="558800" cy="431800"/>
          </a:xfrm>
          <a:prstGeom prst="rect">
            <a:avLst/>
          </a:prstGeom>
          <a:noFill/>
          <a:ln>
            <a:noFill/>
          </a:ln>
        </p:spPr>
        <p:txBody>
          <a:bodyPr lIns="0" rIns="0" tIns="0" bIns="0" wrap="none" rtlCol="0"/>
          <a:lstStyle/>
          <a:p>
            <a:pPr>
              <a:lnSpc>
                <a:spcPct val="120000"/>
              </a:lnSpc>
            </a:pPr>
            <a:r>
              <a:rPr lang="en-US" sz="2600" noProof="1" b="1">
                <a:solidFill>
                  <a:srgbClr val="C2521E"/>
                </a:solidFill>
                <a:latin typeface="JetBrains Mono"/>
                <a:ea typeface="JetBrains Mono"/>
              </a:rPr>
              <a:t>2</a:t>
            </a:r>
            <a:endParaRPr lang="en-US" sz="2600" noProof="1"/>
          </a:p>
        </p:txBody>
      </p:sp>
      <p:sp>
        <p:nvSpPr>
          <p:cNvPr id="10" name="n2-name"/>
          <p:cNvSpPr txBox="1"/>
          <p:nvPr/>
        </p:nvSpPr>
        <p:spPr>
          <a:xfrm>
            <a:off x="1524000" y="2514600"/>
            <a:ext cx="7112000" cy="254000"/>
          </a:xfrm>
          <a:prstGeom prst="rect">
            <a:avLst/>
          </a:prstGeom>
          <a:noFill/>
          <a:ln>
            <a:noFill/>
          </a:ln>
        </p:spPr>
        <p:txBody>
          <a:bodyPr lIns="0" rIns="0" tIns="0" bIns="0" wrap="none" rtlCol="0"/>
          <a:lstStyle/>
          <a:p>
            <a:pPr>
              <a:lnSpc>
                <a:spcPct val="120000"/>
              </a:lnSpc>
            </a:pPr>
            <a:r>
              <a:rPr lang="en-US" sz="1500" noProof="1" b="1">
                <a:solidFill>
                  <a:srgbClr val="1A1D20"/>
                </a:solidFill>
                <a:latin typeface="Space Grotesk"/>
                <a:ea typeface="Space Grotesk"/>
              </a:rPr>
              <a:t>The morphism is the contract (IICA)</a:t>
            </a:r>
            <a:endParaRPr lang="en-US" sz="1500" noProof="1"/>
          </a:p>
        </p:txBody>
      </p:sp>
      <p:sp>
        <p:nvSpPr>
          <p:cNvPr id="11" name="n2-desc"/>
          <p:cNvSpPr txBox="1"/>
          <p:nvPr/>
        </p:nvSpPr>
        <p:spPr>
          <a:xfrm>
            <a:off x="1524000" y="2794000"/>
            <a:ext cx="9855200" cy="457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The token→bit connection is a chosen mapping μ: token collections → bit vectors. Only IICA is required; the bit vector forgets provenance by design, and any IICA algorithm is interchangeable.</a:t>
            </a:r>
            <a:endParaRPr lang="en-US" sz="1150" noProof="1"/>
          </a:p>
        </p:txBody>
      </p:sp>
      <p:sp>
        <p:nvSpPr>
          <p:cNvPr id="12" name="rule-2"/>
          <p:cNvSpPr/>
          <p:nvPr/>
        </p:nvSpPr>
        <p:spPr>
          <a:xfrm>
            <a:off x="1524000" y="3378200"/>
            <a:ext cx="9855200" cy="12700"/>
          </a:xfrm>
          <a:prstGeom prst="rect">
            <a:avLst/>
          </a:prstGeom>
          <a:solidFill>
            <a:srgbClr val="DCD8CF"/>
          </a:solidFill>
          <a:ln>
            <a:noFill/>
          </a:ln>
        </p:spPr>
      </p:sp>
      <p:sp>
        <p:nvSpPr>
          <p:cNvPr id="13" name="n3"/>
          <p:cNvSpPr txBox="1"/>
          <p:nvPr/>
        </p:nvSpPr>
        <p:spPr>
          <a:xfrm>
            <a:off x="812800" y="3530600"/>
            <a:ext cx="558800" cy="431800"/>
          </a:xfrm>
          <a:prstGeom prst="rect">
            <a:avLst/>
          </a:prstGeom>
          <a:noFill/>
          <a:ln>
            <a:noFill/>
          </a:ln>
        </p:spPr>
        <p:txBody>
          <a:bodyPr lIns="0" rIns="0" tIns="0" bIns="0" wrap="none" rtlCol="0"/>
          <a:lstStyle/>
          <a:p>
            <a:pPr>
              <a:lnSpc>
                <a:spcPct val="120000"/>
              </a:lnSpc>
            </a:pPr>
            <a:r>
              <a:rPr lang="en-US" sz="2600" noProof="1" b="1">
                <a:solidFill>
                  <a:srgbClr val="C2521E"/>
                </a:solidFill>
                <a:latin typeface="JetBrains Mono"/>
                <a:ea typeface="JetBrains Mono"/>
              </a:rPr>
              <a:t>3</a:t>
            </a:r>
            <a:endParaRPr lang="en-US" sz="2600" noProof="1"/>
          </a:p>
        </p:txBody>
      </p:sp>
      <p:sp>
        <p:nvSpPr>
          <p:cNvPr id="14" name="n3-name"/>
          <p:cNvSpPr txBox="1"/>
          <p:nvPr/>
        </p:nvSpPr>
        <p:spPr>
          <a:xfrm>
            <a:off x="1524000" y="3530600"/>
            <a:ext cx="7112000" cy="254000"/>
          </a:xfrm>
          <a:prstGeom prst="rect">
            <a:avLst/>
          </a:prstGeom>
          <a:noFill/>
          <a:ln>
            <a:noFill/>
          </a:ln>
        </p:spPr>
        <p:txBody>
          <a:bodyPr lIns="0" rIns="0" tIns="0" bIns="0" wrap="none" rtlCol="0"/>
          <a:lstStyle/>
          <a:p>
            <a:pPr>
              <a:lnSpc>
                <a:spcPct val="120000"/>
              </a:lnSpc>
            </a:pPr>
            <a:r>
              <a:rPr lang="en-US" sz="1500" noProof="1" b="1">
                <a:solidFill>
                  <a:srgbClr val="1A1D20"/>
                </a:solidFill>
                <a:latin typeface="Space Grotesk"/>
                <a:ea typeface="Space Grotesk"/>
              </a:rPr>
              <a:t>The fiber is global</a:t>
            </a:r>
            <a:endParaRPr lang="en-US" sz="1500" noProof="1"/>
          </a:p>
        </p:txBody>
      </p:sp>
      <p:sp>
        <p:nvSpPr>
          <p:cNvPr id="15" name="n3-desc"/>
          <p:cNvSpPr txBox="1"/>
          <p:nvPr/>
        </p:nvSpPr>
        <p:spPr>
          <a:xfrm>
            <a:off x="1524000" y="3810000"/>
            <a:ext cx="9855200" cy="457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The same bit in any HLLSet points to the same lookup-table fiber — the fiber is a property of the bit address, never of the state. Materialization is exact on the builders, probabilistic on the extras.</a:t>
            </a:r>
            <a:endParaRPr lang="en-US" sz="1150" noProof="1"/>
          </a:p>
        </p:txBody>
      </p:sp>
      <p:sp>
        <p:nvSpPr>
          <p:cNvPr id="16" name="rule-3"/>
          <p:cNvSpPr/>
          <p:nvPr/>
        </p:nvSpPr>
        <p:spPr>
          <a:xfrm>
            <a:off x="1524000" y="4394200"/>
            <a:ext cx="9855200" cy="12700"/>
          </a:xfrm>
          <a:prstGeom prst="rect">
            <a:avLst/>
          </a:prstGeom>
          <a:solidFill>
            <a:srgbClr val="DCD8CF"/>
          </a:solidFill>
          <a:ln>
            <a:noFill/>
          </a:ln>
        </p:spPr>
      </p:sp>
      <p:sp>
        <p:nvSpPr>
          <p:cNvPr id="17" name="n4"/>
          <p:cNvSpPr txBox="1"/>
          <p:nvPr/>
        </p:nvSpPr>
        <p:spPr>
          <a:xfrm>
            <a:off x="812800" y="4546600"/>
            <a:ext cx="558800" cy="431800"/>
          </a:xfrm>
          <a:prstGeom prst="rect">
            <a:avLst/>
          </a:prstGeom>
          <a:noFill/>
          <a:ln>
            <a:noFill/>
          </a:ln>
        </p:spPr>
        <p:txBody>
          <a:bodyPr lIns="0" rIns="0" tIns="0" bIns="0" wrap="none" rtlCol="0"/>
          <a:lstStyle/>
          <a:p>
            <a:pPr>
              <a:lnSpc>
                <a:spcPct val="120000"/>
              </a:lnSpc>
            </a:pPr>
            <a:r>
              <a:rPr lang="en-US" sz="2600" noProof="1" b="1">
                <a:solidFill>
                  <a:srgbClr val="C2521E"/>
                </a:solidFill>
                <a:latin typeface="JetBrains Mono"/>
                <a:ea typeface="JetBrains Mono"/>
              </a:rPr>
              <a:t>4</a:t>
            </a:r>
            <a:endParaRPr lang="en-US" sz="2600" noProof="1"/>
          </a:p>
        </p:txBody>
      </p:sp>
      <p:sp>
        <p:nvSpPr>
          <p:cNvPr id="18" name="n4-name"/>
          <p:cNvSpPr txBox="1"/>
          <p:nvPr/>
        </p:nvSpPr>
        <p:spPr>
          <a:xfrm>
            <a:off x="1524000" y="4546600"/>
            <a:ext cx="7112000" cy="254000"/>
          </a:xfrm>
          <a:prstGeom prst="rect">
            <a:avLst/>
          </a:prstGeom>
          <a:noFill/>
          <a:ln>
            <a:noFill/>
          </a:ln>
        </p:spPr>
        <p:txBody>
          <a:bodyPr lIns="0" rIns="0" tIns="0" bIns="0" wrap="none" rtlCol="0"/>
          <a:lstStyle/>
          <a:p>
            <a:pPr>
              <a:lnSpc>
                <a:spcPct val="120000"/>
              </a:lnSpc>
            </a:pPr>
            <a:r>
              <a:rPr lang="en-US" sz="1500" noProof="1" b="1">
                <a:solidFill>
                  <a:srgbClr val="1A1D20"/>
                </a:solidFill>
                <a:latin typeface="Space Grotesk"/>
                <a:ea typeface="Space Grotesk"/>
              </a:rPr>
              <a:t>Decompositions are frames (readings)</a:t>
            </a:r>
            <a:endParaRPr lang="en-US" sz="1500" noProof="1"/>
          </a:p>
        </p:txBody>
      </p:sp>
      <p:sp>
        <p:nvSpPr>
          <p:cNvPr id="19" name="n4-desc"/>
          <p:cNvSpPr txBox="1"/>
          <p:nvPr/>
        </p:nvSpPr>
        <p:spPr>
          <a:xfrm>
            <a:off x="1524000" y="4826000"/>
            <a:ext cx="9855200" cy="4572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D/R/N, joined perceptrons, ring basis — each is a named set of dimensions; φ_D(X) = (|X∩D_i| / |D_i|) is the coordinate map, and φ_D(X(t)) over t is the state trajectory.</a:t>
            </a:r>
            <a:endParaRPr lang="en-US" sz="1150" noProof="1"/>
          </a:p>
        </p:txBody>
      </p:sp>
      <p:sp>
        <p:nvSpPr>
          <p:cNvPr id="20" name="rule-4"/>
          <p:cNvSpPr/>
          <p:nvPr/>
        </p:nvSpPr>
        <p:spPr>
          <a:xfrm>
            <a:off x="1524000" y="5410200"/>
            <a:ext cx="9855200" cy="12700"/>
          </a:xfrm>
          <a:prstGeom prst="rect">
            <a:avLst/>
          </a:prstGeom>
          <a:solidFill>
            <a:srgbClr val="DCD8CF"/>
          </a:solidFill>
          <a:ln>
            <a:noFill/>
          </a:ln>
        </p:spPr>
      </p:sp>
      <p:sp>
        <p:nvSpPr>
          <p:cNvPr id="21" name="scene-note"/>
          <p:cNvSpPr txBox="1"/>
          <p:nvPr/>
        </p:nvSpPr>
        <p:spPr>
          <a:xfrm>
            <a:off x="812800" y="5613400"/>
            <a:ext cx="10566400" cy="508000"/>
          </a:xfrm>
          <a:prstGeom prst="rect">
            <a:avLst/>
          </a:prstGeom>
          <a:noFill/>
          <a:ln>
            <a:noFill/>
          </a:ln>
        </p:spPr>
        <p:txBody>
          <a:bodyPr lIns="0" rIns="0" tIns="0" bIns="0" wrap="square" rtlCol="0"/>
          <a:lstStyle/>
          <a:p>
            <a:pPr>
              <a:lnSpc>
                <a:spcPct val="150000"/>
              </a:lnSpc>
            </a:pPr>
            <a:r>
              <a:rPr lang="en-US" sz="1150" noProof="1" b="1">
                <a:solidFill>
                  <a:srgbClr val="1E5B4E"/>
                </a:solidFill>
                <a:latin typeface="JetBrains Mono"/>
                <a:ea typeface="JetBrains Mono"/>
              </a:rPr>
              <a:t>ewm-scene</a:t>
            </a:r>
            <a:r>
              <a:rPr lang="en-US" sz="1150" noProof="1">
                <a:solidFill>
                  <a:srgbClr val="1A1D20"/>
                </a:solidFill>
                <a:latin typeface="Inter"/>
                <a:ea typeface="Inter"/>
              </a:rPr>
              <a:t> makes all four executable: </a:t>
            </a:r>
            <a:r>
              <a:rPr lang="en-US" sz="1150" noProof="1">
                <a:solidFill>
                  <a:srgbClr val="1A1D20"/>
                </a:solidFill>
                <a:latin typeface="JetBrains Mono"/>
                <a:ea typeface="JetBrains Mono"/>
              </a:rPr>
              <a:t>ingest / materialize</a:t>
            </a:r>
            <a:r>
              <a:rPr lang="en-US" sz="1150" noProof="1">
                <a:solidFill>
                  <a:srgbClr val="1A1D20"/>
                </a:solidFill>
                <a:latin typeface="Inter"/>
                <a:ea typeface="Inter"/>
              </a:rPr>
              <a:t> (2, 3) · </a:t>
            </a:r>
            <a:r>
              <a:rPr lang="en-US" sz="1150" noProof="1">
                <a:solidFill>
                  <a:srgbClr val="1A1D20"/>
                </a:solidFill>
                <a:latin typeface="JetBrains Mono"/>
                <a:ea typeface="JetBrains Mono"/>
              </a:rPr>
              <a:t>noether / subframes</a:t>
            </a:r>
            <a:r>
              <a:rPr lang="en-US" sz="1150" noProof="1">
                <a:solidFill>
                  <a:srgbClr val="1A1D20"/>
                </a:solidFill>
                <a:latin typeface="Inter"/>
                <a:ea typeface="Inter"/>
              </a:rPr>
              <a:t> (D/R/N frame) · </a:t>
            </a:r>
            <a:r>
              <a:rPr lang="en-US" sz="1150" noProof="1">
                <a:solidFill>
                  <a:srgbClr val="1A1D20"/>
                </a:solidFill>
                <a:latin typeface="JetBrains Mono"/>
                <a:ea typeface="JetBrains Mono"/>
              </a:rPr>
              <a:t>pyramid</a:t>
            </a:r>
            <a:r>
              <a:rPr lang="en-US" sz="1150" noProof="1">
                <a:solidFill>
                  <a:srgbClr val="1A1D20"/>
                </a:solidFill>
                <a:latin typeface="Inter"/>
                <a:ea typeface="Inter"/>
              </a:rPr>
              <a:t> (joined perceptrons) · </a:t>
            </a:r>
            <a:r>
              <a:rPr lang="en-US" sz="1150" noProof="1">
                <a:solidFill>
                  <a:srgbClr val="1A1D20"/>
                </a:solidFill>
                <a:latin typeface="JetBrains Mono"/>
                <a:ea typeface="JetBrains Mono"/>
              </a:rPr>
              <a:t>sidecar</a:t>
            </a:r>
            <a:r>
              <a:rPr lang="en-US" sz="1150" noProof="1">
                <a:solidFill>
                  <a:srgbClr val="1A1D20"/>
                </a:solidFill>
                <a:latin typeface="Inter"/>
                <a:ea typeface="Inter"/>
              </a:rPr>
              <a:t> (ring frame) · </a:t>
            </a:r>
            <a:r>
              <a:rPr lang="en-US" sz="1150" noProof="1">
                <a:solidFill>
                  <a:srgbClr val="1A1D20"/>
                </a:solidFill>
                <a:latin typeface="JetBrains Mono"/>
                <a:ea typeface="JetBrains Mono"/>
              </a:rPr>
              <a:t>project</a:t>
            </a:r>
            <a:r>
              <a:rPr lang="en-US" sz="1150" noProof="1">
                <a:solidFill>
                  <a:srgbClr val="1A1D20"/>
                </a:solidFill>
                <a:latin typeface="Inter"/>
                <a:ea typeface="Inter"/>
              </a:rPr>
              <a:t> (any named frame)</a:t>
            </a:r>
            <a:endParaRPr lang="en-US" sz="1150" noProof="1"/>
          </a:p>
        </p:txBody>
      </p:sp>
      <p:sp>
        <p:nvSpPr>
          <p:cNvPr id="22"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3"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10</a:t>
            </a:r>
            <a:endParaRPr lang="en-US" sz="900" noProof="1"/>
          </a:p>
        </p:txBody>
      </p:sp>
    </p:spTree>
  </p:cSld>
  <p:clrMapOvr>
    <a:masterClrMapping/>
  </p:clrMapOvr>
</p:sld>
</file>

<file path=ppt/slides/slide1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10 · HOW IT WORKS — EXECUTION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S(t) is the state in a stateless system</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iica-label"/>
          <p:cNvSpPr txBox="1"/>
          <p:nvPr/>
        </p:nvSpPr>
        <p:spPr>
          <a:xfrm>
            <a:off x="812800" y="1549400"/>
            <a:ext cx="5461000" cy="254000"/>
          </a:xfrm>
          <a:prstGeom prst="rect">
            <a:avLst/>
          </a:prstGeom>
          <a:noFill/>
          <a:ln>
            <a:noFill/>
          </a:ln>
        </p:spPr>
        <p:txBody>
          <a:bodyPr lIns="0" rIns="0" tIns="0" bIns="0" wrap="none" rtlCol="0"/>
          <a:lstStyle/>
          <a:p>
            <a:pPr>
              <a:lnSpc>
                <a:spcPct val="120000"/>
              </a:lnSpc>
            </a:pPr>
            <a:r>
              <a:rPr lang="en-US" sz="1300" noProof="1" b="1">
                <a:solidFill>
                  <a:srgbClr val="C2521E"/>
                </a:solidFill>
                <a:latin typeface="JetBrains Mono"/>
                <a:ea typeface="JetBrains Mono"/>
              </a:rPr>
              <a:t>IICA</a:t>
            </a:r>
            <a:endParaRPr lang="en-US" sz="1300" noProof="1"/>
          </a:p>
        </p:txBody>
      </p:sp>
      <p:sp>
        <p:nvSpPr>
          <p:cNvPr id="6" name="iica-def"/>
          <p:cNvSpPr txBox="1"/>
          <p:nvPr/>
        </p:nvSpPr>
        <p:spPr>
          <a:xfrm>
            <a:off x="812800" y="1828800"/>
            <a:ext cx="5461000" cy="228600"/>
          </a:xfrm>
          <a:prstGeom prst="rect">
            <a:avLst/>
          </a:prstGeom>
          <a:noFill/>
          <a:ln>
            <a:noFill/>
          </a:ln>
        </p:spPr>
        <p:txBody>
          <a:bodyPr lIns="0" rIns="0" tIns="0" bIns="0" wrap="none" rtlCol="0"/>
          <a:lstStyle/>
          <a:p>
            <a:pPr>
              <a:lnSpc>
                <a:spcPct val="120000"/>
              </a:lnSpc>
            </a:pPr>
            <a:r>
              <a:rPr lang="en-US" sz="1200" noProof="1">
                <a:solidFill>
                  <a:srgbClr val="1E5B4E"/>
                </a:solidFill>
                <a:latin typeface="Inter"/>
                <a:ea typeface="Inter"/>
              </a:rPr>
              <a:t>Idempotence · Immutability · Content Addressability</a:t>
            </a:r>
            <a:endParaRPr lang="en-US" sz="1200" noProof="1"/>
          </a:p>
        </p:txBody>
      </p:sp>
      <p:sp>
        <p:nvSpPr>
          <p:cNvPr id="7" name="body-1"/>
          <p:cNvSpPr txBox="1"/>
          <p:nvPr/>
        </p:nvSpPr>
        <p:spPr>
          <a:xfrm>
            <a:off x="812800" y="2235200"/>
            <a:ext cx="5461000" cy="1524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IICA removes the contradiction: S(t) is an </a:t>
            </a:r>
            <a:r>
              <a:rPr lang="en-US" sz="1250" noProof="1" b="1">
                <a:solidFill>
                  <a:srgbClr val="1A1D20"/>
                </a:solidFill>
                <a:latin typeface="Inter"/>
                <a:ea typeface="Inter"/>
              </a:rPr>
              <a:t>immutable, content-addressed value</a:t>
            </a:r>
            <a:r>
              <a:rPr lang="en-US" sz="1250" noProof="1">
                <a:solidFill>
                  <a:srgbClr val="1A1D20"/>
                </a:solidFill>
                <a:latin typeface="Inter"/>
                <a:ea typeface="Inter"/>
              </a:rPr>
              <a:t>, so it is safe to share.</a:t>
            </a:r>
            <a:endParaRPr lang="en-US" sz="1250" noProof="1"/>
          </a:p>
          <a:p>
            <a:pPr>
              <a:lnSpc>
                <a:spcPct val="150000"/>
              </a:lnSpc>
              <a:spcBef>
                <a:spcPts val="1000"/>
              </a:spcBef>
            </a:pPr>
            <a:r>
              <a:rPr lang="en-US" sz="1250" noProof="1">
                <a:solidFill>
                  <a:srgbClr val="1A1D20"/>
                </a:solidFill>
                <a:latin typeface="Inter"/>
                <a:ea typeface="Inter"/>
              </a:rPr>
              <a:t>The </a:t>
            </a:r>
            <a:r>
              <a:rPr lang="en-US" sz="1250" noProof="1" b="1">
                <a:solidFill>
                  <a:srgbClr val="1A1D20"/>
                </a:solidFill>
                <a:latin typeface="Inter"/>
                <a:ea typeface="Inter"/>
              </a:rPr>
              <a:t>[UM]</a:t>
            </a:r>
            <a:r>
              <a:rPr lang="en-US" sz="1250" noProof="1">
                <a:solidFill>
                  <a:srgbClr val="1A1D20"/>
                </a:solidFill>
                <a:latin typeface="Inter"/>
                <a:ea typeface="Inter"/>
              </a:rPr>
              <a:t> — the processing unit that works on S(t) — is </a:t>
            </a:r>
            <a:r>
              <a:rPr lang="en-US" sz="1250" noProof="1" b="1">
                <a:solidFill>
                  <a:srgbClr val="1A1D20"/>
                </a:solidFill>
                <a:latin typeface="Inter"/>
                <a:ea typeface="Inter"/>
              </a:rPr>
              <a:t>stateless and disposable</a:t>
            </a:r>
            <a:r>
              <a:rPr lang="en-US" sz="1250" noProof="1">
                <a:solidFill>
                  <a:srgbClr val="1A1D20"/>
                </a:solidFill>
                <a:latin typeface="Inter"/>
                <a:ea typeface="Inter"/>
              </a:rPr>
              <a:t>: it reads the tip, processes incoming tokens, and proposes the next state.</a:t>
            </a:r>
            <a:endParaRPr lang="en-US" sz="1250" noProof="1"/>
          </a:p>
        </p:txBody>
      </p:sp>
      <p:sp>
        <p:nvSpPr>
          <p:cNvPr id="8" name="body-2"/>
          <p:cNvSpPr txBox="1"/>
          <p:nvPr/>
        </p:nvSpPr>
        <p:spPr>
          <a:xfrm>
            <a:off x="812800" y="3911600"/>
            <a:ext cx="5461000" cy="1016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S(t) and H(t−1) live </a:t>
            </a:r>
            <a:r>
              <a:rPr lang="en-US" sz="1250" noProof="1" b="1">
                <a:solidFill>
                  <a:srgbClr val="1A1D20"/>
                </a:solidFill>
                <a:latin typeface="Inter"/>
                <a:ea typeface="Inter"/>
              </a:rPr>
              <a:t>outside the [UM]</a:t>
            </a:r>
            <a:r>
              <a:rPr lang="en-US" sz="1250" noProof="1">
                <a:solidFill>
                  <a:srgbClr val="1A1D20"/>
                </a:solidFill>
                <a:latin typeface="Inter"/>
                <a:ea typeface="Inter"/>
              </a:rPr>
              <a:t>, in a shareable cache (</a:t>
            </a:r>
            <a:r>
              <a:rPr lang="en-US" sz="1250" noProof="1">
                <a:solidFill>
                  <a:srgbClr val="1A1D20"/>
                </a:solidFill>
                <a:latin typeface="JetBrains Mono"/>
                <a:ea typeface="JetBrains Mono"/>
              </a:rPr>
              <a:t>ewm-app::StateCache</a:t>
            </a:r>
            <a:r>
              <a:rPr lang="en-US" sz="1250" noProof="1">
                <a:solidFill>
                  <a:srgbClr val="1A1D20"/>
                </a:solidFill>
                <a:latin typeface="Inter"/>
                <a:ea typeface="Inter"/>
              </a:rPr>
              <a:t>), backed by the persistent store (</a:t>
            </a:r>
            <a:r>
              <a:rPr lang="en-US" sz="1250" noProof="1">
                <a:solidFill>
                  <a:srgbClr val="1A1D20"/>
                </a:solidFill>
                <a:latin typeface="JetBrains Mono"/>
                <a:ea typeface="JetBrains Mono"/>
              </a:rPr>
              <a:t>ewm-git</a:t>
            </a:r>
            <a:r>
              <a:rPr lang="en-US" sz="1250" noProof="1">
                <a:solidFill>
                  <a:srgbClr val="1A1D20"/>
                </a:solidFill>
                <a:latin typeface="Inter"/>
                <a:ea typeface="Inter"/>
              </a:rPr>
              <a:t>).</a:t>
            </a:r>
            <a:endParaRPr lang="en-US" sz="1250" noProof="1"/>
          </a:p>
        </p:txBody>
      </p:sp>
      <p:sp>
        <p:nvSpPr>
          <p:cNvPr id="9" name="layer-store"/>
          <p:cNvSpPr/>
          <p:nvPr/>
        </p:nvSpPr>
        <p:spPr>
          <a:xfrm>
            <a:off x="7112000" y="1549400"/>
            <a:ext cx="4267200" cy="711200"/>
          </a:xfrm>
          <a:prstGeom prst="rect">
            <a:avLst/>
          </a:prstGeom>
          <a:solidFill>
            <a:srgbClr val="FFFFFF"/>
          </a:solidFill>
          <a:ln w="12700">
            <a:solidFill>
              <a:srgbClr val="DCD8CF"/>
            </a:solidFill>
          </a:ln>
        </p:spPr>
      </p:sp>
      <p:sp>
        <p:nvSpPr>
          <p:cNvPr id="10" name="layer-store-t"/>
          <p:cNvSpPr txBox="1"/>
          <p:nvPr/>
        </p:nvSpPr>
        <p:spPr>
          <a:xfrm>
            <a:off x="7315200" y="1651000"/>
            <a:ext cx="3860800" cy="508000"/>
          </a:xfrm>
          <a:prstGeom prst="rect">
            <a:avLst/>
          </a:prstGeom>
          <a:noFill/>
          <a:ln>
            <a:noFill/>
          </a:ln>
        </p:spPr>
        <p:txBody>
          <a:bodyPr lIns="0" rIns="0" tIns="0" bIns="0" wrap="square" rtlCol="0"/>
          <a:lstStyle/>
          <a:p>
            <a:pPr>
              <a:lnSpc>
                <a:spcPct val="150000"/>
              </a:lnSpc>
            </a:pPr>
            <a:r>
              <a:rPr lang="en-US" sz="1150" noProof="1" b="1">
                <a:solidFill>
                  <a:srgbClr val="1A1D20"/>
                </a:solidFill>
                <a:latin typeface="JetBrains Mono"/>
                <a:ea typeface="JetBrains Mono"/>
              </a:rPr>
              <a:t>persistent store · ewm-git</a:t>
            </a:r>
            <a:endParaRPr lang="en-US" sz="1150" noProof="1"/>
          </a:p>
          <a:p>
            <a:pPr>
              <a:lnSpc>
                <a:spcPct val="150000"/>
              </a:lnSpc>
            </a:pPr>
            <a:r>
              <a:rPr lang="en-US" sz="1050" noProof="1">
                <a:solidFill>
                  <a:srgbClr val="6E747B"/>
                </a:solidFill>
                <a:latin typeface="Inter"/>
                <a:ea typeface="Inter"/>
              </a:rPr>
              <a:t>the committed stack; tip = head</a:t>
            </a:r>
            <a:endParaRPr lang="en-US" sz="1150" noProof="1"/>
          </a:p>
        </p:txBody>
      </p:sp>
      <p:sp>
        <p:nvSpPr>
          <p:cNvPr id="11" name="arrow-1"/>
          <p:cNvSpPr/>
          <p:nvPr>
            <p:extLst>
              <p:ext uri="{F5677B7D-0D2A-4D9B-9A5C-6D8D7D0E5A5D}">
                <pptd:line encoding="base64url">eyJ2aWV3Qm94IjpbMiwzNF0sInBvaW50cyI6IjEsMCAxLDM0In0</pptd:line>
              </p:ext>
            </p:extLst>
          </p:nvPr>
        </p:nvSpPr>
        <p:spPr>
          <a:xfrm>
            <a:off x="8128000" y="2260600"/>
            <a:ext cx="25400" cy="431800"/>
          </a:xfrm>
          <a:custGeom>
            <a:avLst/>
            <a:gdLst/>
            <a:ahLst/>
            <a:cxnLst/>
            <a:rect l="l" t="t" r="r" b="b"/>
            <a:pathLst>
              <a:path w="2" h="34">
                <a:moveTo>
                  <a:pt x="1" y="0"/>
                </a:moveTo>
                <a:lnTo>
                  <a:pt x="1" y="34"/>
                </a:lnTo>
              </a:path>
            </a:pathLst>
          </a:custGeom>
          <a:noFill/>
          <a:ln w="19050" cap="rnd">
            <a:solidFill>
              <a:srgbClr val="1E5B4E"/>
            </a:solidFill>
            <a:round/>
            <a:headEnd type="arrow"/>
            <a:tailEnd type="arrow"/>
          </a:ln>
        </p:spPr>
      </p:sp>
      <p:sp>
        <p:nvSpPr>
          <p:cNvPr id="12" name="arrow-1-label"/>
          <p:cNvSpPr txBox="1"/>
          <p:nvPr/>
        </p:nvSpPr>
        <p:spPr>
          <a:xfrm>
            <a:off x="8280400" y="2336800"/>
            <a:ext cx="1524000" cy="279400"/>
          </a:xfrm>
          <a:prstGeom prst="rect">
            <a:avLst/>
          </a:prstGeom>
          <a:noFill/>
          <a:ln>
            <a:noFill/>
          </a:ln>
        </p:spPr>
        <p:txBody>
          <a:bodyPr lIns="0" rIns="0" tIns="0" bIns="0" wrap="none" rtlCol="0"/>
          <a:lstStyle/>
          <a:p>
            <a:pPr>
              <a:lnSpc>
                <a:spcPct val="120000"/>
              </a:lnSpc>
            </a:pPr>
            <a:r>
              <a:rPr lang="en-US" sz="950" noProof="1">
                <a:solidFill>
                  <a:srgbClr val="6E747B"/>
                </a:solidFill>
                <a:latin typeface="JetBrains Mono"/>
                <a:ea typeface="JetBrains Mono"/>
              </a:rPr>
              <a:t>load ↑ · commit ↓</a:t>
            </a:r>
            <a:endParaRPr lang="en-US" sz="950" noProof="1"/>
          </a:p>
        </p:txBody>
      </p:sp>
      <p:sp>
        <p:nvSpPr>
          <p:cNvPr id="13" name="layer-cache"/>
          <p:cNvSpPr/>
          <p:nvPr/>
        </p:nvSpPr>
        <p:spPr>
          <a:xfrm>
            <a:off x="7112000" y="2692400"/>
            <a:ext cx="4267200" cy="711200"/>
          </a:xfrm>
          <a:prstGeom prst="rect">
            <a:avLst/>
          </a:prstGeom>
          <a:solidFill>
            <a:srgbClr val="F1EFE9"/>
          </a:solidFill>
          <a:ln w="19050">
            <a:solidFill>
              <a:srgbClr val="1E5B4E"/>
            </a:solidFill>
          </a:ln>
        </p:spPr>
      </p:sp>
      <p:sp>
        <p:nvSpPr>
          <p:cNvPr id="14" name="layer-cache-t"/>
          <p:cNvSpPr txBox="1"/>
          <p:nvPr/>
        </p:nvSpPr>
        <p:spPr>
          <a:xfrm>
            <a:off x="7315200" y="2794000"/>
            <a:ext cx="3860800" cy="508000"/>
          </a:xfrm>
          <a:prstGeom prst="rect">
            <a:avLst/>
          </a:prstGeom>
          <a:noFill/>
          <a:ln>
            <a:noFill/>
          </a:ln>
        </p:spPr>
        <p:txBody>
          <a:bodyPr lIns="0" rIns="0" tIns="0" bIns="0" wrap="square" rtlCol="0"/>
          <a:lstStyle/>
          <a:p>
            <a:pPr>
              <a:lnSpc>
                <a:spcPct val="150000"/>
              </a:lnSpc>
            </a:pPr>
            <a:r>
              <a:rPr lang="en-US" sz="1150" noProof="1" b="1">
                <a:solidFill>
                  <a:srgbClr val="1A1D20"/>
                </a:solidFill>
                <a:latin typeface="JetBrains Mono"/>
                <a:ea typeface="JetBrains Mono"/>
              </a:rPr>
              <a:t>shared cache · StateCache</a:t>
            </a:r>
            <a:endParaRPr lang="en-US" sz="1150" noProof="1"/>
          </a:p>
          <a:p>
            <a:pPr>
              <a:lnSpc>
                <a:spcPct val="150000"/>
              </a:lnSpc>
            </a:pPr>
            <a:r>
              <a:rPr lang="en-US" sz="1050" noProof="1">
                <a:solidFill>
                  <a:srgbClr val="6E747B"/>
                </a:solidFill>
                <a:latin typeface="Inter"/>
                <a:ea typeface="Inter"/>
              </a:rPr>
              <a:t>S(t) working set + H(t−1) materialized</a:t>
            </a:r>
            <a:endParaRPr lang="en-US" sz="1150" noProof="1"/>
          </a:p>
        </p:txBody>
      </p:sp>
      <p:sp>
        <p:nvSpPr>
          <p:cNvPr id="15" name="arrow-2"/>
          <p:cNvSpPr/>
          <p:nvPr>
            <p:extLst>
              <p:ext uri="{F5677B7D-0D2A-4D9B-9A5C-6D8D7D0E5A5D}">
                <pptd:line encoding="base64url">eyJ2aWV3Qm94IjpbMiwzNF0sInBvaW50cyI6IjEsMCAxLDM0In0</pptd:line>
              </p:ext>
            </p:extLst>
          </p:nvPr>
        </p:nvSpPr>
        <p:spPr>
          <a:xfrm>
            <a:off x="8128000" y="3403600"/>
            <a:ext cx="25400" cy="431800"/>
          </a:xfrm>
          <a:custGeom>
            <a:avLst/>
            <a:gdLst/>
            <a:ahLst/>
            <a:cxnLst/>
            <a:rect l="l" t="t" r="r" b="b"/>
            <a:pathLst>
              <a:path w="2" h="34">
                <a:moveTo>
                  <a:pt x="1" y="0"/>
                </a:moveTo>
                <a:lnTo>
                  <a:pt x="1" y="34"/>
                </a:lnTo>
              </a:path>
            </a:pathLst>
          </a:custGeom>
          <a:noFill/>
          <a:ln w="19050" cap="rnd">
            <a:solidFill>
              <a:srgbClr val="1E5B4E"/>
            </a:solidFill>
            <a:round/>
            <a:headEnd type="arrow"/>
            <a:tailEnd type="arrow"/>
          </a:ln>
        </p:spPr>
      </p:sp>
      <p:sp>
        <p:nvSpPr>
          <p:cNvPr id="16" name="arrow-2-label"/>
          <p:cNvSpPr txBox="1"/>
          <p:nvPr/>
        </p:nvSpPr>
        <p:spPr>
          <a:xfrm>
            <a:off x="8280400" y="3479800"/>
            <a:ext cx="1651000" cy="279400"/>
          </a:xfrm>
          <a:prstGeom prst="rect">
            <a:avLst/>
          </a:prstGeom>
          <a:noFill/>
          <a:ln>
            <a:noFill/>
          </a:ln>
        </p:spPr>
        <p:txBody>
          <a:bodyPr lIns="0" rIns="0" tIns="0" bIns="0" wrap="none" rtlCol="0"/>
          <a:lstStyle/>
          <a:p>
            <a:pPr>
              <a:lnSpc>
                <a:spcPct val="120000"/>
              </a:lnSpc>
            </a:pPr>
            <a:r>
              <a:rPr lang="en-US" sz="950" noProof="1">
                <a:solidFill>
                  <a:srgbClr val="6E747B"/>
                </a:solidFill>
                <a:latin typeface="JetBrains Mono"/>
                <a:ea typeface="JetBrains Mono"/>
              </a:rPr>
              <a:t>read ↑ · propose ↓</a:t>
            </a:r>
            <a:endParaRPr lang="en-US" sz="950" noProof="1"/>
          </a:p>
        </p:txBody>
      </p:sp>
      <p:sp>
        <p:nvSpPr>
          <p:cNvPr id="17" name="layer-um"/>
          <p:cNvSpPr/>
          <p:nvPr/>
        </p:nvSpPr>
        <p:spPr>
          <a:xfrm>
            <a:off x="7112000" y="3835400"/>
            <a:ext cx="4267200" cy="711200"/>
          </a:xfrm>
          <a:prstGeom prst="rect">
            <a:avLst/>
          </a:prstGeom>
          <a:solidFill>
            <a:srgbClr val="FFFFFF"/>
          </a:solidFill>
          <a:ln w="12700">
            <a:solidFill>
              <a:srgbClr val="DCD8CF"/>
            </a:solidFill>
          </a:ln>
        </p:spPr>
      </p:sp>
      <p:sp>
        <p:nvSpPr>
          <p:cNvPr id="18" name="layer-um-t"/>
          <p:cNvSpPr txBox="1"/>
          <p:nvPr/>
        </p:nvSpPr>
        <p:spPr>
          <a:xfrm>
            <a:off x="7315200" y="3937000"/>
            <a:ext cx="3860800" cy="508000"/>
          </a:xfrm>
          <a:prstGeom prst="rect">
            <a:avLst/>
          </a:prstGeom>
          <a:noFill/>
          <a:ln>
            <a:noFill/>
          </a:ln>
        </p:spPr>
        <p:txBody>
          <a:bodyPr lIns="0" rIns="0" tIns="0" bIns="0" wrap="square" rtlCol="0"/>
          <a:lstStyle/>
          <a:p>
            <a:pPr>
              <a:lnSpc>
                <a:spcPct val="150000"/>
              </a:lnSpc>
            </a:pPr>
            <a:r>
              <a:rPr lang="en-US" sz="1150" noProof="1" b="1">
                <a:solidFill>
                  <a:srgbClr val="1A1D20"/>
                </a:solidFill>
                <a:latin typeface="JetBrains Mono"/>
                <a:ea typeface="JetBrains Mono"/>
              </a:rPr>
              <a:t>[UM] · ewm-app</a:t>
            </a:r>
            <a:endParaRPr lang="en-US" sz="1150" noProof="1"/>
          </a:p>
          <a:p>
            <a:pPr>
              <a:lnSpc>
                <a:spcPct val="150000"/>
              </a:lnSpc>
            </a:pPr>
            <a:r>
              <a:rPr lang="en-US" sz="1050" noProof="1">
                <a:solidFill>
                  <a:srgbClr val="6E747B"/>
                </a:solidFill>
                <a:latin typeface="Inter"/>
                <a:ea typeface="Inter"/>
              </a:rPr>
              <a:t>stateless, disposable — owns only the store handle</a:t>
            </a:r>
            <a:endParaRPr lang="en-US" sz="1150" noProof="1"/>
          </a:p>
        </p:txBody>
      </p:sp>
      <p:sp>
        <p:nvSpPr>
          <p:cNvPr id="19" name="strip-bar"/>
          <p:cNvSpPr/>
          <p:nvPr/>
        </p:nvSpPr>
        <p:spPr>
          <a:xfrm>
            <a:off x="812800" y="5080000"/>
            <a:ext cx="38100" cy="914400"/>
          </a:xfrm>
          <a:prstGeom prst="rect">
            <a:avLst/>
          </a:prstGeom>
          <a:solidFill>
            <a:srgbClr val="C2521E"/>
          </a:solidFill>
          <a:ln>
            <a:noFill/>
          </a:ln>
        </p:spPr>
      </p:sp>
      <p:sp>
        <p:nvSpPr>
          <p:cNvPr id="20" name="strip-text"/>
          <p:cNvSpPr txBox="1"/>
          <p:nvPr/>
        </p:nvSpPr>
        <p:spPr>
          <a:xfrm>
            <a:off x="1016000" y="5080000"/>
            <a:ext cx="10363200" cy="914400"/>
          </a:xfrm>
          <a:prstGeom prst="rect">
            <a:avLst/>
          </a:prstGeom>
          <a:noFill/>
          <a:ln>
            <a:noFill/>
          </a:ln>
        </p:spPr>
        <p:txBody>
          <a:bodyPr lIns="0" rIns="0" tIns="0" bIns="0" wrap="square" rtlCol="0" anchor="ctr"/>
          <a:lstStyle/>
          <a:p>
            <a:pPr algn="l">
              <a:lnSpc>
                <a:spcPct val="150000"/>
              </a:lnSpc>
            </a:pPr>
            <a:r>
              <a:rPr lang="en-US" sz="1250" noProof="1" b="1">
                <a:solidFill>
                  <a:srgbClr val="1A1D20"/>
                </a:solidFill>
                <a:latin typeface="Inter"/>
                <a:ea typeface="Inter"/>
              </a:rPr>
              <a:t>Recovery is a pop, not a rebuild.</a:t>
            </a:r>
            <a:r>
              <a:rPr lang="en-US" sz="1250" noProof="1">
                <a:solidFill>
                  <a:srgbClr val="1A1D20"/>
                </a:solidFill>
                <a:latin typeface="Inter"/>
                <a:ea typeface="Inter"/>
              </a:rPr>
              <a:t> Drop the broken [UM] and its cache, restore the cache from the tip, and continue with a fresh [UM]. Uncommitted work is reprocessed — idempotent by IICA.</a:t>
            </a:r>
            <a:endParaRPr lang="en-US" sz="1250" noProof="1"/>
          </a:p>
        </p:txBody>
      </p:sp>
      <p:sp>
        <p:nvSpPr>
          <p:cNvPr id="21"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2"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11</a:t>
            </a:r>
            <a:endParaRPr lang="en-US" sz="900" noProof="1"/>
          </a:p>
        </p:txBody>
      </p:sp>
    </p:spTree>
  </p:cSld>
  <p:clrMapOvr>
    <a:masterClrMapping/>
  </p:clrMapOvr>
</p:sld>
</file>

<file path=ppt/slides/slide1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11 · HOW IT WORKS — THE SIDE-CAR LOOP</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One vocabulary-aware step — everything below it is agnostic</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flow-1"/>
          <p:cNvSpPr/>
          <p:nvPr/>
        </p:nvSpPr>
        <p:spPr>
          <a:xfrm>
            <a:off x="4191000" y="1549400"/>
            <a:ext cx="3810000" cy="508000"/>
          </a:xfrm>
          <a:prstGeom prst="rect">
            <a:avLst/>
          </a:prstGeom>
          <a:solidFill>
            <a:srgbClr val="FFFFFF"/>
          </a:solidFill>
          <a:ln w="12700">
            <a:solidFill>
              <a:srgbClr val="DCD8CF"/>
            </a:solidFill>
          </a:ln>
        </p:spPr>
      </p:sp>
      <p:sp>
        <p:nvSpPr>
          <p:cNvPr id="6" name="flow-1-t"/>
          <p:cNvSpPr txBox="1"/>
          <p:nvPr/>
        </p:nvSpPr>
        <p:spPr>
          <a:xfrm>
            <a:off x="4191000" y="1549400"/>
            <a:ext cx="3810000" cy="508000"/>
          </a:xfrm>
          <a:prstGeom prst="rect">
            <a:avLst/>
          </a:prstGeom>
          <a:noFill/>
          <a:ln>
            <a:noFill/>
          </a:ln>
        </p:spPr>
        <p:txBody>
          <a:bodyPr lIns="0" rIns="0" tIns="0" bIns="0" wrap="none" rtlCol="0" anchor="ctr"/>
          <a:lstStyle/>
          <a:p>
            <a:pPr algn="ctr">
              <a:lnSpc>
                <a:spcPct val="120000"/>
              </a:lnSpc>
            </a:pPr>
            <a:r>
              <a:rPr lang="en-US" sz="1200" noProof="1">
                <a:solidFill>
                  <a:srgbClr val="1A1D20"/>
                </a:solidFill>
                <a:latin typeface="JetBrains Mono"/>
                <a:ea typeface="JetBrains Mono"/>
              </a:rPr>
              <a:t>host encodings (f32 vectors)</a:t>
            </a:r>
            <a:endParaRPr lang="en-US" sz="1200" noProof="1"/>
          </a:p>
        </p:txBody>
      </p:sp>
      <p:sp>
        <p:nvSpPr>
          <p:cNvPr id="7" name="flow-a1"/>
          <p:cNvSpPr/>
          <p:nvPr>
            <p:extLst>
              <p:ext uri="{F5677B7D-0D2A-4D9B-9A5C-6D8D7D0E5A5D}">
                <pptd:line encoding="base64url">eyJ2aWV3Qm94IjpbMiwzMF0sInBvaW50cyI6IjEsMCAxLDMwIn0</pptd:line>
              </p:ext>
            </p:extLst>
          </p:nvPr>
        </p:nvSpPr>
        <p:spPr>
          <a:xfrm>
            <a:off x="6083300" y="2057400"/>
            <a:ext cx="25400" cy="381000"/>
          </a:xfrm>
          <a:custGeom>
            <a:avLst/>
            <a:gdLst/>
            <a:ahLst/>
            <a:cxnLst/>
            <a:rect l="l" t="t" r="r" b="b"/>
            <a:pathLst>
              <a:path w="2" h="30">
                <a:moveTo>
                  <a:pt x="1" y="0"/>
                </a:moveTo>
                <a:lnTo>
                  <a:pt x="1" y="30"/>
                </a:lnTo>
              </a:path>
            </a:pathLst>
          </a:custGeom>
          <a:noFill/>
          <a:ln w="19050" cap="rnd">
            <a:solidFill>
              <a:srgbClr val="C2521E"/>
            </a:solidFill>
            <a:round/>
            <a:tailEnd type="arrow"/>
          </a:ln>
        </p:spPr>
      </p:sp>
      <p:sp>
        <p:nvSpPr>
          <p:cNvPr id="8" name="flow-a1-label"/>
          <p:cNvSpPr txBox="1"/>
          <p:nvPr/>
        </p:nvSpPr>
        <p:spPr>
          <a:xfrm>
            <a:off x="6273800" y="2108200"/>
            <a:ext cx="3810000" cy="279400"/>
          </a:xfrm>
          <a:prstGeom prst="rect">
            <a:avLst/>
          </a:prstGeom>
          <a:noFill/>
          <a:ln>
            <a:noFill/>
          </a:ln>
        </p:spPr>
        <p:txBody>
          <a:bodyPr lIns="0" rIns="0" tIns="0" bIns="0" wrap="none" rtlCol="0"/>
          <a:lstStyle/>
          <a:p>
            <a:pPr>
              <a:lnSpc>
                <a:spcPct val="120000"/>
              </a:lnSpc>
            </a:pPr>
            <a:r>
              <a:rPr lang="en-US" sz="950" noProof="1">
                <a:solidFill>
                  <a:srgbClr val="C2521E"/>
                </a:solidFill>
                <a:latin typeface="JetBrains Mono"/>
                <a:ea typeface="JetBrains Mono"/>
              </a:rPr>
              <a:t>CodebookEncoder::encode — quantization</a:t>
            </a:r>
            <a:endParaRPr lang="en-US" sz="950" noProof="1"/>
          </a:p>
        </p:txBody>
      </p:sp>
      <p:sp>
        <p:nvSpPr>
          <p:cNvPr id="9" name="flow-2"/>
          <p:cNvSpPr/>
          <p:nvPr/>
        </p:nvSpPr>
        <p:spPr>
          <a:xfrm>
            <a:off x="4191000" y="2438400"/>
            <a:ext cx="3810000" cy="508000"/>
          </a:xfrm>
          <a:prstGeom prst="rect">
            <a:avLst/>
          </a:prstGeom>
          <a:solidFill>
            <a:srgbClr val="FFFFFF"/>
          </a:solidFill>
          <a:ln w="12700">
            <a:solidFill>
              <a:srgbClr val="DCD8CF"/>
            </a:solidFill>
          </a:ln>
        </p:spPr>
      </p:sp>
      <p:sp>
        <p:nvSpPr>
          <p:cNvPr id="10" name="flow-2-t"/>
          <p:cNvSpPr txBox="1"/>
          <p:nvPr/>
        </p:nvSpPr>
        <p:spPr>
          <a:xfrm>
            <a:off x="4191000" y="2438400"/>
            <a:ext cx="3810000" cy="508000"/>
          </a:xfrm>
          <a:prstGeom prst="rect">
            <a:avLst/>
          </a:prstGeom>
          <a:noFill/>
          <a:ln>
            <a:noFill/>
          </a:ln>
        </p:spPr>
        <p:txBody>
          <a:bodyPr lIns="0" rIns="0" tIns="0" bIns="0" wrap="none" rtlCol="0" anchor="ctr"/>
          <a:lstStyle/>
          <a:p>
            <a:pPr algn="ctr">
              <a:lnSpc>
                <a:spcPct val="120000"/>
              </a:lnSpc>
            </a:pPr>
            <a:r>
              <a:rPr lang="en-US" sz="1200" noProof="1">
                <a:solidFill>
                  <a:srgbClr val="1A1D20"/>
                </a:solidFill>
                <a:latin typeface="JetBrains Mono"/>
                <a:ea typeface="JetBrains Mono"/>
              </a:rPr>
              <a:t>tid{n} ids</a:t>
            </a:r>
            <a:endParaRPr lang="en-US" sz="1200" noProof="1"/>
          </a:p>
        </p:txBody>
      </p:sp>
      <p:sp>
        <p:nvSpPr>
          <p:cNvPr id="11" name="flow-a2"/>
          <p:cNvSpPr/>
          <p:nvPr>
            <p:extLst>
              <p:ext uri="{F5677B7D-0D2A-4D9B-9A5C-6D8D7D0E5A5D}">
                <pptd:line encoding="base64url">eyJ2aWV3Qm94IjpbMiwzMF0sInBvaW50cyI6IjEsMCAxLDMwIn0</pptd:line>
              </p:ext>
            </p:extLst>
          </p:nvPr>
        </p:nvSpPr>
        <p:spPr>
          <a:xfrm>
            <a:off x="6083300" y="2946400"/>
            <a:ext cx="25400" cy="381000"/>
          </a:xfrm>
          <a:custGeom>
            <a:avLst/>
            <a:gdLst/>
            <a:ahLst/>
            <a:cxnLst/>
            <a:rect l="l" t="t" r="r" b="b"/>
            <a:pathLst>
              <a:path w="2" h="30">
                <a:moveTo>
                  <a:pt x="1" y="0"/>
                </a:moveTo>
                <a:lnTo>
                  <a:pt x="1" y="30"/>
                </a:lnTo>
              </a:path>
            </a:pathLst>
          </a:custGeom>
          <a:noFill/>
          <a:ln w="19050" cap="rnd">
            <a:solidFill>
              <a:srgbClr val="1E5B4E"/>
            </a:solidFill>
            <a:round/>
            <a:tailEnd type="arrow"/>
          </a:ln>
        </p:spPr>
      </p:sp>
      <p:sp>
        <p:nvSpPr>
          <p:cNvPr id="12" name="flow-a2-label"/>
          <p:cNvSpPr txBox="1"/>
          <p:nvPr/>
        </p:nvSpPr>
        <p:spPr>
          <a:xfrm>
            <a:off x="6273800" y="2997200"/>
            <a:ext cx="2540000" cy="279400"/>
          </a:xfrm>
          <a:prstGeom prst="rect">
            <a:avLst/>
          </a:prstGeom>
          <a:noFill/>
          <a:ln>
            <a:noFill/>
          </a:ln>
        </p:spPr>
        <p:txBody>
          <a:bodyPr lIns="0" rIns="0" tIns="0" bIns="0" wrap="none" rtlCol="0"/>
          <a:lstStyle/>
          <a:p>
            <a:pPr>
              <a:lnSpc>
                <a:spcPct val="120000"/>
              </a:lnSpc>
            </a:pPr>
            <a:r>
              <a:rPr lang="en-US" sz="950" noProof="1">
                <a:solidFill>
                  <a:srgbClr val="1E5B4E"/>
                </a:solidFill>
                <a:latin typeface="JetBrains Mono"/>
                <a:ea typeface="JetBrains Mono"/>
              </a:rPr>
              <a:t>ingest</a:t>
            </a:r>
            <a:endParaRPr lang="en-US" sz="950" noProof="1"/>
          </a:p>
        </p:txBody>
      </p:sp>
      <p:sp>
        <p:nvSpPr>
          <p:cNvPr id="13" name="flow-3"/>
          <p:cNvSpPr/>
          <p:nvPr/>
        </p:nvSpPr>
        <p:spPr>
          <a:xfrm>
            <a:off x="4191000" y="3327400"/>
            <a:ext cx="3810000" cy="711200"/>
          </a:xfrm>
          <a:prstGeom prst="rect">
            <a:avLst/>
          </a:prstGeom>
          <a:solidFill>
            <a:srgbClr val="F1EFE9"/>
          </a:solidFill>
          <a:ln w="19050">
            <a:solidFill>
              <a:srgbClr val="1E5B4E"/>
            </a:solidFill>
          </a:ln>
        </p:spPr>
      </p:sp>
      <p:sp>
        <p:nvSpPr>
          <p:cNvPr id="14" name="flow-3-t"/>
          <p:cNvSpPr txBox="1"/>
          <p:nvPr/>
        </p:nvSpPr>
        <p:spPr>
          <a:xfrm>
            <a:off x="4191000" y="3327400"/>
            <a:ext cx="3810000" cy="711200"/>
          </a:xfrm>
          <a:prstGeom prst="rect">
            <a:avLst/>
          </a:prstGeom>
          <a:noFill/>
          <a:ln>
            <a:noFill/>
          </a:ln>
        </p:spPr>
        <p:txBody>
          <a:bodyPr lIns="0" rIns="0" tIns="0" bIns="0" wrap="square" rtlCol="0" anchor="ctr"/>
          <a:lstStyle/>
          <a:p>
            <a:pPr algn="ctr">
              <a:lnSpc>
                <a:spcPct val="120000"/>
              </a:lnSpc>
            </a:pPr>
            <a:r>
              <a:rPr lang="en-US" sz="1200" noProof="1" b="1">
                <a:solidFill>
                  <a:srgbClr val="1E5B4E"/>
                </a:solidFill>
                <a:latin typeface="JetBrains Mono"/>
                <a:ea typeface="JetBrains Mono"/>
              </a:rPr>
              <a:t>HLLSets</a:t>
            </a:r>
            <a:endParaRPr lang="en-US" sz="1200" noProof="1"/>
          </a:p>
          <a:p>
            <a:pPr algn="ctr">
              <a:lnSpc>
                <a:spcPct val="120000"/>
              </a:lnSpc>
            </a:pPr>
            <a:r>
              <a:rPr lang="en-US" sz="1000" noProof="1" b="1">
                <a:solidFill>
                  <a:srgbClr val="6E747B"/>
                </a:solidFill>
                <a:latin typeface="JetBrains Mono"/>
                <a:ea typeface="JetBrains Mono"/>
              </a:rPr>
              <a:t>S(t) · H(t−1) · D/R/N · ring</a:t>
            </a:r>
            <a:endParaRPr lang="en-US" sz="1200" noProof="1"/>
          </a:p>
        </p:txBody>
      </p:sp>
      <p:sp>
        <p:nvSpPr>
          <p:cNvPr id="15" name="flow-a3"/>
          <p:cNvSpPr/>
          <p:nvPr>
            <p:extLst>
              <p:ext uri="{F5677B7D-0D2A-4D9B-9A5C-6D8D7D0E5A5D}">
                <pptd:line encoding="base64url">eyJ2aWV3Qm94IjpbMiwzMF0sInBvaW50cyI6IjEsMCAxLDMwIn0</pptd:line>
              </p:ext>
            </p:extLst>
          </p:nvPr>
        </p:nvSpPr>
        <p:spPr>
          <a:xfrm>
            <a:off x="6083300" y="4038600"/>
            <a:ext cx="25400" cy="381000"/>
          </a:xfrm>
          <a:custGeom>
            <a:avLst/>
            <a:gdLst/>
            <a:ahLst/>
            <a:cxnLst/>
            <a:rect l="l" t="t" r="r" b="b"/>
            <a:pathLst>
              <a:path w="2" h="30">
                <a:moveTo>
                  <a:pt x="1" y="0"/>
                </a:moveTo>
                <a:lnTo>
                  <a:pt x="1" y="30"/>
                </a:lnTo>
              </a:path>
            </a:pathLst>
          </a:custGeom>
          <a:noFill/>
          <a:ln w="19050" cap="rnd">
            <a:solidFill>
              <a:srgbClr val="1E5B4E"/>
            </a:solidFill>
            <a:round/>
            <a:tailEnd type="arrow"/>
          </a:ln>
        </p:spPr>
      </p:sp>
      <p:sp>
        <p:nvSpPr>
          <p:cNvPr id="16" name="flow-a3-label"/>
          <p:cNvSpPr txBox="1"/>
          <p:nvPr/>
        </p:nvSpPr>
        <p:spPr>
          <a:xfrm>
            <a:off x="6273800" y="4089400"/>
            <a:ext cx="2540000" cy="279400"/>
          </a:xfrm>
          <a:prstGeom prst="rect">
            <a:avLst/>
          </a:prstGeom>
          <a:noFill/>
          <a:ln>
            <a:noFill/>
          </a:ln>
        </p:spPr>
        <p:txBody>
          <a:bodyPr lIns="0" rIns="0" tIns="0" bIns="0" wrap="none" rtlCol="0"/>
          <a:lstStyle/>
          <a:p>
            <a:pPr>
              <a:lnSpc>
                <a:spcPct val="120000"/>
              </a:lnSpc>
            </a:pPr>
            <a:r>
              <a:rPr lang="en-US" sz="950" noProof="1">
                <a:solidFill>
                  <a:srgbClr val="1E5B4E"/>
                </a:solidFill>
                <a:latin typeface="JetBrains Mono"/>
                <a:ea typeface="JetBrains Mono"/>
              </a:rPr>
              <a:t>ordered materialize</a:t>
            </a:r>
            <a:endParaRPr lang="en-US" sz="950" noProof="1"/>
          </a:p>
        </p:txBody>
      </p:sp>
      <p:sp>
        <p:nvSpPr>
          <p:cNvPr id="17" name="flow-4"/>
          <p:cNvSpPr/>
          <p:nvPr/>
        </p:nvSpPr>
        <p:spPr>
          <a:xfrm>
            <a:off x="4191000" y="4419600"/>
            <a:ext cx="3810000" cy="508000"/>
          </a:xfrm>
          <a:prstGeom prst="rect">
            <a:avLst/>
          </a:prstGeom>
          <a:solidFill>
            <a:srgbClr val="FFFFFF"/>
          </a:solidFill>
          <a:ln w="12700">
            <a:solidFill>
              <a:srgbClr val="DCD8CF"/>
            </a:solidFill>
          </a:ln>
        </p:spPr>
      </p:sp>
      <p:sp>
        <p:nvSpPr>
          <p:cNvPr id="18" name="flow-4-t"/>
          <p:cNvSpPr txBox="1"/>
          <p:nvPr/>
        </p:nvSpPr>
        <p:spPr>
          <a:xfrm>
            <a:off x="4191000" y="4419600"/>
            <a:ext cx="3810000" cy="508000"/>
          </a:xfrm>
          <a:prstGeom prst="rect">
            <a:avLst/>
          </a:prstGeom>
          <a:noFill/>
          <a:ln>
            <a:noFill/>
          </a:ln>
        </p:spPr>
        <p:txBody>
          <a:bodyPr lIns="0" rIns="0" tIns="0" bIns="0" wrap="none" rtlCol="0" anchor="ctr"/>
          <a:lstStyle/>
          <a:p>
            <a:pPr algn="ctr">
              <a:lnSpc>
                <a:spcPct val="120000"/>
              </a:lnSpc>
            </a:pPr>
            <a:r>
              <a:rPr lang="en-US" sz="1200" noProof="1">
                <a:solidFill>
                  <a:srgbClr val="1A1D20"/>
                </a:solidFill>
                <a:latin typeface="JetBrains Mono"/>
                <a:ea typeface="JetBrains Mono"/>
              </a:rPr>
              <a:t>restored_ids → back to the host</a:t>
            </a:r>
            <a:endParaRPr lang="en-US" sz="1200" noProof="1"/>
          </a:p>
        </p:txBody>
      </p:sp>
      <p:sp>
        <p:nvSpPr>
          <p:cNvPr id="19" name="left-label"/>
          <p:cNvSpPr txBox="1"/>
          <p:nvPr/>
        </p:nvSpPr>
        <p:spPr>
          <a:xfrm>
            <a:off x="812800" y="1549400"/>
            <a:ext cx="2921000" cy="1143000"/>
          </a:xfrm>
          <a:prstGeom prst="rect">
            <a:avLst/>
          </a:prstGeom>
          <a:noFill/>
          <a:ln>
            <a:noFill/>
          </a:ln>
        </p:spPr>
        <p:txBody>
          <a:bodyPr lIns="0" rIns="0" tIns="0" bIns="0" wrap="square" rtlCol="0"/>
          <a:lstStyle/>
          <a:p>
            <a:pPr>
              <a:lnSpc>
                <a:spcPct val="150000"/>
              </a:lnSpc>
            </a:pPr>
            <a:r>
              <a:rPr lang="en-US" sz="1200" noProof="1" b="1">
                <a:solidFill>
                  <a:srgbClr val="1A1D20"/>
                </a:solidFill>
                <a:latin typeface="Inter"/>
                <a:ea typeface="Inter"/>
              </a:rPr>
              <a:t>The encoder is the only vocabulary-aware step</a:t>
            </a:r>
            <a:r>
              <a:rPr lang="en-US" sz="1200" noProof="1">
                <a:solidFill>
                  <a:srgbClr val="1A1D20"/>
                </a:solidFill>
                <a:latin typeface="Inter"/>
                <a:ea typeface="Inter"/>
              </a:rPr>
              <a:t> — a shared codebook quantizer (</a:t>
            </a:r>
            <a:r>
              <a:rPr lang="en-US" sz="1200" noProof="1">
                <a:solidFill>
                  <a:srgbClr val="1A1D20"/>
                </a:solidFill>
                <a:latin typeface="JetBrains Mono"/>
                <a:ea typeface="JetBrains Mono"/>
              </a:rPr>
              <a:t>ewm-app::CodebookEncoder</a:t>
            </a:r>
            <a:r>
              <a:rPr lang="en-US" sz="1200" noProof="1">
                <a:solidFill>
                  <a:srgbClr val="1A1D20"/>
                </a:solidFill>
                <a:latin typeface="Inter"/>
                <a:ea typeface="Inter"/>
              </a:rPr>
              <a:t>).</a:t>
            </a:r>
            <a:endParaRPr lang="en-US" sz="1200" noProof="1"/>
          </a:p>
        </p:txBody>
      </p:sp>
      <p:sp>
        <p:nvSpPr>
          <p:cNvPr id="20" name="left-note"/>
          <p:cNvSpPr txBox="1"/>
          <p:nvPr/>
        </p:nvSpPr>
        <p:spPr>
          <a:xfrm>
            <a:off x="812800" y="2946400"/>
            <a:ext cx="2921000" cy="15240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Everything below it is </a:t>
            </a:r>
            <a:r>
              <a:rPr lang="en-US" sz="1200" noProof="1" b="1">
                <a:solidFill>
                  <a:srgbClr val="1A1D20"/>
                </a:solidFill>
                <a:latin typeface="Inter"/>
                <a:ea typeface="Inter"/>
              </a:rPr>
              <a:t>vocabulary-agnostic</a:t>
            </a:r>
            <a:r>
              <a:rPr lang="en-US" sz="1200" noProof="1">
                <a:solidFill>
                  <a:srgbClr val="1A1D20"/>
                </a:solidFill>
                <a:latin typeface="Inter"/>
                <a:ea typeface="Inter"/>
              </a:rPr>
              <a:t>: the same loop serves LLM hidden streams, Qwen-Drive camera frames, and Flux latents.</a:t>
            </a:r>
            <a:endParaRPr lang="en-US" sz="1200" noProof="1"/>
          </a:p>
        </p:txBody>
      </p:sp>
      <p:sp>
        <p:nvSpPr>
          <p:cNvPr id="21" name="right-note"/>
          <p:cNvSpPr txBox="1"/>
          <p:nvPr/>
        </p:nvSpPr>
        <p:spPr>
          <a:xfrm>
            <a:off x="8763000" y="3327400"/>
            <a:ext cx="2616200" cy="16510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The [UM] consumes host encodings through the encoder; ids are ingested into the bit plane, and ordered materialization restores ids to the host.</a:t>
            </a:r>
            <a:endParaRPr lang="en-US" sz="1050" noProof="1"/>
          </a:p>
        </p:txBody>
      </p:sp>
      <p:sp>
        <p:nvSpPr>
          <p:cNvPr id="22" name="strip-bar"/>
          <p:cNvSpPr/>
          <p:nvPr/>
        </p:nvSpPr>
        <p:spPr>
          <a:xfrm>
            <a:off x="812800" y="5435600"/>
            <a:ext cx="38100" cy="660400"/>
          </a:xfrm>
          <a:prstGeom prst="rect">
            <a:avLst/>
          </a:prstGeom>
          <a:solidFill>
            <a:srgbClr val="C2521E"/>
          </a:solidFill>
          <a:ln>
            <a:noFill/>
          </a:ln>
        </p:spPr>
      </p:sp>
      <p:sp>
        <p:nvSpPr>
          <p:cNvPr id="23" name="strip-text"/>
          <p:cNvSpPr txBox="1"/>
          <p:nvPr/>
        </p:nvSpPr>
        <p:spPr>
          <a:xfrm>
            <a:off x="1016000" y="5435600"/>
            <a:ext cx="10363200" cy="6604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The channel model is </a:t>
            </a:r>
            <a:r>
              <a:rPr lang="en-US" sz="1200" noProof="1">
                <a:solidFill>
                  <a:srgbClr val="1A1D20"/>
                </a:solidFill>
                <a:latin typeface="JetBrains Mono"/>
                <a:ea typeface="JetBrains Mono"/>
              </a:rPr>
              <a:t>conv(n, dim)</a:t>
            </a:r>
            <a:r>
              <a:rPr lang="en-US" sz="1200" noProof="1">
                <a:solidFill>
                  <a:srgbClr val="1A1D20"/>
                </a:solidFill>
                <a:latin typeface="Inter"/>
                <a:ea typeface="Inter"/>
              </a:rPr>
              <a:t>: n-grams are conv(n, dim=1), grids conv(n, dim=2), tensors conv(n, dim=N) — shared 1×1 G1, seed(n, dim) = (dim−1)·3 + (n−1).</a:t>
            </a:r>
            <a:endParaRPr lang="en-US" sz="1200" noProof="1"/>
          </a:p>
        </p:txBody>
      </p:sp>
      <p:sp>
        <p:nvSpPr>
          <p:cNvPr id="24"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5"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12</a:t>
            </a:r>
            <a:endParaRPr lang="en-US" sz="900" noProof="1"/>
          </a:p>
        </p:txBody>
      </p:sp>
    </p:spTree>
  </p:cSld>
  <p:clrMapOvr>
    <a:masterClrMapping/>
  </p:clrMapOvr>
</p:sld>
</file>

<file path=ppt/slides/slide1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12 · THE IMPLEMENTATION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ewm-state-machine — a Rust workspace in four bands</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b1-label"/>
          <p:cNvSpPr txBox="1"/>
          <p:nvPr/>
        </p:nvSpPr>
        <p:spPr>
          <a:xfrm>
            <a:off x="812800" y="1498600"/>
            <a:ext cx="1535430" cy="508000"/>
          </a:xfrm>
          <a:prstGeom prst="rect">
            <a:avLst/>
          </a:prstGeom>
          <a:noFill/>
          <a:ln>
            <a:noFill/>
          </a:ln>
        </p:spPr>
        <p:txBody>
          <a:bodyPr lIns="0" rIns="0" tIns="0" bIns="0" wrap="square" rtlCol="0"/>
          <a:lstStyle/>
          <a:p>
            <a:pPr>
              <a:lnSpc>
                <a:spcPct val="120000"/>
              </a:lnSpc>
            </a:pPr>
            <a:r>
              <a:rPr lang="en-US" sz="1100" noProof="1" b="1">
                <a:solidFill>
                  <a:srgbClr val="C2521E"/>
                </a:solidFill>
                <a:latin typeface="JetBrains Mono"/>
                <a:ea typeface="JetBrains Mono"/>
              </a:rPr>
              <a:t>01</a:t>
            </a:r>
            <a:endParaRPr lang="en-US" sz="1100" noProof="1"/>
          </a:p>
          <a:p>
            <a:pPr>
              <a:lnSpc>
                <a:spcPct val="120000"/>
              </a:lnSpc>
            </a:pPr>
            <a:r>
              <a:rPr lang="en-US" sz="1100" noProof="1" b="1">
                <a:solidFill>
                  <a:srgbClr val="C2521E"/>
                </a:solidFill>
                <a:latin typeface="JetBrains Mono"/>
                <a:ea typeface="JetBrains Mono"/>
              </a:rPr>
              <a:t>BIT PLANE</a:t>
            </a:r>
            <a:endParaRPr lang="en-US" sz="1100" noProof="1"/>
          </a:p>
        </p:txBody>
      </p:sp>
      <p:sp>
        <p:nvSpPr>
          <p:cNvPr id="6" name="b1-body"/>
          <p:cNvSpPr txBox="1"/>
          <p:nvPr/>
        </p:nvSpPr>
        <p:spPr>
          <a:xfrm>
            <a:off x="2514600" y="1498600"/>
            <a:ext cx="8864600" cy="965200"/>
          </a:xfrm>
          <a:prstGeom prst="rect">
            <a:avLst/>
          </a:prstGeom>
          <a:noFill/>
          <a:ln>
            <a:noFill/>
          </a:ln>
        </p:spPr>
        <p:txBody>
          <a:bodyPr lIns="0" rIns="0" tIns="0" bIns="0" wrap="square" rtlCol="0"/>
          <a:lstStyle/>
          <a:p>
            <a:pPr>
              <a:lnSpc>
                <a:spcPct val="155000"/>
              </a:lnSpc>
            </a:pPr>
            <a:r>
              <a:rPr lang="en-US" sz="1100" noProof="1" b="1">
                <a:solidFill>
                  <a:srgbClr val="1E5B4E"/>
                </a:solidFill>
                <a:latin typeface="JetBrains Mono"/>
                <a:ea typeface="JetBrains Mono"/>
              </a:rPr>
              <a:t>hllset-core</a:t>
            </a:r>
            <a:r>
              <a:rPr lang="en-US" sz="1100" noProof="1">
                <a:solidFill>
                  <a:srgbClr val="1A1D20"/>
                </a:solidFill>
                <a:latin typeface="Inter"/>
                <a:ea typeface="Inter"/>
              </a:rPr>
              <a:t> — the HLLSet bit plane, the state representation · </a:t>
            </a:r>
            <a:r>
              <a:rPr lang="en-US" sz="1100" noProof="1" b="1">
                <a:solidFill>
                  <a:srgbClr val="1E5B4E"/>
                </a:solidFill>
                <a:latin typeface="JetBrains Mono"/>
                <a:ea typeface="JetBrains Mono"/>
              </a:rPr>
              <a:t>hllset-lut</a:t>
            </a:r>
            <a:r>
              <a:rPr lang="en-US" sz="1100" noProof="1">
                <a:solidFill>
                  <a:srgbClr val="1A1D20"/>
                </a:solidFill>
                <a:latin typeface="Inter"/>
                <a:ea typeface="Inter"/>
              </a:rPr>
              <a:t> — the LUT lattice (token interpretation)</a:t>
            </a:r>
            <a:endParaRPr lang="en-US" sz="1100" noProof="1"/>
          </a:p>
          <a:p>
            <a:pPr>
              <a:lnSpc>
                <a:spcPct val="155000"/>
              </a:lnSpc>
            </a:pPr>
            <a:r>
              <a:rPr lang="en-US" sz="1100" noProof="1" b="1">
                <a:solidFill>
                  <a:srgbClr val="1E5B4E"/>
                </a:solidFill>
                <a:latin typeface="JetBrains Mono"/>
                <a:ea typeface="JetBrains Mono"/>
              </a:rPr>
              <a:t>hllset-morphisms</a:t>
            </a:r>
            <a:r>
              <a:rPr lang="en-US" sz="1100" noProof="1">
                <a:solidFill>
                  <a:srgbClr val="1A1D20"/>
                </a:solidFill>
                <a:latin typeface="Inter"/>
                <a:ea typeface="Inter"/>
              </a:rPr>
              <a:t> — ingest / materialize + default api (SHA1 + hllsetLUT) · </a:t>
            </a:r>
            <a:r>
              <a:rPr lang="en-US" sz="1100" noProof="1" b="1">
                <a:solidFill>
                  <a:srgbClr val="1E5B4E"/>
                </a:solidFill>
                <a:latin typeface="JetBrains Mono"/>
                <a:ea typeface="JetBrains Mono"/>
              </a:rPr>
              <a:t>hllset-storage</a:t>
            </a:r>
            <a:r>
              <a:rPr lang="en-US" sz="1100" noProof="1">
                <a:solidFill>
                  <a:srgbClr val="1A1D20"/>
                </a:solidFill>
                <a:latin typeface="Inter"/>
                <a:ea typeface="Inter"/>
              </a:rPr>
              <a:t> — memory + sled content-addressed storage</a:t>
            </a:r>
            <a:endParaRPr lang="en-US" sz="1100" noProof="1"/>
          </a:p>
          <a:p>
            <a:pPr>
              <a:lnSpc>
                <a:spcPct val="155000"/>
              </a:lnSpc>
            </a:pPr>
            <a:r>
              <a:rPr lang="en-US" sz="1100" noProof="1" b="1">
                <a:solidFill>
                  <a:srgbClr val="1E5B4E"/>
                </a:solidFill>
                <a:latin typeface="JetBrains Mono"/>
                <a:ea typeface="JetBrains Mono"/>
              </a:rPr>
              <a:t>hllset-contracts</a:t>
            </a:r>
            <a:r>
              <a:rPr lang="en-US" sz="1100" noProof="1">
                <a:solidFill>
                  <a:srgbClr val="1A1D20"/>
                </a:solidFill>
                <a:latin typeface="Inter"/>
                <a:ea typeface="Inter"/>
              </a:rPr>
              <a:t> — soldered invariants (leaf) · </a:t>
            </a:r>
            <a:r>
              <a:rPr lang="en-US" sz="1100" noProof="1" b="1">
                <a:solidFill>
                  <a:srgbClr val="1E5B4E"/>
                </a:solidFill>
                <a:latin typeface="JetBrains Mono"/>
                <a:ea typeface="JetBrains Mono"/>
              </a:rPr>
              <a:t>hllset-cid</a:t>
            </a:r>
            <a:r>
              <a:rPr lang="en-US" sz="1100" noProof="1">
                <a:solidFill>
                  <a:srgbClr val="1A1D20"/>
                </a:solidFill>
                <a:latin typeface="Inter"/>
                <a:ea typeface="Inter"/>
              </a:rPr>
              <a:t> — embedded SHA-1 CIDs</a:t>
            </a:r>
            <a:endParaRPr lang="en-US" sz="1100" noProof="1"/>
          </a:p>
        </p:txBody>
      </p:sp>
      <p:sp>
        <p:nvSpPr>
          <p:cNvPr id="7" name="rule-b1"/>
          <p:cNvSpPr/>
          <p:nvPr/>
        </p:nvSpPr>
        <p:spPr>
          <a:xfrm>
            <a:off x="812800" y="2565400"/>
            <a:ext cx="10566400" cy="12700"/>
          </a:xfrm>
          <a:prstGeom prst="rect">
            <a:avLst/>
          </a:prstGeom>
          <a:solidFill>
            <a:srgbClr val="DCD8CF"/>
          </a:solidFill>
          <a:ln>
            <a:noFill/>
          </a:ln>
        </p:spPr>
      </p:sp>
      <p:sp>
        <p:nvSpPr>
          <p:cNvPr id="8" name="b2-label"/>
          <p:cNvSpPr txBox="1"/>
          <p:nvPr/>
        </p:nvSpPr>
        <p:spPr>
          <a:xfrm>
            <a:off x="812800" y="2717800"/>
            <a:ext cx="1535430" cy="508000"/>
          </a:xfrm>
          <a:prstGeom prst="rect">
            <a:avLst/>
          </a:prstGeom>
          <a:noFill/>
          <a:ln>
            <a:noFill/>
          </a:ln>
        </p:spPr>
        <p:txBody>
          <a:bodyPr lIns="0" rIns="0" tIns="0" bIns="0" wrap="square" rtlCol="0"/>
          <a:lstStyle/>
          <a:p>
            <a:pPr>
              <a:lnSpc>
                <a:spcPct val="120000"/>
              </a:lnSpc>
            </a:pPr>
            <a:r>
              <a:rPr lang="en-US" sz="1100" noProof="1" b="1">
                <a:solidFill>
                  <a:srgbClr val="C2521E"/>
                </a:solidFill>
                <a:latin typeface="JetBrains Mono"/>
                <a:ea typeface="JetBrains Mono"/>
              </a:rPr>
              <a:t>02</a:t>
            </a:r>
            <a:endParaRPr lang="en-US" sz="1100" noProof="1"/>
          </a:p>
          <a:p>
            <a:pPr>
              <a:lnSpc>
                <a:spcPct val="120000"/>
              </a:lnSpc>
            </a:pPr>
            <a:r>
              <a:rPr lang="en-US" sz="1100" noProof="1" b="1">
                <a:solidFill>
                  <a:srgbClr val="C2521E"/>
                </a:solidFill>
                <a:latin typeface="JetBrains Mono"/>
                <a:ea typeface="JetBrains Mono"/>
              </a:rPr>
              <a:t>STATE STACK</a:t>
            </a:r>
            <a:endParaRPr lang="en-US" sz="1100" noProof="1"/>
          </a:p>
        </p:txBody>
      </p:sp>
      <p:sp>
        <p:nvSpPr>
          <p:cNvPr id="9" name="b2-body"/>
          <p:cNvSpPr txBox="1"/>
          <p:nvPr/>
        </p:nvSpPr>
        <p:spPr>
          <a:xfrm>
            <a:off x="2514600" y="2852420"/>
            <a:ext cx="8790940" cy="589280"/>
          </a:xfrm>
          <a:prstGeom prst="rect">
            <a:avLst/>
          </a:prstGeom>
          <a:noFill/>
          <a:ln>
            <a:noFill/>
          </a:ln>
        </p:spPr>
        <p:txBody>
          <a:bodyPr lIns="0" rIns="0" tIns="0" bIns="0" wrap="square" rtlCol="0"/>
          <a:lstStyle/>
          <a:p>
            <a:pPr>
              <a:lnSpc>
                <a:spcPct val="155000"/>
              </a:lnSpc>
            </a:pPr>
            <a:r>
              <a:rPr lang="en-US" sz="1100" noProof="1" b="1">
                <a:solidFill>
                  <a:srgbClr val="1E5B4E"/>
                </a:solidFill>
                <a:latin typeface="JetBrains Mono"/>
                <a:ea typeface="JetBrains Mono"/>
              </a:rPr>
              <a:t>ewm-git</a:t>
            </a:r>
            <a:r>
              <a:rPr lang="en-US" sz="1100" noProof="1">
                <a:solidFill>
                  <a:srgbClr val="1A1D20"/>
                </a:solidFill>
                <a:latin typeface="Inter"/>
                <a:ea typeface="Inter"/>
              </a:rPr>
              <a:t> — the state stack: commit DAG, tip, recovery · </a:t>
            </a:r>
            <a:r>
              <a:rPr lang="en-US" sz="1100" noProof="1" b="1">
                <a:solidFill>
                  <a:srgbClr val="1E5B4E"/>
                </a:solidFill>
                <a:latin typeface="JetBrains Mono"/>
                <a:ea typeface="JetBrains Mono"/>
              </a:rPr>
              <a:t>ewm-app</a:t>
            </a:r>
            <a:r>
              <a:rPr lang="en-US" sz="1100" noProof="1">
                <a:solidFill>
                  <a:srgbClr val="1A1D20"/>
                </a:solidFill>
                <a:latin typeface="Inter"/>
                <a:ea typeface="Inter"/>
              </a:rPr>
              <a:t> — the [UM] harness: stateless driver + StateCache</a:t>
            </a:r>
            <a:endParaRPr lang="en-US" sz="1100" noProof="1"/>
          </a:p>
          <a:p>
            <a:pPr>
              <a:lnSpc>
                <a:spcPct val="155000"/>
              </a:lnSpc>
            </a:pPr>
            <a:r>
              <a:rPr lang="en-US" sz="1100" noProof="1" b="1">
                <a:solidFill>
                  <a:srgbClr val="1E5B4E"/>
                </a:solidFill>
                <a:latin typeface="JetBrains Mono"/>
                <a:ea typeface="JetBrains Mono"/>
              </a:rPr>
              <a:t>context-tree</a:t>
            </a:r>
            <a:r>
              <a:rPr lang="en-US" sz="1100" noProof="1">
                <a:solidFill>
                  <a:srgbClr val="1A1D20"/>
                </a:solidFill>
                <a:latin typeface="Inter"/>
                <a:ea typeface="Inter"/>
              </a:rPr>
              <a:t> — Merkle tree over the working set (S(t) presentation) · </a:t>
            </a:r>
            <a:r>
              <a:rPr lang="en-US" sz="1100" noProof="1" b="1">
                <a:solidFill>
                  <a:srgbClr val="1E5B4E"/>
                </a:solidFill>
                <a:latin typeface="JetBrains Mono"/>
                <a:ea typeface="JetBrains Mono"/>
              </a:rPr>
              <a:t>ewm-cache</a:t>
            </a:r>
            <a:r>
              <a:rPr lang="en-US" sz="1100" noProof="1">
                <a:solidFill>
                  <a:srgbClr val="1A1D20"/>
                </a:solidFill>
                <a:latin typeface="Inter"/>
                <a:ea typeface="Inter"/>
              </a:rPr>
              <a:t> — Arrow-backed extended cache</a:t>
            </a:r>
            <a:endParaRPr lang="en-US" sz="1100" noProof="1"/>
          </a:p>
        </p:txBody>
      </p:sp>
      <p:sp>
        <p:nvSpPr>
          <p:cNvPr id="10" name="rule-b2"/>
          <p:cNvSpPr/>
          <p:nvPr/>
        </p:nvSpPr>
        <p:spPr>
          <a:xfrm>
            <a:off x="812800" y="3581400"/>
            <a:ext cx="10566400" cy="12700"/>
          </a:xfrm>
          <a:prstGeom prst="rect">
            <a:avLst/>
          </a:prstGeom>
          <a:solidFill>
            <a:srgbClr val="DCD8CF"/>
          </a:solidFill>
          <a:ln>
            <a:noFill/>
          </a:ln>
        </p:spPr>
      </p:sp>
      <p:sp>
        <p:nvSpPr>
          <p:cNvPr id="11" name="b3-label"/>
          <p:cNvSpPr txBox="1"/>
          <p:nvPr/>
        </p:nvSpPr>
        <p:spPr>
          <a:xfrm>
            <a:off x="812800" y="3733800"/>
            <a:ext cx="1535430" cy="508000"/>
          </a:xfrm>
          <a:prstGeom prst="rect">
            <a:avLst/>
          </a:prstGeom>
          <a:noFill/>
          <a:ln>
            <a:noFill/>
          </a:ln>
        </p:spPr>
        <p:txBody>
          <a:bodyPr lIns="0" rIns="0" tIns="0" bIns="0" wrap="square" rtlCol="0"/>
          <a:lstStyle/>
          <a:p>
            <a:pPr>
              <a:lnSpc>
                <a:spcPct val="120000"/>
              </a:lnSpc>
            </a:pPr>
            <a:r>
              <a:rPr lang="en-US" sz="1100" noProof="1" b="1">
                <a:solidFill>
                  <a:srgbClr val="C2521E"/>
                </a:solidFill>
                <a:latin typeface="JetBrains Mono"/>
                <a:ea typeface="JetBrains Mono"/>
              </a:rPr>
              <a:t>03</a:t>
            </a:r>
            <a:endParaRPr lang="en-US" sz="1100" noProof="1"/>
          </a:p>
          <a:p>
            <a:pPr>
              <a:lnSpc>
                <a:spcPct val="120000"/>
              </a:lnSpc>
            </a:pPr>
            <a:r>
              <a:rPr lang="en-US" sz="1100" noProof="1" b="1">
                <a:solidFill>
                  <a:srgbClr val="C2521E"/>
                </a:solidFill>
                <a:latin typeface="JetBrains Mono"/>
                <a:ea typeface="JetBrains Mono"/>
              </a:rPr>
              <a:t>APPLICATIONS</a:t>
            </a:r>
            <a:endParaRPr lang="en-US" sz="1100" noProof="1"/>
          </a:p>
        </p:txBody>
      </p:sp>
      <p:sp>
        <p:nvSpPr>
          <p:cNvPr id="12" name="b3-body"/>
          <p:cNvSpPr txBox="1"/>
          <p:nvPr/>
        </p:nvSpPr>
        <p:spPr>
          <a:xfrm>
            <a:off x="2514600" y="3733800"/>
            <a:ext cx="8790940" cy="736600"/>
          </a:xfrm>
          <a:prstGeom prst="rect">
            <a:avLst/>
          </a:prstGeom>
          <a:noFill/>
          <a:ln>
            <a:noFill/>
          </a:ln>
        </p:spPr>
        <p:txBody>
          <a:bodyPr lIns="0" rIns="0" tIns="0" bIns="0" wrap="square" rtlCol="0"/>
          <a:lstStyle/>
          <a:p>
            <a:pPr>
              <a:lnSpc>
                <a:spcPct val="155000"/>
              </a:lnSpc>
            </a:pPr>
            <a:r>
              <a:rPr lang="en-US" sz="1100" noProof="1" b="1">
                <a:solidFill>
                  <a:srgbClr val="1E5B4E"/>
                </a:solidFill>
                <a:latin typeface="JetBrains Mono"/>
                <a:ea typeface="JetBrains Mono"/>
              </a:rPr>
              <a:t>ewm-scene</a:t>
            </a:r>
            <a:r>
              <a:rPr lang="en-US" sz="1100" noProof="1">
                <a:solidFill>
                  <a:srgbClr val="1A1D20"/>
                </a:solidFill>
                <a:latin typeface="Inter"/>
                <a:ea typeface="Inter"/>
              </a:rPr>
              <a:t> — LLM ↔ HLLSet side-car helper (direct morphisms) · </a:t>
            </a:r>
            <a:r>
              <a:rPr lang="en-US" sz="1100" noProof="1" b="1">
                <a:solidFill>
                  <a:srgbClr val="1E5B4E"/>
                </a:solidFill>
                <a:latin typeface="JetBrains Mono"/>
                <a:ea typeface="JetBrains Mono"/>
              </a:rPr>
              <a:t>ewm-flux-host</a:t>
            </a:r>
            <a:r>
              <a:rPr lang="en-US" sz="1100" noProof="1">
                <a:solidFill>
                  <a:srgbClr val="1A1D20"/>
                </a:solidFill>
                <a:latin typeface="Inter"/>
                <a:ea typeface="Inter"/>
              </a:rPr>
              <a:t> — Flux / MMDiT side-car host adapter</a:t>
            </a:r>
            <a:endParaRPr lang="en-US" sz="1100" noProof="1"/>
          </a:p>
          <a:p>
            <a:pPr>
              <a:lnSpc>
                <a:spcPct val="155000"/>
              </a:lnSpc>
            </a:pPr>
            <a:r>
              <a:rPr lang="en-US" sz="1100" noProof="1" b="1">
                <a:solidFill>
                  <a:srgbClr val="1E5B4E"/>
                </a:solidFill>
                <a:latin typeface="JetBrains Mono"/>
                <a:ea typeface="JetBrains Mono"/>
              </a:rPr>
              <a:t>ewm-ops</a:t>
            </a:r>
            <a:r>
              <a:rPr lang="en-US" sz="1100" noProof="1">
                <a:solidFill>
                  <a:srgbClr val="1A1D20"/>
                </a:solidFill>
                <a:latin typeface="Inter"/>
                <a:ea typeface="Inter"/>
              </a:rPr>
              <a:t> — the operational graph: values + programs + stack dispatcher · </a:t>
            </a:r>
            <a:r>
              <a:rPr lang="en-US" sz="1100" noProof="1" b="1">
                <a:solidFill>
                  <a:srgbClr val="1E5B4E"/>
                </a:solidFill>
                <a:latin typeface="JetBrains Mono"/>
                <a:ea typeface="JetBrains Mono"/>
              </a:rPr>
              <a:t>ewm-sm-explore</a:t>
            </a:r>
            <a:r>
              <a:rPr lang="en-US" sz="1100" noProof="1">
                <a:solidFill>
                  <a:srgbClr val="1A1D20"/>
                </a:solidFill>
                <a:latin typeface="Inter"/>
                <a:ea typeface="Inter"/>
              </a:rPr>
              <a:t> — read-only explorer of the three-layer structure</a:t>
            </a:r>
            <a:endParaRPr lang="en-US" sz="1100" noProof="1"/>
          </a:p>
        </p:txBody>
      </p:sp>
      <p:sp>
        <p:nvSpPr>
          <p:cNvPr id="13" name="rule-b3"/>
          <p:cNvSpPr/>
          <p:nvPr/>
        </p:nvSpPr>
        <p:spPr>
          <a:xfrm>
            <a:off x="812800" y="4597400"/>
            <a:ext cx="10566400" cy="12700"/>
          </a:xfrm>
          <a:prstGeom prst="rect">
            <a:avLst/>
          </a:prstGeom>
          <a:solidFill>
            <a:srgbClr val="DCD8CF"/>
          </a:solidFill>
          <a:ln>
            <a:noFill/>
          </a:ln>
        </p:spPr>
      </p:sp>
      <p:sp>
        <p:nvSpPr>
          <p:cNvPr id="14" name="b4-label"/>
          <p:cNvSpPr txBox="1"/>
          <p:nvPr/>
        </p:nvSpPr>
        <p:spPr>
          <a:xfrm>
            <a:off x="812800" y="4749800"/>
            <a:ext cx="1535430" cy="508000"/>
          </a:xfrm>
          <a:prstGeom prst="rect">
            <a:avLst/>
          </a:prstGeom>
          <a:noFill/>
          <a:ln>
            <a:noFill/>
          </a:ln>
        </p:spPr>
        <p:txBody>
          <a:bodyPr lIns="0" rIns="0" tIns="0" bIns="0" wrap="square" rtlCol="0"/>
          <a:lstStyle/>
          <a:p>
            <a:pPr>
              <a:lnSpc>
                <a:spcPct val="120000"/>
              </a:lnSpc>
            </a:pPr>
            <a:r>
              <a:rPr lang="en-US" sz="1100" noProof="1" b="1">
                <a:solidFill>
                  <a:srgbClr val="C2521E"/>
                </a:solidFill>
                <a:latin typeface="JetBrains Mono"/>
                <a:ea typeface="JetBrains Mono"/>
              </a:rPr>
              <a:t>04</a:t>
            </a:r>
            <a:endParaRPr lang="en-US" sz="1100" noProof="1"/>
          </a:p>
          <a:p>
            <a:pPr>
              <a:lnSpc>
                <a:spcPct val="120000"/>
              </a:lnSpc>
            </a:pPr>
            <a:r>
              <a:rPr lang="en-US" sz="1100" noProof="1" b="1">
                <a:solidFill>
                  <a:srgbClr val="C2521E"/>
                </a:solidFill>
                <a:latin typeface="JetBrains Mono"/>
                <a:ea typeface="JetBrains Mono"/>
              </a:rPr>
              <a:t>TRAINER · PY</a:t>
            </a:r>
            <a:endParaRPr lang="en-US" sz="1100" noProof="1"/>
          </a:p>
        </p:txBody>
      </p:sp>
      <p:sp>
        <p:nvSpPr>
          <p:cNvPr id="15" name="b4-body"/>
          <p:cNvSpPr txBox="1"/>
          <p:nvPr/>
        </p:nvSpPr>
        <p:spPr>
          <a:xfrm>
            <a:off x="2514600" y="4635500"/>
            <a:ext cx="8790940" cy="736600"/>
          </a:xfrm>
          <a:prstGeom prst="rect">
            <a:avLst/>
          </a:prstGeom>
          <a:noFill/>
          <a:ln>
            <a:noFill/>
          </a:ln>
        </p:spPr>
        <p:txBody>
          <a:bodyPr lIns="0" rIns="0" tIns="0" bIns="0" wrap="square" rtlCol="0"/>
          <a:lstStyle/>
          <a:p>
            <a:pPr>
              <a:lnSpc>
                <a:spcPct val="155000"/>
              </a:lnSpc>
            </a:pPr>
            <a:r>
              <a:rPr lang="en-US" sz="1100" noProof="1">
                <a:solidFill>
                  <a:srgbClr val="1A1D20"/>
                </a:solidFill>
                <a:latin typeface="Inter"/>
                <a:ea typeface="Inter"/>
              </a:rPr>
              <a:t>The trainer / controller reference implementation: </a:t>
            </a:r>
            <a:r>
              <a:rPr lang="en-US" sz="1100" noProof="1" b="1">
                <a:solidFill>
                  <a:srgbClr val="1E5B4E"/>
                </a:solidFill>
                <a:latin typeface="JetBrains Mono"/>
                <a:ea typeface="JetBrains Mono"/>
              </a:rPr>
              <a:t>protocol</a:t>
            </a:r>
            <a:r>
              <a:rPr lang="en-US" sz="1100" noProof="1">
                <a:solidFill>
                  <a:srgbClr val="1A1D20"/>
                </a:solidFill>
                <a:latin typeface="Inter"/>
                <a:ea typeface="Inter"/>
              </a:rPr>
              <a:t> — probe config, trajectory, shapes · </a:t>
            </a:r>
            <a:r>
              <a:rPr lang="en-US" sz="1100" noProof="1" b="1">
                <a:solidFill>
                  <a:srgbClr val="1E5B4E"/>
                </a:solidFill>
                <a:latin typeface="JetBrains Mono"/>
                <a:ea typeface="JetBrains Mono"/>
              </a:rPr>
              <a:t>predictors</a:t>
            </a:r>
            <a:r>
              <a:rPr lang="en-US" sz="1100" noProof="1">
                <a:solidFill>
                  <a:srgbClr val="1A1D20"/>
                </a:solidFill>
                <a:latin typeface="Inter"/>
                <a:ea typeface="Inter"/>
              </a:rPr>
              <a:t> — persistence / linear / DFT-periodic / ridge portfolio</a:t>
            </a:r>
            <a:endParaRPr lang="en-US" sz="1100" noProof="1"/>
          </a:p>
          <a:p>
            <a:pPr>
              <a:lnSpc>
                <a:spcPct val="155000"/>
              </a:lnSpc>
            </a:pPr>
            <a:r>
              <a:rPr lang="en-US" sz="1100" noProof="1" b="1">
                <a:solidFill>
                  <a:srgbClr val="1E5B4E"/>
                </a:solidFill>
                <a:latin typeface="JetBrains Mono"/>
                <a:ea typeface="JetBrains Mono"/>
              </a:rPr>
              <a:t>selector</a:t>
            </a:r>
            <a:r>
              <a:rPr lang="en-US" sz="1100" noProof="1">
                <a:solidFill>
                  <a:srgbClr val="1A1D20"/>
                </a:solidFill>
                <a:latin typeface="Inter"/>
                <a:ea typeface="Inter"/>
              </a:rPr>
              <a:t> — EWMA surprise + ε-greedy meta-controller · </a:t>
            </a:r>
            <a:r>
              <a:rPr lang="en-US" sz="1100" noProof="1" b="1">
                <a:solidFill>
                  <a:srgbClr val="1E5B4E"/>
                </a:solidFill>
                <a:latin typeface="JetBrains Mono"/>
                <a:ea typeface="JetBrains Mono"/>
              </a:rPr>
              <a:t>adapters</a:t>
            </a:r>
            <a:r>
              <a:rPr lang="en-US" sz="1100" noProof="1">
                <a:solidFill>
                  <a:srgbClr val="1A1D20"/>
                </a:solidFill>
                <a:latin typeface="Inter"/>
                <a:ea typeface="Inter"/>
              </a:rPr>
              <a:t> — Synthetic / Llm · </a:t>
            </a:r>
            <a:r>
              <a:rPr lang="en-US" sz="1100" noProof="1" b="1">
                <a:solidFill>
                  <a:srgbClr val="1E5B4E"/>
                </a:solidFill>
                <a:latin typeface="JetBrains Mono"/>
                <a:ea typeface="JetBrains Mono"/>
              </a:rPr>
              <a:t>loop</a:t>
            </a:r>
            <a:r>
              <a:rPr lang="en-US" sz="1100" noProof="1">
                <a:solidFill>
                  <a:srgbClr val="1A1D20"/>
                </a:solidFill>
                <a:latin typeface="Inter"/>
                <a:ea typeface="Inter"/>
              </a:rPr>
              <a:t> — open + closed (memory + curiosity)</a:t>
            </a:r>
            <a:endParaRPr lang="en-US" sz="1100" noProof="1"/>
          </a:p>
        </p:txBody>
      </p:sp>
      <p:sp>
        <p:nvSpPr>
          <p:cNvPr id="16" name="rule-b4"/>
          <p:cNvSpPr/>
          <p:nvPr/>
        </p:nvSpPr>
        <p:spPr>
          <a:xfrm>
            <a:off x="812800" y="5613400"/>
            <a:ext cx="10566400" cy="12700"/>
          </a:xfrm>
          <a:prstGeom prst="rect">
            <a:avLst/>
          </a:prstGeom>
          <a:solidFill>
            <a:srgbClr val="DCD8CF"/>
          </a:solidFill>
          <a:ln>
            <a:noFill/>
          </a:ln>
        </p:spPr>
      </p:sp>
      <p:sp>
        <p:nvSpPr>
          <p:cNvPr id="17" name="note"/>
          <p:cNvSpPr txBox="1"/>
          <p:nvPr/>
        </p:nvSpPr>
        <p:spPr>
          <a:xfrm>
            <a:off x="812800" y="5867400"/>
            <a:ext cx="10566400" cy="457200"/>
          </a:xfrm>
          <a:prstGeom prst="rect">
            <a:avLst/>
          </a:prstGeom>
          <a:noFill/>
          <a:ln>
            <a:noFill/>
          </a:ln>
        </p:spPr>
        <p:txBody>
          <a:bodyPr lIns="0" rIns="0" tIns="0" bIns="0" wrap="square" rtlCol="0"/>
          <a:lstStyle/>
          <a:p>
            <a:pPr>
              <a:lnSpc>
                <a:spcPct val="145000"/>
              </a:lnSpc>
            </a:pPr>
            <a:r>
              <a:rPr lang="en-US" sz="1100" noProof="1">
                <a:solidFill>
                  <a:srgbClr val="6E747B"/>
                </a:solidFill>
                <a:latin typeface="Inter"/>
                <a:ea typeface="Inter"/>
              </a:rPr>
              <a:t>Design notes live in </a:t>
            </a:r>
            <a:r>
              <a:rPr lang="en-US" sz="1100" noProof="1">
                <a:solidFill>
                  <a:srgbClr val="6E747B"/>
                </a:solidFill>
                <a:latin typeface="JetBrains Mono"/>
                <a:ea typeface="JetBrains Mono"/>
              </a:rPr>
              <a:t>docs/</a:t>
            </a:r>
            <a:r>
              <a:rPr lang="en-US" sz="1100" noProof="1">
                <a:solidFill>
                  <a:srgbClr val="6E747B"/>
                </a:solidFill>
                <a:latin typeface="Inter"/>
                <a:ea typeface="Inter"/>
              </a:rPr>
              <a:t>: ARROW_CACHE · EXPLORER · SEPARATION · BOOLRING · BASIS_FRAMES · TRAINER · PODMAN · ASSIGNMENT_QWENDRIVE</a:t>
            </a:r>
            <a:endParaRPr lang="en-US" sz="1100" noProof="1"/>
          </a:p>
        </p:txBody>
      </p:sp>
      <p:sp>
        <p:nvSpPr>
          <p:cNvPr id="18"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19"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13</a:t>
            </a:r>
            <a:endParaRPr lang="en-US" sz="900" noProof="1"/>
          </a:p>
        </p:txBody>
      </p:sp>
    </p:spTree>
  </p:cSld>
  <p:clrMapOvr>
    <a:masterClrMapping/>
  </p:clrMapOvr>
</p:sld>
</file>

<file path=ppt/slides/slide1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13 · THE IMPLEMENTATION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ewm-ops — an operational graph that boots like an OS</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left-body"/>
          <p:cNvSpPr txBox="1"/>
          <p:nvPr/>
        </p:nvSpPr>
        <p:spPr>
          <a:xfrm>
            <a:off x="812800" y="1549400"/>
            <a:ext cx="5588000" cy="3048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A </a:t>
            </a:r>
            <a:r>
              <a:rPr lang="en-US" sz="1250" noProof="1" b="1">
                <a:solidFill>
                  <a:srgbClr val="1A1D20"/>
                </a:solidFill>
                <a:latin typeface="Inter"/>
                <a:ea typeface="Inter"/>
              </a:rPr>
              <a:t>content-addressed operational graph</a:t>
            </a:r>
            <a:r>
              <a:rPr lang="en-US" sz="1250" noProof="1">
                <a:solidFill>
                  <a:srgbClr val="1A1D20"/>
                </a:solidFill>
                <a:latin typeface="Inter"/>
                <a:ea typeface="Inter"/>
              </a:rPr>
              <a:t> whose two sides are tied by directed edges:</a:t>
            </a:r>
            <a:endParaRPr lang="en-US" sz="1250" noProof="1"/>
          </a:p>
          <a:p>
            <a:pPr>
              <a:lnSpc>
                <a:spcPct val="150000"/>
              </a:lnSpc>
              <a:spcBef>
                <a:spcPts val="1000"/>
              </a:spcBef>
            </a:pPr>
            <a:r>
              <a:rPr lang="en-US" sz="1250" noProof="1" b="1">
                <a:solidFill>
                  <a:srgbClr val="1E5B4E"/>
                </a:solidFill>
                <a:latin typeface="JetBrains Mono"/>
                <a:ea typeface="JetBrains Mono"/>
              </a:rPr>
              <a:t>h:&lt;sha1&gt;</a:t>
            </a:r>
            <a:r>
              <a:rPr lang="en-US" sz="1250" noProof="1">
                <a:solidFill>
                  <a:srgbClr val="1A1D20"/>
                </a:solidFill>
                <a:latin typeface="Inter"/>
                <a:ea typeface="Inter"/>
              </a:rPr>
              <a:t> — the value lattice: HLLSets</a:t>
            </a:r>
            <a:endParaRPr lang="en-US" sz="1250" noProof="1"/>
          </a:p>
          <a:p>
            <a:pPr>
              <a:lnSpc>
                <a:spcPct val="150000"/>
              </a:lnSpc>
              <a:spcBef>
                <a:spcPts val="600"/>
              </a:spcBef>
            </a:pPr>
            <a:r>
              <a:rPr lang="en-US" sz="1250" noProof="1" b="1">
                <a:solidFill>
                  <a:srgbClr val="1E5B4E"/>
                </a:solidFill>
                <a:latin typeface="JetBrains Mono"/>
                <a:ea typeface="JetBrains Mono"/>
              </a:rPr>
              <a:t>p:&lt;sha1&gt;</a:t>
            </a:r>
            <a:r>
              <a:rPr lang="en-US" sz="1250" noProof="1">
                <a:solidFill>
                  <a:srgbClr val="1A1D20"/>
                </a:solidFill>
                <a:latin typeface="Inter"/>
                <a:ea typeface="Inter"/>
              </a:rPr>
              <a:t> — the program lattice: expressions — any DSL expression is a [UM], persistence optional</a:t>
            </a:r>
            <a:endParaRPr lang="en-US" sz="1250" noProof="1"/>
          </a:p>
          <a:p>
            <a:pPr>
              <a:lnSpc>
                <a:spcPct val="150000"/>
              </a:lnSpc>
              <a:spcBef>
                <a:spcPts val="600"/>
              </a:spcBef>
            </a:pPr>
            <a:r>
              <a:rPr lang="en-US" sz="1250" noProof="1" b="1">
                <a:solidFill>
                  <a:srgbClr val="1E5B4E"/>
                </a:solidFill>
                <a:latin typeface="JetBrains Mono"/>
                <a:ea typeface="JetBrains Mono"/>
              </a:rPr>
              <a:t>v:&lt;sha1&gt;</a:t>
            </a:r>
            <a:r>
              <a:rPr lang="en-US" sz="1250" noProof="1">
                <a:solidFill>
                  <a:srgbClr val="1A1D20"/>
                </a:solidFill>
                <a:latin typeface="Inter"/>
                <a:ea typeface="Inter"/>
              </a:rPr>
              <a:t> — the content-addressed vocabulary, compiled from the boot file</a:t>
            </a:r>
            <a:endParaRPr lang="en-US" sz="1250" noProof="1"/>
          </a:p>
          <a:p>
            <a:pPr>
              <a:lnSpc>
                <a:spcPct val="150000"/>
              </a:lnSpc>
              <a:spcBef>
                <a:spcPts val="1200"/>
              </a:spcBef>
            </a:pPr>
            <a:r>
              <a:rPr lang="en-US" sz="1250" noProof="1">
                <a:solidFill>
                  <a:srgbClr val="1A1D20"/>
                </a:solidFill>
                <a:latin typeface="Inter"/>
                <a:ea typeface="Inter"/>
              </a:rPr>
              <a:t>Traversal is a </a:t>
            </a:r>
            <a:r>
              <a:rPr lang="en-US" sz="1250" noProof="1" b="1">
                <a:solidFill>
                  <a:srgbClr val="1A1D20"/>
                </a:solidFill>
                <a:latin typeface="Inter"/>
                <a:ea typeface="Inter"/>
              </a:rPr>
              <a:t>stack-pop dispatcher</a:t>
            </a:r>
            <a:r>
              <a:rPr lang="en-US" sz="1250" noProof="1">
                <a:solidFill>
                  <a:srgbClr val="1A1D20"/>
                </a:solidFill>
                <a:latin typeface="Inter"/>
                <a:ea typeface="Inter"/>
              </a:rPr>
              <a:t>: fan-out by reference, deterministic fire sequence, feedback cycles under a fire budget.</a:t>
            </a:r>
            <a:endParaRPr lang="en-US" sz="1250" noProof="1"/>
          </a:p>
        </p:txBody>
      </p:sp>
      <p:sp>
        <p:nvSpPr>
          <p:cNvPr id="6" name="left-note"/>
          <p:cNvSpPr txBox="1"/>
          <p:nvPr/>
        </p:nvSpPr>
        <p:spPr>
          <a:xfrm>
            <a:off x="812800" y="4826000"/>
            <a:ext cx="5588000" cy="1143000"/>
          </a:xfrm>
          <a:prstGeom prst="rect">
            <a:avLst/>
          </a:prstGeom>
          <a:noFill/>
          <a:ln>
            <a:noFill/>
          </a:ln>
        </p:spPr>
        <p:txBody>
          <a:bodyPr lIns="0" rIns="0" tIns="0" bIns="0" wrap="square" rtlCol="0"/>
          <a:lstStyle/>
          <a:p>
            <a:pPr>
              <a:lnSpc>
                <a:spcPct val="150000"/>
              </a:lnSpc>
            </a:pPr>
            <a:r>
              <a:rPr lang="en-US" sz="1250" noProof="1">
                <a:solidFill>
                  <a:srgbClr val="1A1D20"/>
                </a:solidFill>
                <a:latin typeface="Inter"/>
                <a:ea typeface="Inter"/>
              </a:rPr>
              <a:t>The CLI boots it like an OS: compile the boot file, pick up the persisted state from the top of the stack, run the dispatcher, and commit the fire log into </a:t>
            </a:r>
            <a:r>
              <a:rPr lang="en-US" sz="1250" noProof="1">
                <a:solidFill>
                  <a:srgbClr val="1A1D20"/>
                </a:solidFill>
                <a:latin typeface="JetBrains Mono"/>
                <a:ea typeface="JetBrains Mono"/>
              </a:rPr>
              <a:t>ewm-git</a:t>
            </a:r>
            <a:r>
              <a:rPr lang="en-US" sz="1250" noProof="1">
                <a:solidFill>
                  <a:srgbClr val="1A1D20"/>
                </a:solidFill>
                <a:latin typeface="Inter"/>
                <a:ea typeface="Inter"/>
              </a:rPr>
              <a:t>.</a:t>
            </a:r>
            <a:endParaRPr lang="en-US" sz="1250" noProof="1"/>
          </a:p>
        </p:txBody>
      </p:sp>
      <p:sp>
        <p:nvSpPr>
          <p:cNvPr id="7" name="code-panel"/>
          <p:cNvSpPr/>
          <p:nvPr/>
        </p:nvSpPr>
        <p:spPr>
          <a:xfrm>
            <a:off x="6858000" y="1549400"/>
            <a:ext cx="4521200" cy="3759200"/>
          </a:xfrm>
          <a:prstGeom prst="rect">
            <a:avLst/>
          </a:prstGeom>
          <a:solidFill>
            <a:srgbClr val="1E2126"/>
          </a:solidFill>
          <a:ln>
            <a:noFill/>
          </a:ln>
        </p:spPr>
      </p:sp>
      <p:sp>
        <p:nvSpPr>
          <p:cNvPr id="8" name="code-text"/>
          <p:cNvSpPr txBox="1"/>
          <p:nvPr/>
        </p:nvSpPr>
        <p:spPr>
          <a:xfrm>
            <a:off x="7112000" y="1752600"/>
            <a:ext cx="4013200" cy="3403600"/>
          </a:xfrm>
          <a:prstGeom prst="rect">
            <a:avLst/>
          </a:prstGeom>
          <a:noFill/>
          <a:ln>
            <a:noFill/>
          </a:ln>
        </p:spPr>
        <p:txBody>
          <a:bodyPr lIns="0" rIns="0" tIns="0" bIns="0" wrap="square" rtlCol="0"/>
          <a:lstStyle/>
          <a:p>
            <a:pPr>
              <a:lnSpc>
                <a:spcPct val="160000"/>
              </a:lnSpc>
            </a:pPr>
            <a:r>
              <a:rPr lang="en-US" sz="1000" noProof="1">
                <a:solidFill>
                  <a:srgbClr val="C2521E"/>
                </a:solidFill>
                <a:latin typeface="JetBrains Mono"/>
                <a:ea typeface="JetBrains Mono"/>
              </a:rPr>
              <a:t>$</a:t>
            </a:r>
            <a:r>
              <a:rPr lang="en-US" sz="1000" noProof="1">
                <a:solidFill>
                  <a:srgbClr val="D7DBE0"/>
                </a:solidFill>
                <a:latin typeface="JetBrains Mono"/>
                <a:ea typeface="JetBrains Mono"/>
              </a:rPr>
              <a:t> cargo run -p ewm-ops -- \</a:t>
            </a:r>
            <a:endParaRPr lang="en-US" sz="1000" noProof="1"/>
          </a:p>
          <a:p>
            <a:pPr>
              <a:lnSpc>
                <a:spcPct val="160000"/>
              </a:lnSpc>
            </a:pPr>
            <a:r>
              <a:rPr lang="en-US" sz="1000" noProof="1">
                <a:solidFill>
                  <a:srgbClr val="D7DBE0"/>
                </a:solidFill>
                <a:latin typeface="JetBrains Mono"/>
                <a:ea typeface="JetBrains Mono"/>
              </a:rPr>
              <a:t>    --store /tmp/ewm-ops-demo \</a:t>
            </a:r>
            <a:endParaRPr lang="en-US" sz="1000" noProof="1"/>
          </a:p>
          <a:p>
            <a:pPr>
              <a:lnSpc>
                <a:spcPct val="160000"/>
              </a:lnSpc>
            </a:pPr>
            <a:r>
              <a:rPr lang="en-US" sz="1000" noProof="1">
                <a:solidFill>
                  <a:srgbClr val="D7DBE0"/>
                </a:solidFill>
                <a:latin typeface="JetBrains Mono"/>
                <a:ea typeface="JetBrains Mono"/>
              </a:rPr>
              <a:t>    --boot path/to/boot.ops \</a:t>
            </a:r>
            <a:endParaRPr lang="en-US" sz="1000" noProof="1"/>
          </a:p>
          <a:p>
            <a:pPr>
              <a:lnSpc>
                <a:spcPct val="160000"/>
              </a:lnSpc>
            </a:pPr>
            <a:r>
              <a:rPr lang="en-US" sz="1000" noProof="1">
                <a:solidFill>
                  <a:srgbClr val="D7DBE0"/>
                </a:solidFill>
                <a:latin typeface="JetBrains Mono"/>
                <a:ea typeface="JetBrains Mono"/>
              </a:rPr>
              <a:t>    --fires 12 --repo .../repo</a:t>
            </a:r>
            <a:endParaRPr lang="en-US" sz="1000" noProof="1"/>
          </a:p>
          <a:p>
            <a:pPr>
              <a:lnSpc>
                <a:spcPct val="160000"/>
              </a:lnSpc>
              <a:spcBef>
                <a:spcPts val="800"/>
              </a:spcBef>
            </a:pPr>
            <a:r>
              <a:rPr lang="en-US" sz="1000" noProof="1">
                <a:solidFill>
                  <a:srgbClr val="C2521E"/>
                </a:solidFill>
                <a:latin typeface="JetBrains Mono"/>
                <a:ea typeface="JetBrains Mono"/>
              </a:rPr>
              <a:t>$</a:t>
            </a:r>
            <a:r>
              <a:rPr lang="en-US" sz="1000" noProof="1">
                <a:solidFill>
                  <a:srgbClr val="D7DBE0"/>
                </a:solidFill>
                <a:latin typeface="JetBrains Mono"/>
                <a:ea typeface="JetBrains Mono"/>
              </a:rPr>
              <a:t> cargo run -p ewm-ops -- \</a:t>
            </a:r>
            <a:endParaRPr lang="en-US" sz="1000" noProof="1"/>
          </a:p>
          <a:p>
            <a:pPr>
              <a:lnSpc>
                <a:spcPct val="160000"/>
              </a:lnSpc>
            </a:pPr>
            <a:r>
              <a:rPr lang="en-US" sz="1000" noProof="1">
                <a:solidFill>
                  <a:srgbClr val="D7DBE0"/>
                </a:solidFill>
                <a:latin typeface="JetBrains Mono"/>
                <a:ea typeface="JetBrains Mono"/>
              </a:rPr>
              <a:t>    --store /tmp/ewm-ops-demo</a:t>
            </a:r>
            <a:endParaRPr lang="en-US" sz="1000" noProof="1"/>
          </a:p>
          <a:p>
            <a:pPr>
              <a:lnSpc>
                <a:spcPct val="160000"/>
              </a:lnSpc>
            </a:pPr>
            <a:r>
              <a:rPr lang="en-US" sz="1000" noProof="1">
                <a:solidFill>
                  <a:srgbClr val="7C838B"/>
                </a:solidFill>
                <a:latin typeface="JetBrains Mono"/>
                <a:ea typeface="JetBrains Mono"/>
              </a:rPr>
              <a:t># picks up state on top of stack</a:t>
            </a:r>
            <a:endParaRPr lang="en-US" sz="1000" noProof="1"/>
          </a:p>
          <a:p>
            <a:pPr>
              <a:lnSpc>
                <a:spcPct val="160000"/>
              </a:lnSpc>
              <a:spcBef>
                <a:spcPts val="800"/>
              </a:spcBef>
            </a:pPr>
            <a:r>
              <a:rPr lang="en-US" sz="1000" noProof="1">
                <a:solidFill>
                  <a:srgbClr val="C2521E"/>
                </a:solidFill>
                <a:latin typeface="JetBrains Mono"/>
                <a:ea typeface="JetBrains Mono"/>
              </a:rPr>
              <a:t>$</a:t>
            </a:r>
            <a:r>
              <a:rPr lang="en-US" sz="1000" noProof="1">
                <a:solidFill>
                  <a:srgbClr val="D7DBE0"/>
                </a:solidFill>
                <a:latin typeface="JetBrains Mono"/>
                <a:ea typeface="JetBrains Mono"/>
              </a:rPr>
              <a:t> cargo run -p ewm-ops log \</a:t>
            </a:r>
            <a:endParaRPr lang="en-US" sz="1000" noProof="1"/>
          </a:p>
          <a:p>
            <a:pPr>
              <a:lnSpc>
                <a:spcPct val="160000"/>
              </a:lnSpc>
            </a:pPr>
            <a:r>
              <a:rPr lang="en-US" sz="1000" noProof="1">
                <a:solidFill>
                  <a:srgbClr val="D7DBE0"/>
                </a:solidFill>
                <a:latin typeface="JetBrains Mono"/>
                <a:ea typeface="JetBrains Mono"/>
              </a:rPr>
              <a:t>    --store /tmp/ewm-ops-demo</a:t>
            </a:r>
            <a:endParaRPr lang="en-US" sz="1000" noProof="1"/>
          </a:p>
          <a:p>
            <a:pPr>
              <a:lnSpc>
                <a:spcPct val="160000"/>
              </a:lnSpc>
            </a:pPr>
            <a:r>
              <a:rPr lang="en-US" sz="1000" noProof="1">
                <a:solidFill>
                  <a:srgbClr val="7C838B"/>
                </a:solidFill>
                <a:latin typeface="JetBrains Mono"/>
                <a:ea typeface="JetBrains Mono"/>
              </a:rPr>
              <a:t># append-only boot log</a:t>
            </a:r>
            <a:endParaRPr lang="en-US" sz="1000" noProof="1"/>
          </a:p>
          <a:p>
            <a:pPr>
              <a:lnSpc>
                <a:spcPct val="160000"/>
              </a:lnSpc>
              <a:spcBef>
                <a:spcPts val="800"/>
              </a:spcBef>
            </a:pPr>
            <a:r>
              <a:rPr lang="en-US" sz="1000" noProof="1">
                <a:solidFill>
                  <a:srgbClr val="C2521E"/>
                </a:solidFill>
                <a:latin typeface="JetBrains Mono"/>
                <a:ea typeface="JetBrains Mono"/>
              </a:rPr>
              <a:t>$</a:t>
            </a:r>
            <a:r>
              <a:rPr lang="en-US" sz="1000" noProof="1">
                <a:solidFill>
                  <a:srgbClr val="D7DBE0"/>
                </a:solidFill>
                <a:latin typeface="JetBrains Mono"/>
                <a:ea typeface="JetBrains Mono"/>
              </a:rPr>
              <a:t> cargo run -p ewm-ops prev \</a:t>
            </a:r>
            <a:endParaRPr lang="en-US" sz="1000" noProof="1"/>
          </a:p>
          <a:p>
            <a:pPr>
              <a:lnSpc>
                <a:spcPct val="160000"/>
              </a:lnSpc>
            </a:pPr>
            <a:r>
              <a:rPr lang="en-US" sz="1000" noProof="1">
                <a:solidFill>
                  <a:srgbClr val="D7DBE0"/>
                </a:solidFill>
                <a:latin typeface="JetBrains Mono"/>
                <a:ea typeface="JetBrains Mono"/>
              </a:rPr>
              <a:t>    --store /tmp/ewm-ops-demo</a:t>
            </a:r>
            <a:endParaRPr lang="en-US" sz="1000" noProof="1"/>
          </a:p>
          <a:p>
            <a:pPr>
              <a:lnSpc>
                <a:spcPct val="160000"/>
              </a:lnSpc>
            </a:pPr>
            <a:r>
              <a:rPr lang="en-US" sz="1000" noProof="1">
                <a:solidFill>
                  <a:srgbClr val="7C838B"/>
                </a:solidFill>
                <a:latin typeface="JetBrains Mono"/>
                <a:ea typeface="JetBrains Mono"/>
              </a:rPr>
              <a:t># roll latest back one boot</a:t>
            </a:r>
            <a:endParaRPr lang="en-US" sz="1000" noProof="1"/>
          </a:p>
        </p:txBody>
      </p:sp>
      <p:sp>
        <p:nvSpPr>
          <p:cNvPr id="9" name="code-caption"/>
          <p:cNvSpPr txBox="1"/>
          <p:nvPr/>
        </p:nvSpPr>
        <p:spPr>
          <a:xfrm>
            <a:off x="6858000" y="5486400"/>
            <a:ext cx="4521200" cy="508000"/>
          </a:xfrm>
          <a:prstGeom prst="rect">
            <a:avLst/>
          </a:prstGeom>
          <a:noFill/>
          <a:ln>
            <a:noFill/>
          </a:ln>
        </p:spPr>
        <p:txBody>
          <a:bodyPr lIns="0" rIns="0" tIns="0" bIns="0" wrap="square" rtlCol="0"/>
          <a:lstStyle/>
          <a:p>
            <a:pPr>
              <a:lnSpc>
                <a:spcPct val="145000"/>
              </a:lnSpc>
            </a:pPr>
            <a:r>
              <a:rPr lang="en-US" sz="1050" noProof="1">
                <a:solidFill>
                  <a:srgbClr val="6E747B"/>
                </a:solidFill>
                <a:latin typeface="Inter"/>
                <a:ea typeface="Inter"/>
              </a:rPr>
              <a:t>log / list / prev give the boot history: append-only log, distinct boots, and rollback of the latest boot.</a:t>
            </a:r>
            <a:endParaRPr lang="en-US" sz="1050" noProof="1"/>
          </a:p>
        </p:txBody>
      </p:sp>
      <p:sp>
        <p:nvSpPr>
          <p:cNvPr id="10"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11"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14</a:t>
            </a:r>
            <a:endParaRPr lang="en-US" sz="900" noProof="1"/>
          </a:p>
        </p:txBody>
      </p:sp>
    </p:spTree>
  </p:cSld>
  <p:clrMapOvr>
    <a:masterClrMapping/>
  </p:clrMapOvr>
</p:sld>
</file>

<file path=ppt/slides/slide1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14 · THE IMPLEMENTATION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Side-cars close the loop around real models</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s1-bar"/>
          <p:cNvSpPr/>
          <p:nvPr/>
        </p:nvSpPr>
        <p:spPr>
          <a:xfrm>
            <a:off x="812800" y="1549400"/>
            <a:ext cx="38100" cy="1498600"/>
          </a:xfrm>
          <a:prstGeom prst="rect">
            <a:avLst/>
          </a:prstGeom>
          <a:solidFill>
            <a:srgbClr val="1E5B4E"/>
          </a:solidFill>
          <a:ln>
            <a:noFill/>
          </a:ln>
        </p:spPr>
      </p:sp>
      <p:sp>
        <p:nvSpPr>
          <p:cNvPr id="6" name="s1-name"/>
          <p:cNvSpPr txBox="1"/>
          <p:nvPr/>
        </p:nvSpPr>
        <p:spPr>
          <a:xfrm>
            <a:off x="1066800" y="1549400"/>
            <a:ext cx="5080000" cy="254000"/>
          </a:xfrm>
          <a:prstGeom prst="rect">
            <a:avLst/>
          </a:prstGeom>
          <a:noFill/>
          <a:ln>
            <a:noFill/>
          </a:ln>
        </p:spPr>
        <p:txBody>
          <a:bodyPr lIns="0" rIns="0" tIns="0" bIns="0" wrap="none" rtlCol="0"/>
          <a:lstStyle/>
          <a:p>
            <a:pPr>
              <a:lnSpc>
                <a:spcPct val="120000"/>
              </a:lnSpc>
            </a:pPr>
            <a:r>
              <a:rPr lang="en-US" sz="1400" noProof="1" b="1">
                <a:solidFill>
                  <a:srgbClr val="1E5B4E"/>
                </a:solidFill>
                <a:latin typeface="JetBrains Mono"/>
                <a:ea typeface="JetBrains Mono"/>
              </a:rPr>
              <a:t>ewm-scene</a:t>
            </a:r>
            <a:endParaRPr lang="en-US" sz="1400" noProof="1"/>
          </a:p>
        </p:txBody>
      </p:sp>
      <p:sp>
        <p:nvSpPr>
          <p:cNvPr id="7" name="s1-sub"/>
          <p:cNvSpPr txBox="1"/>
          <p:nvPr/>
        </p:nvSpPr>
        <p:spPr>
          <a:xfrm>
            <a:off x="1066800" y="1828800"/>
            <a:ext cx="10312400" cy="203200"/>
          </a:xfrm>
          <a:prstGeom prst="rect">
            <a:avLst/>
          </a:prstGeom>
          <a:noFill/>
          <a:ln>
            <a:noFill/>
          </a:ln>
        </p:spPr>
        <p:txBody>
          <a:bodyPr lIns="0" rIns="0" tIns="0" bIns="0" wrap="none" rtlCol="0"/>
          <a:lstStyle/>
          <a:p>
            <a:pPr>
              <a:lnSpc>
                <a:spcPct val="145000"/>
              </a:lnSpc>
            </a:pPr>
            <a:r>
              <a:rPr lang="en-US" sz="1100" noProof="1">
                <a:solidFill>
                  <a:srgbClr val="6E747B"/>
                </a:solidFill>
                <a:latin typeface="Inter"/>
                <a:ea typeface="Inter"/>
              </a:rPr>
              <a:t>LLM ↔ HLLSet side-car helper — direct morphisms</a:t>
            </a:r>
            <a:endParaRPr lang="en-US" sz="1100" noProof="1"/>
          </a:p>
        </p:txBody>
      </p:sp>
      <p:sp>
        <p:nvSpPr>
          <p:cNvPr id="8" name="s1-body"/>
          <p:cNvSpPr txBox="1"/>
          <p:nvPr/>
        </p:nvSpPr>
        <p:spPr>
          <a:xfrm>
            <a:off x="1066800" y="2133600"/>
            <a:ext cx="10312400" cy="8890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Makes the four ideas executable: </a:t>
            </a:r>
            <a:r>
              <a:rPr lang="en-US" sz="1200" noProof="1">
                <a:solidFill>
                  <a:srgbClr val="1A1D20"/>
                </a:solidFill>
                <a:latin typeface="JetBrains Mono"/>
                <a:ea typeface="JetBrains Mono"/>
              </a:rPr>
              <a:t>ingest / materialize</a:t>
            </a:r>
            <a:r>
              <a:rPr lang="en-US" sz="1200" noProof="1">
                <a:solidFill>
                  <a:srgbClr val="1A1D20"/>
                </a:solidFill>
                <a:latin typeface="Inter"/>
                <a:ea typeface="Inter"/>
              </a:rPr>
              <a:t> (morphism + fiber), </a:t>
            </a:r>
            <a:r>
              <a:rPr lang="en-US" sz="1200" noProof="1">
                <a:solidFill>
                  <a:srgbClr val="1A1D20"/>
                </a:solidFill>
                <a:latin typeface="JetBrains Mono"/>
                <a:ea typeface="JetBrains Mono"/>
              </a:rPr>
              <a:t>noether / subframes</a:t>
            </a:r>
            <a:r>
              <a:rPr lang="en-US" sz="1200" noProof="1">
                <a:solidFill>
                  <a:srgbClr val="1A1D20"/>
                </a:solidFill>
                <a:latin typeface="Inter"/>
                <a:ea typeface="Inter"/>
              </a:rPr>
              <a:t> (the D/R/N frame), </a:t>
            </a:r>
            <a:r>
              <a:rPr lang="en-US" sz="1200" noProof="1">
                <a:solidFill>
                  <a:srgbClr val="1A1D20"/>
                </a:solidFill>
                <a:latin typeface="JetBrains Mono"/>
                <a:ea typeface="JetBrains Mono"/>
              </a:rPr>
              <a:t>pyramid</a:t>
            </a:r>
            <a:r>
              <a:rPr lang="en-US" sz="1200" noProof="1">
                <a:solidFill>
                  <a:srgbClr val="1A1D20"/>
                </a:solidFill>
                <a:latin typeface="Inter"/>
                <a:ea typeface="Inter"/>
              </a:rPr>
              <a:t> (joined perceptrons), </a:t>
            </a:r>
            <a:r>
              <a:rPr lang="en-US" sz="1200" noProof="1">
                <a:solidFill>
                  <a:srgbClr val="1A1D20"/>
                </a:solidFill>
                <a:latin typeface="JetBrains Mono"/>
                <a:ea typeface="JetBrains Mono"/>
              </a:rPr>
              <a:t>sidecar</a:t>
            </a:r>
            <a:r>
              <a:rPr lang="en-US" sz="1200" noProof="1">
                <a:solidFill>
                  <a:srgbClr val="1A1D20"/>
                </a:solidFill>
                <a:latin typeface="Inter"/>
                <a:ea typeface="Inter"/>
              </a:rPr>
              <a:t> (the ring frame), </a:t>
            </a:r>
            <a:r>
              <a:rPr lang="en-US" sz="1200" noProof="1">
                <a:solidFill>
                  <a:srgbClr val="1A1D20"/>
                </a:solidFill>
                <a:latin typeface="JetBrains Mono"/>
                <a:ea typeface="JetBrains Mono"/>
              </a:rPr>
              <a:t>project</a:t>
            </a:r>
            <a:r>
              <a:rPr lang="en-US" sz="1200" noProof="1">
                <a:solidFill>
                  <a:srgbClr val="1A1D20"/>
                </a:solidFill>
                <a:latin typeface="Inter"/>
                <a:ea typeface="Inter"/>
              </a:rPr>
              <a:t> (any named frame).</a:t>
            </a:r>
            <a:endParaRPr lang="en-US" sz="1200" noProof="1"/>
          </a:p>
        </p:txBody>
      </p:sp>
      <p:sp>
        <p:nvSpPr>
          <p:cNvPr id="9" name="s2-bar"/>
          <p:cNvSpPr/>
          <p:nvPr/>
        </p:nvSpPr>
        <p:spPr>
          <a:xfrm>
            <a:off x="812800" y="3251200"/>
            <a:ext cx="38100" cy="1498600"/>
          </a:xfrm>
          <a:prstGeom prst="rect">
            <a:avLst/>
          </a:prstGeom>
          <a:solidFill>
            <a:srgbClr val="1E5B4E"/>
          </a:solidFill>
          <a:ln>
            <a:noFill/>
          </a:ln>
        </p:spPr>
      </p:sp>
      <p:sp>
        <p:nvSpPr>
          <p:cNvPr id="10" name="s2-name"/>
          <p:cNvSpPr txBox="1"/>
          <p:nvPr/>
        </p:nvSpPr>
        <p:spPr>
          <a:xfrm>
            <a:off x="1066800" y="3251200"/>
            <a:ext cx="5080000" cy="254000"/>
          </a:xfrm>
          <a:prstGeom prst="rect">
            <a:avLst/>
          </a:prstGeom>
          <a:noFill/>
          <a:ln>
            <a:noFill/>
          </a:ln>
        </p:spPr>
        <p:txBody>
          <a:bodyPr lIns="0" rIns="0" tIns="0" bIns="0" wrap="none" rtlCol="0"/>
          <a:lstStyle/>
          <a:p>
            <a:pPr>
              <a:lnSpc>
                <a:spcPct val="120000"/>
              </a:lnSpc>
            </a:pPr>
            <a:r>
              <a:rPr lang="en-US" sz="1400" noProof="1" b="1">
                <a:solidFill>
                  <a:srgbClr val="1E5B4E"/>
                </a:solidFill>
                <a:latin typeface="JetBrains Mono"/>
                <a:ea typeface="JetBrains Mono"/>
              </a:rPr>
              <a:t>ewm-flux-host</a:t>
            </a:r>
            <a:endParaRPr lang="en-US" sz="1400" noProof="1"/>
          </a:p>
        </p:txBody>
      </p:sp>
      <p:sp>
        <p:nvSpPr>
          <p:cNvPr id="11" name="s2-sub"/>
          <p:cNvSpPr txBox="1"/>
          <p:nvPr/>
        </p:nvSpPr>
        <p:spPr>
          <a:xfrm>
            <a:off x="1066800" y="3530600"/>
            <a:ext cx="10312400" cy="203200"/>
          </a:xfrm>
          <a:prstGeom prst="rect">
            <a:avLst/>
          </a:prstGeom>
          <a:noFill/>
          <a:ln>
            <a:noFill/>
          </a:ln>
        </p:spPr>
        <p:txBody>
          <a:bodyPr lIns="0" rIns="0" tIns="0" bIns="0" wrap="none" rtlCol="0"/>
          <a:lstStyle/>
          <a:p>
            <a:pPr>
              <a:lnSpc>
                <a:spcPct val="145000"/>
              </a:lnSpc>
            </a:pPr>
            <a:r>
              <a:rPr lang="en-US" sz="1100" noProof="1">
                <a:solidFill>
                  <a:srgbClr val="6E747B"/>
                </a:solidFill>
                <a:latin typeface="Inter"/>
                <a:ea typeface="Inter"/>
              </a:rPr>
              <a:t>side-car host adapter for a rectified-flow MMDiT sampler — developed against a synthetic random-weight shim</a:t>
            </a:r>
            <a:endParaRPr lang="en-US" sz="1100" noProof="1"/>
          </a:p>
        </p:txBody>
      </p:sp>
      <p:sp>
        <p:nvSpPr>
          <p:cNvPr id="12" name="s2-body"/>
          <p:cNvSpPr txBox="1"/>
          <p:nvPr/>
        </p:nvSpPr>
        <p:spPr>
          <a:xfrm>
            <a:off x="1066800" y="3835400"/>
            <a:ext cx="10312400" cy="8890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One call closes the whole loop on a synthetic latent trajectory. Per denoising step the JSON report carries: S(t) popcount + content key, D/R/N, the Boolean-ring record (soft/hard key, residual, rotation), and the warning flags.</a:t>
            </a:r>
            <a:endParaRPr lang="en-US" sz="1200" noProof="1"/>
          </a:p>
        </p:txBody>
      </p:sp>
      <p:sp>
        <p:nvSpPr>
          <p:cNvPr id="13" name="eval-rule"/>
          <p:cNvSpPr/>
          <p:nvPr/>
        </p:nvSpPr>
        <p:spPr>
          <a:xfrm>
            <a:off x="812800" y="4978400"/>
            <a:ext cx="10566400" cy="12700"/>
          </a:xfrm>
          <a:prstGeom prst="rect">
            <a:avLst/>
          </a:prstGeom>
          <a:solidFill>
            <a:srgbClr val="DCD8CF"/>
          </a:solidFill>
          <a:ln>
            <a:noFill/>
          </a:ln>
        </p:spPr>
      </p:sp>
      <p:sp>
        <p:nvSpPr>
          <p:cNvPr id="14" name="eval-head"/>
          <p:cNvSpPr txBox="1"/>
          <p:nvPr/>
        </p:nvSpPr>
        <p:spPr>
          <a:xfrm>
            <a:off x="812800" y="5156200"/>
            <a:ext cx="5080000" cy="228600"/>
          </a:xfrm>
          <a:prstGeom prst="rect">
            <a:avLst/>
          </a:prstGeom>
          <a:noFill/>
          <a:ln>
            <a:noFill/>
          </a:ln>
        </p:spPr>
        <p:txBody>
          <a:bodyPr lIns="0" rIns="0" tIns="0" bIns="0" wrap="none" rtlCol="0"/>
          <a:lstStyle/>
          <a:p>
            <a:pPr>
              <a:lnSpc>
                <a:spcPct val="120000"/>
              </a:lnSpc>
            </a:pPr>
            <a:r>
              <a:rPr lang="en-US" sz="1300" noProof="1" b="1">
                <a:solidFill>
                  <a:srgbClr val="C2521E"/>
                </a:solidFill>
                <a:latin typeface="Space Grotesk"/>
                <a:ea typeface="Space Grotesk"/>
              </a:rPr>
              <a:t>The two-score evaluation</a:t>
            </a:r>
            <a:endParaRPr lang="en-US" sz="1300" noProof="1"/>
          </a:p>
        </p:txBody>
      </p:sp>
      <p:sp>
        <p:nvSpPr>
          <p:cNvPr id="15" name="eval-body"/>
          <p:cNvSpPr txBox="1"/>
          <p:nvPr/>
        </p:nvSpPr>
        <p:spPr>
          <a:xfrm>
            <a:off x="812800" y="5435600"/>
            <a:ext cx="10566400" cy="762000"/>
          </a:xfrm>
          <a:prstGeom prst="rect">
            <a:avLst/>
          </a:prstGeom>
          <a:noFill/>
          <a:ln>
            <a:noFill/>
          </a:ln>
        </p:spPr>
        <p:txBody>
          <a:bodyPr lIns="0" rIns="0" tIns="0" bIns="0" wrap="square" rtlCol="0"/>
          <a:lstStyle/>
          <a:p>
            <a:pPr>
              <a:lnSpc>
                <a:spcPct val="150000"/>
              </a:lnSpc>
            </a:pPr>
            <a:r>
              <a:rPr lang="en-US" sz="1200" noProof="1" b="1">
                <a:solidFill>
                  <a:srgbClr val="1A1D20"/>
                </a:solidFill>
                <a:latin typeface="Inter"/>
                <a:ea typeface="Inter"/>
              </a:rPr>
              <a:t>Loop accuracy</a:t>
            </a:r>
            <a:r>
              <a:rPr lang="en-US" sz="1200" noProof="1">
                <a:solidFill>
                  <a:srgbClr val="1A1D20"/>
                </a:solidFill>
                <a:latin typeface="Inter"/>
                <a:ea typeface="Inter"/>
              </a:rPr>
              <a:t> — ordered + set latent-token restoration, expected 1.0 · </a:t>
            </a:r>
            <a:r>
              <a:rPr lang="en-US" sz="1200" noProof="1" b="1">
                <a:solidFill>
                  <a:srgbClr val="1A1D20"/>
                </a:solidFill>
                <a:latin typeface="Inter"/>
                <a:ea typeface="Inter"/>
              </a:rPr>
              <a:t>Decode quality</a:t>
            </a:r>
            <a:r>
              <a:rPr lang="en-US" sz="1200" noProof="1">
                <a:solidFill>
                  <a:srgbClr val="1A1D20"/>
                </a:solidFill>
                <a:latin typeface="Inter"/>
                <a:ea typeface="Inter"/>
              </a:rPr>
              <a:t> — latent reconstruction cosine / MSE.</a:t>
            </a:r>
            <a:endParaRPr lang="en-US" sz="1200" noProof="1"/>
          </a:p>
          <a:p>
            <a:pPr>
              <a:lnSpc>
                <a:spcPct val="150000"/>
              </a:lnSpc>
              <a:spcBef>
                <a:spcPts val="600"/>
              </a:spcBef>
            </a:pPr>
            <a:r>
              <a:rPr lang="en-US" sz="1200" noProof="1">
                <a:solidFill>
                  <a:srgbClr val="6E747B"/>
                </a:solidFill>
                <a:latin typeface="Inter"/>
                <a:ea typeface="Inter"/>
              </a:rPr>
              <a:t>Because the ring basis changes as the run grows, the report also carries the lazy back-propagated view: soft_final / step_final re-project every step onto the final basis — each cached vector is stamped with the basis generation, and only the entries queried are recomputed.</a:t>
            </a:r>
            <a:endParaRPr lang="en-US" sz="1200" noProof="1"/>
          </a:p>
        </p:txBody>
      </p:sp>
      <p:sp>
        <p:nvSpPr>
          <p:cNvPr id="16"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17"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15</a:t>
            </a:r>
            <a:endParaRPr lang="en-US" sz="900" noProof="1"/>
          </a:p>
        </p:txBody>
      </p:sp>
    </p:spTree>
  </p:cSld>
  <p:clrMapOvr>
    <a:masterClrMapping/>
  </p:clrMapOvr>
</p:sld>
</file>

<file path=ppt/slides/slide1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15 · THE IMPLEMENTATION</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The notebook is the application — the [UM] runs the cells</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arc1-num"/>
          <p:cNvSpPr txBox="1"/>
          <p:nvPr/>
        </p:nvSpPr>
        <p:spPr>
          <a:xfrm>
            <a:off x="812800" y="1524000"/>
            <a:ext cx="1143000" cy="254000"/>
          </a:xfrm>
          <a:prstGeom prst="rect">
            <a:avLst/>
          </a:prstGeom>
          <a:noFill/>
          <a:ln>
            <a:noFill/>
          </a:ln>
        </p:spPr>
        <p:txBody>
          <a:bodyPr lIns="0" rIns="0" tIns="0" bIns="0" wrap="none" rtlCol="0"/>
          <a:lstStyle/>
          <a:p>
            <a:pPr>
              <a:lnSpc>
                <a:spcPct val="120000"/>
              </a:lnSpc>
            </a:pPr>
            <a:r>
              <a:rPr lang="en-US" sz="1300" noProof="1" b="1">
                <a:solidFill>
                  <a:srgbClr val="C2521E"/>
                </a:solidFill>
                <a:latin typeface="JetBrains Mono"/>
                <a:ea typeface="JetBrains Mono"/>
              </a:rPr>
              <a:t>01–02</a:t>
            </a:r>
            <a:endParaRPr lang="en-US" sz="1300" noProof="1"/>
          </a:p>
        </p:txBody>
      </p:sp>
      <p:sp>
        <p:nvSpPr>
          <p:cNvPr id="6" name="arc1-name"/>
          <p:cNvSpPr txBox="1"/>
          <p:nvPr/>
        </p:nvSpPr>
        <p:spPr>
          <a:xfrm>
            <a:off x="2032000" y="1524000"/>
            <a:ext cx="3810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Foundations</a:t>
            </a:r>
            <a:endParaRPr lang="en-US" sz="1400" noProof="1"/>
          </a:p>
        </p:txBody>
      </p:sp>
      <p:sp>
        <p:nvSpPr>
          <p:cNvPr id="7" name="arc1-body"/>
          <p:cNvSpPr txBox="1"/>
          <p:nvPr/>
        </p:nvSpPr>
        <p:spPr>
          <a:xfrm>
            <a:off x="2032000" y="1803400"/>
            <a:ext cx="9347200" cy="4318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Morphisms step by step — ingest (SHA1 + three pointers + hllsetLUT), materialize (ordered / no_order / beam), the [UM] loop and recovery; then the LLM ↔ HLLSet side-car rebuilt on ewm-scene.</a:t>
            </a:r>
            <a:endParaRPr lang="en-US" sz="1150" noProof="1"/>
          </a:p>
        </p:txBody>
      </p:sp>
      <p:sp>
        <p:nvSpPr>
          <p:cNvPr id="8" name="rule-a1"/>
          <p:cNvSpPr/>
          <p:nvPr/>
        </p:nvSpPr>
        <p:spPr>
          <a:xfrm>
            <a:off x="2032000" y="2362200"/>
            <a:ext cx="9347200" cy="12700"/>
          </a:xfrm>
          <a:prstGeom prst="rect">
            <a:avLst/>
          </a:prstGeom>
          <a:solidFill>
            <a:srgbClr val="DCD8CF"/>
          </a:solidFill>
          <a:ln>
            <a:noFill/>
          </a:ln>
        </p:spPr>
      </p:sp>
      <p:sp>
        <p:nvSpPr>
          <p:cNvPr id="9" name="arc2-num"/>
          <p:cNvSpPr txBox="1"/>
          <p:nvPr/>
        </p:nvSpPr>
        <p:spPr>
          <a:xfrm>
            <a:off x="812800" y="2514600"/>
            <a:ext cx="1143000" cy="254000"/>
          </a:xfrm>
          <a:prstGeom prst="rect">
            <a:avLst/>
          </a:prstGeom>
          <a:noFill/>
          <a:ln>
            <a:noFill/>
          </a:ln>
        </p:spPr>
        <p:txBody>
          <a:bodyPr lIns="0" rIns="0" tIns="0" bIns="0" wrap="none" rtlCol="0"/>
          <a:lstStyle/>
          <a:p>
            <a:pPr>
              <a:lnSpc>
                <a:spcPct val="120000"/>
              </a:lnSpc>
            </a:pPr>
            <a:r>
              <a:rPr lang="en-US" sz="1300" noProof="1" b="1">
                <a:solidFill>
                  <a:srgbClr val="C2521E"/>
                </a:solidFill>
                <a:latin typeface="JetBrains Mono"/>
                <a:ea typeface="JetBrains Mono"/>
              </a:rPr>
              <a:t>03–05</a:t>
            </a:r>
            <a:endParaRPr lang="en-US" sz="1300" noProof="1"/>
          </a:p>
        </p:txBody>
      </p:sp>
      <p:sp>
        <p:nvSpPr>
          <p:cNvPr id="10" name="arc2-name"/>
          <p:cNvSpPr txBox="1"/>
          <p:nvPr/>
        </p:nvSpPr>
        <p:spPr>
          <a:xfrm>
            <a:off x="2032000" y="2514600"/>
            <a:ext cx="3810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Test benches</a:t>
            </a:r>
            <a:endParaRPr lang="en-US" sz="1400" noProof="1"/>
          </a:p>
        </p:txBody>
      </p:sp>
      <p:sp>
        <p:nvSpPr>
          <p:cNvPr id="11" name="arc2-body"/>
          <p:cNvSpPr txBox="1"/>
          <p:nvPr/>
        </p:nvSpPr>
        <p:spPr>
          <a:xfrm>
            <a:off x="2032000" y="2794000"/>
            <a:ext cx="9347200" cy="4318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Qwen-Drive-1.0-4B perception tokens through the side-car loop; the perceptron pyramid (the union top perceptron u-HLLSet(t) and its three decompositions); the Flux Phase-1 bench on a synthetic MMDiT shim.</a:t>
            </a:r>
            <a:endParaRPr lang="en-US" sz="1150" noProof="1"/>
          </a:p>
        </p:txBody>
      </p:sp>
      <p:sp>
        <p:nvSpPr>
          <p:cNvPr id="12" name="rule-a2"/>
          <p:cNvSpPr/>
          <p:nvPr/>
        </p:nvSpPr>
        <p:spPr>
          <a:xfrm>
            <a:off x="2032000" y="3352800"/>
            <a:ext cx="9347200" cy="12700"/>
          </a:xfrm>
          <a:prstGeom prst="rect">
            <a:avLst/>
          </a:prstGeom>
          <a:solidFill>
            <a:srgbClr val="DCD8CF"/>
          </a:solidFill>
          <a:ln>
            <a:noFill/>
          </a:ln>
        </p:spPr>
      </p:sp>
      <p:sp>
        <p:nvSpPr>
          <p:cNvPr id="13" name="arc3-num"/>
          <p:cNvSpPr txBox="1"/>
          <p:nvPr/>
        </p:nvSpPr>
        <p:spPr>
          <a:xfrm>
            <a:off x="812800" y="3505200"/>
            <a:ext cx="1143000" cy="254000"/>
          </a:xfrm>
          <a:prstGeom prst="rect">
            <a:avLst/>
          </a:prstGeom>
          <a:noFill/>
          <a:ln>
            <a:noFill/>
          </a:ln>
        </p:spPr>
        <p:txBody>
          <a:bodyPr lIns="0" rIns="0" tIns="0" bIns="0" wrap="none" rtlCol="0"/>
          <a:lstStyle/>
          <a:p>
            <a:pPr>
              <a:lnSpc>
                <a:spcPct val="120000"/>
              </a:lnSpc>
            </a:pPr>
            <a:r>
              <a:rPr lang="en-US" sz="1300" noProof="1" b="1">
                <a:solidFill>
                  <a:srgbClr val="C2521E"/>
                </a:solidFill>
                <a:latin typeface="JetBrains Mono"/>
                <a:ea typeface="JetBrains Mono"/>
              </a:rPr>
              <a:t>06–07</a:t>
            </a:r>
            <a:endParaRPr lang="en-US" sz="1300" noProof="1"/>
          </a:p>
        </p:txBody>
      </p:sp>
      <p:sp>
        <p:nvSpPr>
          <p:cNvPr id="14" name="arc3-name"/>
          <p:cNvSpPr txBox="1"/>
          <p:nvPr/>
        </p:nvSpPr>
        <p:spPr>
          <a:xfrm>
            <a:off x="2032000" y="3505200"/>
            <a:ext cx="3810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Graph &amp; cooperation</a:t>
            </a:r>
            <a:endParaRPr lang="en-US" sz="1400" noProof="1"/>
          </a:p>
        </p:txBody>
      </p:sp>
      <p:sp>
        <p:nvSpPr>
          <p:cNvPr id="15" name="arc3-body"/>
          <p:cNvSpPr txBox="1"/>
          <p:nvPr/>
        </p:nvSpPr>
        <p:spPr>
          <a:xfrm>
            <a:off x="2032000" y="3784600"/>
            <a:ext cx="9347200" cy="4318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The ewm-ops operational graph boots like an OS; then the ewm-jepa cooperation — V-JEPA encoder / predictor ⇄ the Rust lattice (pipeline / IICA, three-LUT unification, [UM]-Net fan-out, holographic D/R/N).</a:t>
            </a:r>
            <a:endParaRPr lang="en-US" sz="1150" noProof="1"/>
          </a:p>
        </p:txBody>
      </p:sp>
      <p:sp>
        <p:nvSpPr>
          <p:cNvPr id="16" name="rule-a3"/>
          <p:cNvSpPr/>
          <p:nvPr/>
        </p:nvSpPr>
        <p:spPr>
          <a:xfrm>
            <a:off x="2032000" y="4343400"/>
            <a:ext cx="9347200" cy="12700"/>
          </a:xfrm>
          <a:prstGeom prst="rect">
            <a:avLst/>
          </a:prstGeom>
          <a:solidFill>
            <a:srgbClr val="DCD8CF"/>
          </a:solidFill>
          <a:ln>
            <a:noFill/>
          </a:ln>
        </p:spPr>
      </p:sp>
      <p:sp>
        <p:nvSpPr>
          <p:cNvPr id="17" name="arc4-num"/>
          <p:cNvSpPr txBox="1"/>
          <p:nvPr/>
        </p:nvSpPr>
        <p:spPr>
          <a:xfrm>
            <a:off x="812800" y="4495800"/>
            <a:ext cx="1143000" cy="254000"/>
          </a:xfrm>
          <a:prstGeom prst="rect">
            <a:avLst/>
          </a:prstGeom>
          <a:noFill/>
          <a:ln>
            <a:noFill/>
          </a:ln>
        </p:spPr>
        <p:txBody>
          <a:bodyPr lIns="0" rIns="0" tIns="0" bIns="0" wrap="none" rtlCol="0"/>
          <a:lstStyle/>
          <a:p>
            <a:pPr>
              <a:lnSpc>
                <a:spcPct val="120000"/>
              </a:lnSpc>
            </a:pPr>
            <a:r>
              <a:rPr lang="en-US" sz="1300" noProof="1" b="1">
                <a:solidFill>
                  <a:srgbClr val="C2521E"/>
                </a:solidFill>
                <a:latin typeface="JetBrains Mono"/>
                <a:ea typeface="JetBrains Mono"/>
              </a:rPr>
              <a:t>08–12</a:t>
            </a:r>
            <a:endParaRPr lang="en-US" sz="1300" noProof="1"/>
          </a:p>
        </p:txBody>
      </p:sp>
      <p:sp>
        <p:nvSpPr>
          <p:cNvPr id="18" name="arc4-name"/>
          <p:cNvSpPr txBox="1"/>
          <p:nvPr/>
        </p:nvSpPr>
        <p:spPr>
          <a:xfrm>
            <a:off x="2032000" y="4495800"/>
            <a:ext cx="5080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Multi-LLM side-car loop</a:t>
            </a:r>
            <a:endParaRPr lang="en-US" sz="1400" noProof="1"/>
          </a:p>
        </p:txBody>
      </p:sp>
      <p:sp>
        <p:nvSpPr>
          <p:cNvPr id="19" name="arc4-body"/>
          <p:cNvSpPr txBox="1"/>
          <p:nvPr/>
        </p:nvSpPr>
        <p:spPr>
          <a:xfrm>
            <a:off x="2032000" y="4775200"/>
            <a:ext cx="9347200" cy="6604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Three real small LLMs (DeepSeek-R1-Distill-Qwen-1.5B, Qwen2.5-1.5B-Instruct, gpt2) feed the union state S(t) = ∪ S_i(t); a DFT observer detects the query period, a controller feeds memory + curiosity back into the prompts, and a predictor portfolio with a meta-controller learns which predictor to trust.</a:t>
            </a:r>
            <a:endParaRPr lang="en-US" sz="1150" noProof="1"/>
          </a:p>
        </p:txBody>
      </p:sp>
      <p:sp>
        <p:nvSpPr>
          <p:cNvPr id="20" name="rule-a4"/>
          <p:cNvSpPr/>
          <p:nvPr/>
        </p:nvSpPr>
        <p:spPr>
          <a:xfrm>
            <a:off x="2032000" y="5562600"/>
            <a:ext cx="9347200" cy="12700"/>
          </a:xfrm>
          <a:prstGeom prst="rect">
            <a:avLst/>
          </a:prstGeom>
          <a:solidFill>
            <a:srgbClr val="DCD8CF"/>
          </a:solidFill>
          <a:ln>
            <a:noFill/>
          </a:ln>
        </p:spPr>
      </p:sp>
      <p:sp>
        <p:nvSpPr>
          <p:cNvPr id="21" name="finding"/>
          <p:cNvSpPr txBox="1"/>
          <p:nvPr/>
        </p:nvSpPr>
        <p:spPr>
          <a:xfrm>
            <a:off x="812800" y="5740400"/>
            <a:ext cx="10566400" cy="457200"/>
          </a:xfrm>
          <a:prstGeom prst="rect">
            <a:avLst/>
          </a:prstGeom>
          <a:noFill/>
          <a:ln>
            <a:noFill/>
          </a:ln>
        </p:spPr>
        <p:txBody>
          <a:bodyPr lIns="0" rIns="0" tIns="0" bIns="0" wrap="square" rtlCol="0"/>
          <a:lstStyle/>
          <a:p>
            <a:pPr>
              <a:lnSpc>
                <a:spcPct val="150000"/>
              </a:lnSpc>
            </a:pPr>
            <a:r>
              <a:rPr lang="en-US" sz="1150" noProof="1" b="1">
                <a:solidFill>
                  <a:srgbClr val="1A1D20"/>
                </a:solidFill>
                <a:latin typeface="Inter"/>
                <a:ea typeface="Inter"/>
              </a:rPr>
              <a:t>Observed on the bench:</a:t>
            </a:r>
            <a:r>
              <a:rPr lang="en-US" sz="1150" noProof="1">
                <a:solidFill>
                  <a:srgbClr val="1A1D20"/>
                </a:solidFill>
                <a:latin typeface="Inter"/>
                <a:ea typeface="Inter"/>
              </a:rPr>
              <a:t> a 16-step query cycle — </a:t>
            </a:r>
            <a:r>
              <a:rPr lang="en-US" sz="1150" noProof="1">
                <a:solidFill>
                  <a:srgbClr val="1A1D20"/>
                </a:solidFill>
                <a:latin typeface="JetBrains Mono"/>
                <a:ea typeface="JetBrains Mono"/>
              </a:rPr>
              <a:t>bss(t+16) == bss(t)</a:t>
            </a:r>
            <a:r>
              <a:rPr lang="en-US" sz="1150" noProof="1">
                <a:solidFill>
                  <a:srgbClr val="1A1D20"/>
                </a:solidFill>
                <a:latin typeface="Inter"/>
                <a:ea typeface="Inter"/>
              </a:rPr>
              <a:t>, rings plateau at dim 16; the EWMA selector still beats the learned selector on that loop (0.95 vs 1.11 meta/best).</a:t>
            </a:r>
            <a:endParaRPr lang="en-US" sz="1150" noProof="1"/>
          </a:p>
        </p:txBody>
      </p:sp>
      <p:sp>
        <p:nvSpPr>
          <p:cNvPr id="22"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3"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16</a:t>
            </a:r>
            <a:endParaRPr lang="en-US" sz="900" noProof="1"/>
          </a:p>
        </p:txBody>
      </p:sp>
    </p:spTree>
  </p:cSld>
  <p:clrMapOvr>
    <a:masterClrMapping/>
  </p:clrMapOvr>
</p:sld>
</file>

<file path=ppt/slides/slide1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kicker"/>
          <p:cNvSpPr txBox="1"/>
          <p:nvPr/>
        </p:nvSpPr>
        <p:spPr>
          <a:xfrm>
            <a:off x="812800" y="431800"/>
            <a:ext cx="6350000" cy="177800"/>
          </a:xfrm>
          <a:prstGeom prst="rect">
            <a:avLst/>
          </a:prstGeom>
          <a:noFill/>
          <a:ln>
            <a:noFill/>
          </a:ln>
        </p:spPr>
        <p:txBody>
          <a:bodyPr lIns="0" rIns="0" tIns="0" bIns="0" wrap="none" rtlCol="0"/>
          <a:lstStyle/>
          <a:p>
            <a:pPr>
              <a:lnSpc>
                <a:spcPct val="120000"/>
              </a:lnSpc>
            </a:pPr>
            <a:r>
              <a:rPr lang="en-US" sz="1000" noProof="1" spc="200" kern="0">
                <a:solidFill>
                  <a:srgbClr val="6E747B"/>
                </a:solidFill>
                <a:latin typeface="JetBrains Mono"/>
                <a:ea typeface="JetBrains Mono"/>
              </a:rPr>
              <a:t>16 · PRODUCTS IN PROGRESS</a:t>
            </a:r>
            <a:endParaRPr lang="en-US" sz="1000" noProof="1"/>
          </a:p>
        </p:txBody>
      </p:sp>
      <p:sp>
        <p:nvSpPr>
          <p:cNvPr id="3" name="title"/>
          <p:cNvSpPr txBox="1"/>
          <p:nvPr/>
        </p:nvSpPr>
        <p:spPr>
          <a:xfrm>
            <a:off x="812800" y="660400"/>
            <a:ext cx="10566400" cy="406400"/>
          </a:xfrm>
          <a:prstGeom prst="rect">
            <a:avLst/>
          </a:prstGeom>
          <a:noFill/>
          <a:ln>
            <a:noFill/>
          </a:ln>
        </p:spPr>
        <p:txBody>
          <a:bodyPr lIns="0" rIns="0" tIns="0" bIns="0" wrap="none" rtlCol="0"/>
          <a:lstStyle/>
          <a:p>
            <a:pPr>
              <a:lnSpc>
                <a:spcPct val="120000"/>
              </a:lnSpc>
            </a:pPr>
            <a:r>
              <a:rPr lang="en-US" sz="2400" noProof="1" b="1">
                <a:solidFill>
                  <a:srgbClr val="1A1D20"/>
                </a:solidFill>
                <a:latin typeface="Space Grotesk"/>
                <a:ea typeface="Space Grotesk"/>
              </a:rPr>
              <a:t>Five products, one measurement lattice</a:t>
            </a:r>
            <a:endParaRPr lang="en-US" sz="2400" noProof="1"/>
          </a:p>
        </p:txBody>
      </p:sp>
      <p:sp>
        <p:nvSpPr>
          <p:cNvPr id="4" name="rule"/>
          <p:cNvSpPr/>
          <p:nvPr/>
        </p:nvSpPr>
        <p:spPr>
          <a:xfrm>
            <a:off x="812800" y="1244600"/>
            <a:ext cx="10566400" cy="12700"/>
          </a:xfrm>
          <a:prstGeom prst="rect">
            <a:avLst/>
          </a:prstGeom>
          <a:solidFill>
            <a:srgbClr val="DCD8CF"/>
          </a:solidFill>
          <a:ln>
            <a:noFill/>
          </a:ln>
        </p:spPr>
      </p:sp>
      <p:sp>
        <p:nvSpPr>
          <p:cNvPr id="5" name="intro"/>
          <p:cNvSpPr txBox="1"/>
          <p:nvPr/>
        </p:nvSpPr>
        <p:spPr>
          <a:xfrm>
            <a:off x="812800" y="1473200"/>
            <a:ext cx="10566400" cy="431800"/>
          </a:xfrm>
          <a:prstGeom prst="rect">
            <a:avLst/>
          </a:prstGeom>
          <a:noFill/>
          <a:ln>
            <a:noFill/>
          </a:ln>
        </p:spPr>
        <p:txBody>
          <a:bodyPr lIns="0" rIns="0" tIns="0" bIns="0" wrap="square" rtlCol="0"/>
          <a:lstStyle/>
          <a:p>
            <a:pPr>
              <a:lnSpc>
                <a:spcPct val="150000"/>
              </a:lnSpc>
            </a:pPr>
            <a:r>
              <a:rPr lang="en-US" sz="1200" noProof="1">
                <a:solidFill>
                  <a:srgbClr val="1A1D20"/>
                </a:solidFill>
                <a:latin typeface="Inter"/>
                <a:ea typeface="Inter"/>
              </a:rPr>
              <a:t>All built on the same measurement lattice as the side-car — language models, world models, vision, document intelligence and vision-language-action autonomy.</a:t>
            </a:r>
            <a:endParaRPr lang="en-US" sz="1200" noProof="1"/>
          </a:p>
        </p:txBody>
      </p:sp>
      <p:sp>
        <p:nvSpPr>
          <p:cNvPr id="6" name="p1-name"/>
          <p:cNvSpPr txBox="1"/>
          <p:nvPr/>
        </p:nvSpPr>
        <p:spPr>
          <a:xfrm>
            <a:off x="812800" y="2057400"/>
            <a:ext cx="3810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NanoLM · Language Models</a:t>
            </a:r>
            <a:endParaRPr lang="en-US" sz="1400" noProof="1"/>
          </a:p>
        </p:txBody>
      </p:sp>
      <p:sp>
        <p:nvSpPr>
          <p:cNvPr id="7" name="p1-status"/>
          <p:cNvSpPr txBox="1"/>
          <p:nvPr/>
        </p:nvSpPr>
        <p:spPr>
          <a:xfrm>
            <a:off x="4826000" y="2082800"/>
            <a:ext cx="1524000" cy="203200"/>
          </a:xfrm>
          <a:prstGeom prst="rect">
            <a:avLst/>
          </a:prstGeom>
          <a:noFill/>
          <a:ln>
            <a:noFill/>
          </a:ln>
        </p:spPr>
        <p:txBody>
          <a:bodyPr lIns="0" rIns="0" tIns="0" bIns="0" wrap="none" rtlCol="0"/>
          <a:lstStyle/>
          <a:p>
            <a:pPr>
              <a:lnSpc>
                <a:spcPct val="120000"/>
              </a:lnSpc>
            </a:pPr>
            <a:r>
              <a:rPr lang="en-US" sz="950" noProof="1" b="1">
                <a:solidFill>
                  <a:srgbClr val="1E5B4E"/>
                </a:solidFill>
                <a:latin typeface="JetBrains Mono"/>
                <a:ea typeface="JetBrains Mono"/>
              </a:rPr>
              <a:t>IMPLEMENTED</a:t>
            </a:r>
            <a:endParaRPr lang="en-US" sz="950" noProof="1"/>
          </a:p>
        </p:txBody>
      </p:sp>
      <p:sp>
        <p:nvSpPr>
          <p:cNvPr id="8" name="p1-body"/>
          <p:cNvSpPr txBox="1"/>
          <p:nvPr/>
        </p:nvSpPr>
        <p:spPr>
          <a:xfrm>
            <a:off x="812800" y="2362200"/>
            <a:ext cx="5080000" cy="6604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Megabyte-scale domain LLM built on De Bruijn Markov chains — deterministic, CPU-only, no GPU and no pretrained weights.</a:t>
            </a:r>
            <a:endParaRPr lang="en-US" sz="1150" noProof="1"/>
          </a:p>
        </p:txBody>
      </p:sp>
      <p:sp>
        <p:nvSpPr>
          <p:cNvPr id="9" name="p2-name"/>
          <p:cNvSpPr txBox="1"/>
          <p:nvPr/>
        </p:nvSpPr>
        <p:spPr>
          <a:xfrm>
            <a:off x="6299200" y="2057400"/>
            <a:ext cx="3810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EWM Jepa · World Models</a:t>
            </a:r>
            <a:endParaRPr lang="en-US" sz="1400" noProof="1"/>
          </a:p>
        </p:txBody>
      </p:sp>
      <p:sp>
        <p:nvSpPr>
          <p:cNvPr id="10" name="p2-status"/>
          <p:cNvSpPr txBox="1"/>
          <p:nvPr/>
        </p:nvSpPr>
        <p:spPr>
          <a:xfrm>
            <a:off x="10312400" y="2082800"/>
            <a:ext cx="1524000" cy="203200"/>
          </a:xfrm>
          <a:prstGeom prst="rect">
            <a:avLst/>
          </a:prstGeom>
          <a:noFill/>
          <a:ln>
            <a:noFill/>
          </a:ln>
        </p:spPr>
        <p:txBody>
          <a:bodyPr lIns="0" rIns="0" tIns="0" bIns="0" wrap="none" rtlCol="0"/>
          <a:lstStyle/>
          <a:p>
            <a:pPr>
              <a:lnSpc>
                <a:spcPct val="120000"/>
              </a:lnSpc>
            </a:pPr>
            <a:r>
              <a:rPr lang="en-US" sz="950" noProof="1" b="1">
                <a:solidFill>
                  <a:srgbClr val="C2521E"/>
                </a:solidFill>
                <a:latin typeface="JetBrains Mono"/>
                <a:ea typeface="JetBrains Mono"/>
              </a:rPr>
              <a:t>PROTOTYPE</a:t>
            </a:r>
            <a:endParaRPr lang="en-US" sz="950" noProof="1"/>
          </a:p>
        </p:txBody>
      </p:sp>
      <p:sp>
        <p:nvSpPr>
          <p:cNvPr id="11" name="p2-body"/>
          <p:cNvSpPr txBox="1"/>
          <p:nvPr/>
        </p:nvSpPr>
        <p:spPr>
          <a:xfrm>
            <a:off x="6299200" y="2362200"/>
            <a:ext cx="5080000" cy="6604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JEPA-style world-model memory service: frames encoded into a deterministic patch codebook, stored as content-addressed HLLSet keys, recalled by Bell State Similarity — no GPU, no torch, never a reconstruction of raw pixels.</a:t>
            </a:r>
            <a:endParaRPr lang="en-US" sz="1150" noProof="1"/>
          </a:p>
        </p:txBody>
      </p:sp>
      <p:sp>
        <p:nvSpPr>
          <p:cNvPr id="12" name="rule-p1"/>
          <p:cNvSpPr/>
          <p:nvPr/>
        </p:nvSpPr>
        <p:spPr>
          <a:xfrm>
            <a:off x="812800" y="3200400"/>
            <a:ext cx="10566400" cy="12700"/>
          </a:xfrm>
          <a:prstGeom prst="rect">
            <a:avLst/>
          </a:prstGeom>
          <a:solidFill>
            <a:srgbClr val="DCD8CF"/>
          </a:solidFill>
          <a:ln>
            <a:noFill/>
          </a:ln>
        </p:spPr>
      </p:sp>
      <p:sp>
        <p:nvSpPr>
          <p:cNvPr id="13" name="p3-name"/>
          <p:cNvSpPr txBox="1"/>
          <p:nvPr/>
        </p:nvSpPr>
        <p:spPr>
          <a:xfrm>
            <a:off x="812800" y="3403600"/>
            <a:ext cx="3810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Vision Studio · Vision</a:t>
            </a:r>
            <a:endParaRPr lang="en-US" sz="1400" noProof="1"/>
          </a:p>
        </p:txBody>
      </p:sp>
      <p:sp>
        <p:nvSpPr>
          <p:cNvPr id="14" name="p3-status"/>
          <p:cNvSpPr txBox="1"/>
          <p:nvPr/>
        </p:nvSpPr>
        <p:spPr>
          <a:xfrm>
            <a:off x="4826000" y="3429000"/>
            <a:ext cx="1524000" cy="203200"/>
          </a:xfrm>
          <a:prstGeom prst="rect">
            <a:avLst/>
          </a:prstGeom>
          <a:noFill/>
          <a:ln>
            <a:noFill/>
          </a:ln>
        </p:spPr>
        <p:txBody>
          <a:bodyPr lIns="0" rIns="0" tIns="0" bIns="0" wrap="none" rtlCol="0"/>
          <a:lstStyle/>
          <a:p>
            <a:pPr>
              <a:lnSpc>
                <a:spcPct val="120000"/>
              </a:lnSpc>
            </a:pPr>
            <a:r>
              <a:rPr lang="en-US" sz="950" noProof="1" b="1">
                <a:solidFill>
                  <a:srgbClr val="6E747B"/>
                </a:solidFill>
                <a:latin typeface="JetBrains Mono"/>
                <a:ea typeface="JetBrains Mono"/>
              </a:rPr>
              <a:t>IN PROGRESS</a:t>
            </a:r>
            <a:endParaRPr lang="en-US" sz="950" noProof="1"/>
          </a:p>
        </p:txBody>
      </p:sp>
      <p:sp>
        <p:nvSpPr>
          <p:cNvPr id="15" name="p3-body"/>
          <p:cNvSpPr txBox="1"/>
          <p:nvPr/>
        </p:nvSpPr>
        <p:spPr>
          <a:xfrm>
            <a:off x="812800" y="3708400"/>
            <a:ext cx="5080000" cy="6604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Studio runtime for the vision side-car — 16×16 patch grids through conv(n,2) encoders, frame-by-frame positional restoration, with the lattice's DRN decomposition and temporal pyramid.</a:t>
            </a:r>
            <a:endParaRPr lang="en-US" sz="1150" noProof="1"/>
          </a:p>
        </p:txBody>
      </p:sp>
      <p:sp>
        <p:nvSpPr>
          <p:cNvPr id="16" name="p4-name"/>
          <p:cNvSpPr txBox="1"/>
          <p:nvPr/>
        </p:nvSpPr>
        <p:spPr>
          <a:xfrm>
            <a:off x="6299200" y="3403600"/>
            <a:ext cx="4318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DeepSeek-OCR · Document Intelligence</a:t>
            </a:r>
            <a:endParaRPr lang="en-US" sz="1400" noProof="1"/>
          </a:p>
        </p:txBody>
      </p:sp>
      <p:sp>
        <p:nvSpPr>
          <p:cNvPr id="17" name="p4-status"/>
          <p:cNvSpPr txBox="1"/>
          <p:nvPr/>
        </p:nvSpPr>
        <p:spPr>
          <a:xfrm>
            <a:off x="9855200" y="3429000"/>
            <a:ext cx="1524000" cy="203200"/>
          </a:xfrm>
          <a:prstGeom prst="rect">
            <a:avLst/>
          </a:prstGeom>
          <a:noFill/>
          <a:ln>
            <a:noFill/>
          </a:ln>
        </p:spPr>
        <p:txBody>
          <a:bodyPr lIns="0" rIns="0" tIns="0" bIns="0" wrap="none" rtlCol="0"/>
          <a:lstStyle/>
          <a:p>
            <a:pPr>
              <a:lnSpc>
                <a:spcPct val="120000"/>
              </a:lnSpc>
            </a:pPr>
            <a:r>
              <a:rPr lang="en-US" sz="950" noProof="1" b="1">
                <a:solidFill>
                  <a:srgbClr val="1E5B4E"/>
                </a:solidFill>
                <a:latin typeface="JetBrains Mono"/>
                <a:ea typeface="JetBrains Mono"/>
              </a:rPr>
              <a:t>IMPLEMENTED</a:t>
            </a:r>
            <a:endParaRPr lang="en-US" sz="950" noProof="1"/>
          </a:p>
        </p:txBody>
      </p:sp>
      <p:sp>
        <p:nvSpPr>
          <p:cNvPr id="18" name="p4-body"/>
          <p:cNvSpPr txBox="1"/>
          <p:nvPr/>
        </p:nvSpPr>
        <p:spPr>
          <a:xfrm>
            <a:off x="6299200" y="3708400"/>
            <a:ext cx="5080000" cy="6604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Document extraction on DeepSeek-OCR with a CPU-only Tesseract fallback; drives the semantic compressor across a real 128K-vocabulary BPE boundary at 100% word retention and zero order loss.</a:t>
            </a:r>
            <a:endParaRPr lang="en-US" sz="1150" noProof="1"/>
          </a:p>
        </p:txBody>
      </p:sp>
      <p:sp>
        <p:nvSpPr>
          <p:cNvPr id="19" name="rule-p2"/>
          <p:cNvSpPr/>
          <p:nvPr/>
        </p:nvSpPr>
        <p:spPr>
          <a:xfrm>
            <a:off x="812800" y="4546600"/>
            <a:ext cx="10566400" cy="12700"/>
          </a:xfrm>
          <a:prstGeom prst="rect">
            <a:avLst/>
          </a:prstGeom>
          <a:solidFill>
            <a:srgbClr val="DCD8CF"/>
          </a:solidFill>
          <a:ln>
            <a:noFill/>
          </a:ln>
        </p:spPr>
      </p:sp>
      <p:sp>
        <p:nvSpPr>
          <p:cNvPr id="20" name="p5-name"/>
          <p:cNvSpPr txBox="1"/>
          <p:nvPr/>
        </p:nvSpPr>
        <p:spPr>
          <a:xfrm>
            <a:off x="812800" y="4749800"/>
            <a:ext cx="4572000" cy="254000"/>
          </a:xfrm>
          <a:prstGeom prst="rect">
            <a:avLst/>
          </a:prstGeom>
          <a:noFill/>
          <a:ln>
            <a:noFill/>
          </a:ln>
        </p:spPr>
        <p:txBody>
          <a:bodyPr lIns="0" rIns="0" tIns="0" bIns="0" wrap="none" rtlCol="0"/>
          <a:lstStyle/>
          <a:p>
            <a:pPr>
              <a:lnSpc>
                <a:spcPct val="120000"/>
              </a:lnSpc>
            </a:pPr>
            <a:r>
              <a:rPr lang="en-US" sz="1400" noProof="1" b="1">
                <a:solidFill>
                  <a:srgbClr val="1A1D20"/>
                </a:solidFill>
                <a:latin typeface="Space Grotesk"/>
                <a:ea typeface="Space Grotesk"/>
              </a:rPr>
              <a:t>EWM VLA · Autonomous Systems</a:t>
            </a:r>
            <a:endParaRPr lang="en-US" sz="1400" noProof="1"/>
          </a:p>
        </p:txBody>
      </p:sp>
      <p:sp>
        <p:nvSpPr>
          <p:cNvPr id="21" name="p5-status"/>
          <p:cNvSpPr txBox="1"/>
          <p:nvPr/>
        </p:nvSpPr>
        <p:spPr>
          <a:xfrm>
            <a:off x="5461000" y="4775200"/>
            <a:ext cx="1524000" cy="203200"/>
          </a:xfrm>
          <a:prstGeom prst="rect">
            <a:avLst/>
          </a:prstGeom>
          <a:noFill/>
          <a:ln>
            <a:noFill/>
          </a:ln>
        </p:spPr>
        <p:txBody>
          <a:bodyPr lIns="0" rIns="0" tIns="0" bIns="0" wrap="none" rtlCol="0"/>
          <a:lstStyle/>
          <a:p>
            <a:pPr>
              <a:lnSpc>
                <a:spcPct val="120000"/>
              </a:lnSpc>
            </a:pPr>
            <a:r>
              <a:rPr lang="en-US" sz="950" noProof="1" b="1">
                <a:solidFill>
                  <a:srgbClr val="C2521E"/>
                </a:solidFill>
                <a:latin typeface="JetBrains Mono"/>
                <a:ea typeface="JetBrains Mono"/>
              </a:rPr>
              <a:t>PROTOTYPE</a:t>
            </a:r>
            <a:endParaRPr lang="en-US" sz="950" noProof="1"/>
          </a:p>
        </p:txBody>
      </p:sp>
      <p:sp>
        <p:nvSpPr>
          <p:cNvPr id="22" name="p5-body"/>
          <p:cNvSpPr txBox="1"/>
          <p:nvPr/>
        </p:nvSpPr>
        <p:spPr>
          <a:xfrm>
            <a:off x="812800" y="5054600"/>
            <a:ext cx="10566400" cy="660400"/>
          </a:xfrm>
          <a:prstGeom prst="rect">
            <a:avLst/>
          </a:prstGeom>
          <a:noFill/>
          <a:ln>
            <a:noFill/>
          </a:ln>
        </p:spPr>
        <p:txBody>
          <a:bodyPr lIns="0" rIns="0" tIns="0" bIns="0" wrap="square" rtlCol="0"/>
          <a:lstStyle/>
          <a:p>
            <a:pPr>
              <a:lnSpc>
                <a:spcPct val="150000"/>
              </a:lnSpc>
            </a:pPr>
            <a:r>
              <a:rPr lang="en-US" sz="1150" noProof="1">
                <a:solidFill>
                  <a:srgbClr val="1A1D20"/>
                </a:solidFill>
                <a:latin typeface="Inter"/>
                <a:ea typeface="Inter"/>
              </a:rPr>
              <a:t>Vision-Language-Action side-car: visual embeddings, language tokens and action trajectories are mapped into HLLSet frames for content-addressable scene memory and lattice reasoning over perception-action chains — hash-level round-trip accuracy 1.0 on a real VLA host.</a:t>
            </a:r>
            <a:endParaRPr lang="en-US" sz="1150" noProof="1"/>
          </a:p>
        </p:txBody>
      </p:sp>
      <p:sp>
        <p:nvSpPr>
          <p:cNvPr id="23" name="strip-bar"/>
          <p:cNvSpPr/>
          <p:nvPr/>
        </p:nvSpPr>
        <p:spPr>
          <a:xfrm>
            <a:off x="812800" y="5842000"/>
            <a:ext cx="38100" cy="406400"/>
          </a:xfrm>
          <a:prstGeom prst="rect">
            <a:avLst/>
          </a:prstGeom>
          <a:solidFill>
            <a:srgbClr val="C2521E"/>
          </a:solidFill>
          <a:ln>
            <a:noFill/>
          </a:ln>
        </p:spPr>
      </p:sp>
      <p:sp>
        <p:nvSpPr>
          <p:cNvPr id="24" name="strip-text"/>
          <p:cNvSpPr txBox="1"/>
          <p:nvPr/>
        </p:nvSpPr>
        <p:spPr>
          <a:xfrm>
            <a:off x="1016000" y="5842000"/>
            <a:ext cx="10363200" cy="406400"/>
          </a:xfrm>
          <a:prstGeom prst="rect">
            <a:avLst/>
          </a:prstGeom>
          <a:noFill/>
          <a:ln>
            <a:noFill/>
          </a:ln>
        </p:spPr>
        <p:txBody>
          <a:bodyPr lIns="0" rIns="0" tIns="0" bIns="0" wrap="square" rtlCol="0" anchor="ctr"/>
          <a:lstStyle/>
          <a:p>
            <a:pPr algn="l">
              <a:lnSpc>
                <a:spcPct val="150000"/>
              </a:lnSpc>
            </a:pPr>
            <a:r>
              <a:rPr lang="en-US" sz="1200" noProof="1">
                <a:solidFill>
                  <a:srgbClr val="1A1D20"/>
                </a:solidFill>
                <a:latin typeface="Inter"/>
                <a:ea typeface="Inter"/>
              </a:rPr>
              <a:t>Partner with the research team: run the side-car loop against your own model as a design partner, pilot it on a real workload, or engage on a custom build.</a:t>
            </a:r>
            <a:endParaRPr lang="en-US" sz="1200" noProof="1"/>
          </a:p>
        </p:txBody>
      </p:sp>
      <p:sp>
        <p:nvSpPr>
          <p:cNvPr id="25" name="footer"/>
          <p:cNvSpPr txBox="1"/>
          <p:nvPr/>
        </p:nvSpPr>
        <p:spPr>
          <a:xfrm>
            <a:off x="812800" y="6502400"/>
            <a:ext cx="5080000" cy="152400"/>
          </a:xfrm>
          <a:prstGeom prst="rect">
            <a:avLst/>
          </a:prstGeom>
          <a:noFill/>
          <a:ln>
            <a:noFill/>
          </a:ln>
        </p:spPr>
        <p:txBody>
          <a:bodyPr lIns="0" rIns="0" tIns="0" bIns="0" wrap="none" rtlCol="0"/>
          <a:lstStyle/>
          <a:p>
            <a:pPr>
              <a:lnSpc>
                <a:spcPct val="120000"/>
              </a:lnSpc>
            </a:pPr>
            <a:r>
              <a:rPr lang="en-US" sz="900" noProof="1">
                <a:solidFill>
                  <a:srgbClr val="6E747B"/>
                </a:solidFill>
                <a:latin typeface="JetBrains Mono"/>
                <a:ea typeface="JetBrains Mono"/>
              </a:rPr>
              <a:t>EWM · a memory side-car for any AI model</a:t>
            </a:r>
            <a:endParaRPr lang="en-US" sz="900" noProof="1"/>
          </a:p>
        </p:txBody>
      </p:sp>
      <p:sp>
        <p:nvSpPr>
          <p:cNvPr id="26" name="page-num"/>
          <p:cNvSpPr txBox="1"/>
          <p:nvPr/>
        </p:nvSpPr>
        <p:spPr>
          <a:xfrm>
            <a:off x="10947400" y="6502400"/>
            <a:ext cx="431800" cy="152400"/>
          </a:xfrm>
          <a:prstGeom prst="rect">
            <a:avLst/>
          </a:prstGeom>
          <a:noFill/>
          <a:ln>
            <a:noFill/>
          </a:ln>
        </p:spPr>
        <p:txBody>
          <a:bodyPr lIns="0" rIns="0" tIns="0" bIns="0" wrap="none" rtlCol="0" anchor="t"/>
          <a:lstStyle/>
          <a:p>
            <a:pPr algn="r">
              <a:lnSpc>
                <a:spcPct val="120000"/>
              </a:lnSpc>
            </a:pPr>
            <a:r>
              <a:rPr lang="en-US" sz="900" noProof="1">
                <a:solidFill>
                  <a:srgbClr val="6E747B"/>
                </a:solidFill>
                <a:latin typeface="JetBrains Mono"/>
                <a:ea typeface="JetBrains Mono"/>
              </a:rPr>
              <a:t>17</a:t>
            </a:r>
            <a:endParaRPr lang="en-US" sz="900" noProof="1"/>
          </a:p>
        </p:txBody>
      </p:sp>
    </p:spTree>
  </p:cSld>
  <p:clrMapOvr>
    <a:masterClrMapping/>
  </p:clrMapOvr>
</p:sld>
</file>

<file path=ppt/slides/slide1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15181B"/>
        </a:solidFill>
      </p:bgPr>
    </p:bg>
    <p:spTree>
      <p:nvGrpSpPr>
        <p:cNvPr id="1" name=""/>
        <p:cNvGrpSpPr/>
        <p:nvPr/>
      </p:nvGrpSpPr>
      <p:grpSpPr>
        <a:xfrm>
          <a:off x="0" y="0"/>
          <a:ext cx="0" cy="0"/>
          <a:chOff x="0" y="0"/>
          <a:chExt cx="0" cy="0"/>
        </a:xfrm>
      </p:grpSpPr>
      <p:sp>
        <p:nvSpPr>
          <p:cNvPr id="2" name="kicker"/>
          <p:cNvSpPr txBox="1"/>
          <p:nvPr/>
        </p:nvSpPr>
        <p:spPr>
          <a:xfrm>
            <a:off x="812800" y="711200"/>
            <a:ext cx="8128000" cy="203200"/>
          </a:xfrm>
          <a:prstGeom prst="rect">
            <a:avLst/>
          </a:prstGeom>
          <a:noFill/>
          <a:ln>
            <a:noFill/>
          </a:ln>
        </p:spPr>
        <p:txBody>
          <a:bodyPr lIns="0" rIns="0" tIns="0" bIns="0" wrap="none" rtlCol="0"/>
          <a:lstStyle/>
          <a:p>
            <a:pPr>
              <a:lnSpc>
                <a:spcPct val="120000"/>
              </a:lnSpc>
            </a:pPr>
            <a:r>
              <a:rPr lang="en-US" sz="1100" noProof="1" spc="300" kern="0">
                <a:solidFill>
                  <a:srgbClr val="C2521E"/>
                </a:solidFill>
                <a:latin typeface="JetBrains Mono"/>
                <a:ea typeface="JetBrains Mono"/>
              </a:rPr>
              <a:t>BRING YOUR OWN MODEL — WE BRING THE MEMORY</a:t>
            </a:r>
            <a:endParaRPr lang="en-US" sz="1100" noProof="1"/>
          </a:p>
        </p:txBody>
      </p:sp>
      <p:sp>
        <p:nvSpPr>
          <p:cNvPr id="3" name="title"/>
          <p:cNvSpPr txBox="1"/>
          <p:nvPr/>
        </p:nvSpPr>
        <p:spPr>
          <a:xfrm>
            <a:off x="812800" y="1041400"/>
            <a:ext cx="10566400" cy="558800"/>
          </a:xfrm>
          <a:prstGeom prst="rect">
            <a:avLst/>
          </a:prstGeom>
          <a:noFill/>
          <a:ln>
            <a:noFill/>
          </a:ln>
        </p:spPr>
        <p:txBody>
          <a:bodyPr lIns="0" rIns="0" tIns="0" bIns="0" wrap="none" rtlCol="0"/>
          <a:lstStyle/>
          <a:p>
            <a:pPr>
              <a:lnSpc>
                <a:spcPct val="120000"/>
              </a:lnSpc>
            </a:pPr>
            <a:r>
              <a:rPr lang="en-US" sz="3200" noProof="1" b="1">
                <a:solidFill>
                  <a:srgbClr val="F5F3EE"/>
                </a:solidFill>
                <a:latin typeface="Space Grotesk"/>
                <a:ea typeface="Space Grotesk"/>
              </a:rPr>
              <a:t>The model stays. The memory is added.</a:t>
            </a:r>
            <a:endParaRPr lang="en-US" sz="3200" noProof="1"/>
          </a:p>
        </p:txBody>
      </p:sp>
      <p:sp>
        <p:nvSpPr>
          <p:cNvPr id="4" name="idea-1"/>
          <p:cNvSpPr txBox="1"/>
          <p:nvPr/>
        </p:nvSpPr>
        <p:spPr>
          <a:xfrm>
            <a:off x="812800" y="1981200"/>
            <a:ext cx="5080000" cy="762000"/>
          </a:xfrm>
          <a:prstGeom prst="rect">
            <a:avLst/>
          </a:prstGeom>
          <a:noFill/>
          <a:ln>
            <a:noFill/>
          </a:ln>
        </p:spPr>
        <p:txBody>
          <a:bodyPr lIns="0" rIns="0" tIns="0" bIns="0" wrap="square" rtlCol="0"/>
          <a:lstStyle/>
          <a:p>
            <a:pPr>
              <a:lnSpc>
                <a:spcPct val="145000"/>
              </a:lnSpc>
            </a:pPr>
            <a:r>
              <a:rPr lang="en-US" sz="1200" noProof="1" b="1">
                <a:solidFill>
                  <a:srgbClr val="F5F3EE"/>
                </a:solidFill>
                <a:latin typeface="Inter"/>
                <a:ea typeface="Inter"/>
              </a:rPr>
              <a:t>A side-car, not a replacement</a:t>
            </a:r>
            <a:r>
              <a:rPr lang="en-US" sz="1200" noProof="1">
                <a:solidFill>
                  <a:srgbClr val="B9BEC4"/>
                </a:solidFill>
                <a:latin typeface="Inter"/>
                <a:ea typeface="Inter"/>
              </a:rPr>
              <a:t> — the host keeps its weights, tokenizer, prompts and APIs; nothing is retrained, fine-tuned or replaced.</a:t>
            </a:r>
            <a:endParaRPr lang="en-US" sz="1200" noProof="1"/>
          </a:p>
        </p:txBody>
      </p:sp>
      <p:sp>
        <p:nvSpPr>
          <p:cNvPr id="5" name="idea-2"/>
          <p:cNvSpPr txBox="1"/>
          <p:nvPr/>
        </p:nvSpPr>
        <p:spPr>
          <a:xfrm>
            <a:off x="812800" y="2844800"/>
            <a:ext cx="5080000" cy="762000"/>
          </a:xfrm>
          <a:prstGeom prst="rect">
            <a:avLst/>
          </a:prstGeom>
          <a:noFill/>
          <a:ln>
            <a:noFill/>
          </a:ln>
        </p:spPr>
        <p:txBody>
          <a:bodyPr lIns="0" rIns="0" tIns="0" bIns="0" wrap="square" rtlCol="0"/>
          <a:lstStyle/>
          <a:p>
            <a:pPr>
              <a:lnSpc>
                <a:spcPct val="145000"/>
              </a:lnSpc>
            </a:pPr>
            <a:r>
              <a:rPr lang="en-US" sz="1200" noProof="1" b="1">
                <a:solidFill>
                  <a:srgbClr val="F5F3EE"/>
                </a:solidFill>
                <a:latin typeface="Inter"/>
                <a:ea typeface="Inter"/>
              </a:rPr>
              <a:t>A structure, not a summary</a:t>
            </a:r>
            <a:r>
              <a:rPr lang="en-US" sz="1200" noProof="1">
                <a:solidFill>
                  <a:srgbClr val="B9BEC4"/>
                </a:solidFill>
                <a:latin typeface="Inter"/>
                <a:ea typeface="Inter"/>
              </a:rPr>
              <a:t> — D / R / N per commit: what departed, what is retained, what is new, with a conservation balance.</a:t>
            </a:r>
            <a:endParaRPr lang="en-US" sz="1200" noProof="1"/>
          </a:p>
        </p:txBody>
      </p:sp>
      <p:sp>
        <p:nvSpPr>
          <p:cNvPr id="6" name="idea-3"/>
          <p:cNvSpPr txBox="1"/>
          <p:nvPr/>
        </p:nvSpPr>
        <p:spPr>
          <a:xfrm>
            <a:off x="812800" y="3708400"/>
            <a:ext cx="5080000" cy="762000"/>
          </a:xfrm>
          <a:prstGeom prst="rect">
            <a:avLst/>
          </a:prstGeom>
          <a:noFill/>
          <a:ln>
            <a:noFill/>
          </a:ln>
        </p:spPr>
        <p:txBody>
          <a:bodyPr lIns="0" rIns="0" tIns="0" bIns="0" wrap="square" rtlCol="0"/>
          <a:lstStyle/>
          <a:p>
            <a:pPr>
              <a:lnSpc>
                <a:spcPct val="145000"/>
              </a:lnSpc>
            </a:pPr>
            <a:r>
              <a:rPr lang="en-US" sz="1200" noProof="1" b="1">
                <a:solidFill>
                  <a:srgbClr val="F5F3EE"/>
                </a:solidFill>
                <a:latin typeface="Inter"/>
                <a:ea typeface="Inter"/>
              </a:rPr>
              <a:t>Auditable by construction</a:t>
            </a:r>
            <a:r>
              <a:rPr lang="en-US" sz="1200" noProof="1">
                <a:solidFill>
                  <a:srgbClr val="B9BEC4"/>
                </a:solidFill>
                <a:latin typeface="Inter"/>
                <a:ea typeface="Inter"/>
              </a:rPr>
              <a:t> — content-addressed, immutable commits form an append-only record, on-premise inside your own boundary.</a:t>
            </a:r>
            <a:endParaRPr lang="en-US" sz="1200" noProof="1"/>
          </a:p>
        </p:txBody>
      </p:sp>
      <p:sp>
        <p:nvSpPr>
          <p:cNvPr id="7" name="idea-4"/>
          <p:cNvSpPr txBox="1"/>
          <p:nvPr/>
        </p:nvSpPr>
        <p:spPr>
          <a:xfrm>
            <a:off x="812800" y="4572000"/>
            <a:ext cx="5080000" cy="762000"/>
          </a:xfrm>
          <a:prstGeom prst="rect">
            <a:avLst/>
          </a:prstGeom>
          <a:noFill/>
          <a:ln>
            <a:noFill/>
          </a:ln>
        </p:spPr>
        <p:txBody>
          <a:bodyPr lIns="0" rIns="0" tIns="0" bIns="0" wrap="square" rtlCol="0"/>
          <a:lstStyle/>
          <a:p>
            <a:pPr>
              <a:lnSpc>
                <a:spcPct val="145000"/>
              </a:lnSpc>
            </a:pPr>
            <a:r>
              <a:rPr lang="en-US" sz="1200" noProof="1" b="1">
                <a:solidFill>
                  <a:srgbClr val="F5F3EE"/>
                </a:solidFill>
                <a:latin typeface="Inter"/>
                <a:ea typeface="Inter"/>
              </a:rPr>
              <a:t>Portable across models</a:t>
            </a:r>
            <a:r>
              <a:rPr lang="en-US" sz="1200" noProof="1">
                <a:solidFill>
                  <a:srgbClr val="B9BEC4"/>
                </a:solidFill>
                <a:latin typeface="Inter"/>
                <a:ea typeface="Inter"/>
              </a:rPr>
              <a:t> — one measurement lattice spans hosts and modalities; the memory travels, the model stays where it is.</a:t>
            </a:r>
            <a:endParaRPr lang="en-US" sz="1200" noProof="1"/>
          </a:p>
        </p:txBody>
      </p:sp>
      <p:sp>
        <p:nvSpPr>
          <p:cNvPr id="8" name="start-head"/>
          <p:cNvSpPr txBox="1"/>
          <p:nvPr/>
        </p:nvSpPr>
        <p:spPr>
          <a:xfrm>
            <a:off x="6858000" y="1981200"/>
            <a:ext cx="4521200" cy="228600"/>
          </a:xfrm>
          <a:prstGeom prst="rect">
            <a:avLst/>
          </a:prstGeom>
          <a:noFill/>
          <a:ln>
            <a:noFill/>
          </a:ln>
        </p:spPr>
        <p:txBody>
          <a:bodyPr lIns="0" rIns="0" tIns="0" bIns="0" wrap="none" rtlCol="0"/>
          <a:lstStyle/>
          <a:p>
            <a:pPr>
              <a:lnSpc>
                <a:spcPct val="120000"/>
              </a:lnSpc>
            </a:pPr>
            <a:r>
              <a:rPr lang="en-US" sz="1100" noProof="1" b="1" spc="200" kern="0">
                <a:solidFill>
                  <a:srgbClr val="2E7D64"/>
                </a:solidFill>
                <a:latin typeface="JetBrains Mono"/>
                <a:ea typeface="JetBrains Mono"/>
              </a:rPr>
              <a:t>GET STARTED</a:t>
            </a:r>
            <a:endParaRPr lang="en-US" sz="1100" noProof="1"/>
          </a:p>
        </p:txBody>
      </p:sp>
      <p:sp>
        <p:nvSpPr>
          <p:cNvPr id="9" name="start-code"/>
          <p:cNvSpPr txBox="1"/>
          <p:nvPr/>
        </p:nvSpPr>
        <p:spPr>
          <a:xfrm>
            <a:off x="6858000" y="2311400"/>
            <a:ext cx="4521200" cy="1905000"/>
          </a:xfrm>
          <a:prstGeom prst="rect">
            <a:avLst/>
          </a:prstGeom>
          <a:noFill/>
          <a:ln>
            <a:noFill/>
          </a:ln>
        </p:spPr>
        <p:txBody>
          <a:bodyPr lIns="0" rIns="0" tIns="0" bIns="0" wrap="square" rtlCol="0"/>
          <a:lstStyle/>
          <a:p>
            <a:pPr>
              <a:lnSpc>
                <a:spcPct val="170000"/>
              </a:lnSpc>
            </a:pPr>
            <a:r>
              <a:rPr lang="en-US" sz="1050" noProof="1">
                <a:solidFill>
                  <a:srgbClr val="C2521E"/>
                </a:solidFill>
                <a:latin typeface="JetBrains Mono"/>
                <a:ea typeface="JetBrains Mono"/>
              </a:rPr>
              <a:t>$</a:t>
            </a:r>
            <a:r>
              <a:rPr lang="en-US" sz="1050" noProof="1">
                <a:solidFill>
                  <a:srgbClr val="D7DBE0"/>
                </a:solidFill>
                <a:latin typeface="JetBrains Mono"/>
                <a:ea typeface="JetBrains Mono"/>
              </a:rPr>
              <a:t> git clone \</a:t>
            </a:r>
            <a:endParaRPr lang="en-US" sz="1050" noProof="1"/>
          </a:p>
          <a:p>
            <a:pPr>
              <a:lnSpc>
                <a:spcPct val="170000"/>
              </a:lnSpc>
            </a:pPr>
            <a:r>
              <a:rPr lang="en-US" sz="1050" noProof="1">
                <a:solidFill>
                  <a:srgbClr val="D7DBE0"/>
                </a:solidFill>
                <a:latin typeface="JetBrains Mono"/>
                <a:ea typeface="JetBrains Mono"/>
              </a:rPr>
              <a:t>  https://github.com/alexmy21/ewm-state-machine</a:t>
            </a:r>
            <a:endParaRPr lang="en-US" sz="1050" noProof="1"/>
          </a:p>
          <a:p>
            <a:pPr>
              <a:lnSpc>
                <a:spcPct val="170000"/>
              </a:lnSpc>
              <a:spcBef>
                <a:spcPts val="600"/>
              </a:spcBef>
            </a:pPr>
            <a:r>
              <a:rPr lang="en-US" sz="1050" noProof="1">
                <a:solidFill>
                  <a:srgbClr val="C2521E"/>
                </a:solidFill>
                <a:latin typeface="JetBrains Mono"/>
                <a:ea typeface="JetBrains Mono"/>
              </a:rPr>
              <a:t>$</a:t>
            </a:r>
            <a:r>
              <a:rPr lang="en-US" sz="1050" noProof="1">
                <a:solidFill>
                  <a:srgbClr val="D7DBE0"/>
                </a:solidFill>
                <a:latin typeface="JetBrains Mono"/>
                <a:ea typeface="JetBrains Mono"/>
              </a:rPr>
              <a:t> cargo run -p ewm-ops -- \</a:t>
            </a:r>
            <a:endParaRPr lang="en-US" sz="1050" noProof="1"/>
          </a:p>
          <a:p>
            <a:pPr>
              <a:lnSpc>
                <a:spcPct val="170000"/>
              </a:lnSpc>
            </a:pPr>
            <a:r>
              <a:rPr lang="en-US" sz="1050" noProof="1">
                <a:solidFill>
                  <a:srgbClr val="D7DBE0"/>
                </a:solidFill>
                <a:latin typeface="JetBrains Mono"/>
                <a:ea typeface="JetBrains Mono"/>
              </a:rPr>
              <a:t>    --store /tmp/ewm-ops-demo \</a:t>
            </a:r>
            <a:endParaRPr lang="en-US" sz="1050" noProof="1"/>
          </a:p>
          <a:p>
            <a:pPr>
              <a:lnSpc>
                <a:spcPct val="170000"/>
              </a:lnSpc>
            </a:pPr>
            <a:r>
              <a:rPr lang="en-US" sz="1050" noProof="1">
                <a:solidFill>
                  <a:srgbClr val="D7DBE0"/>
                </a:solidFill>
                <a:latin typeface="JetBrains Mono"/>
                <a:ea typeface="JetBrains Mono"/>
              </a:rPr>
              <a:t>    --boot path/to/boot.ops --fires 12</a:t>
            </a:r>
            <a:endParaRPr lang="en-US" sz="1050" noProof="1"/>
          </a:p>
          <a:p>
            <a:pPr>
              <a:lnSpc>
                <a:spcPct val="170000"/>
              </a:lnSpc>
              <a:spcBef>
                <a:spcPts val="600"/>
              </a:spcBef>
            </a:pPr>
            <a:r>
              <a:rPr lang="en-US" sz="1050" noProof="1">
                <a:solidFill>
                  <a:srgbClr val="C2521E"/>
                </a:solidFill>
                <a:latin typeface="JetBrains Mono"/>
                <a:ea typeface="JetBrains Mono"/>
              </a:rPr>
              <a:t>$</a:t>
            </a:r>
            <a:r>
              <a:rPr lang="en-US" sz="1050" noProof="1">
                <a:solidFill>
                  <a:srgbClr val="D7DBE0"/>
                </a:solidFill>
                <a:latin typeface="JetBrains Mono"/>
                <a:ea typeface="JetBrains Mono"/>
              </a:rPr>
              <a:t> jupyter notebook \</a:t>
            </a:r>
            <a:endParaRPr lang="en-US" sz="1050" noProof="1"/>
          </a:p>
          <a:p>
            <a:pPr>
              <a:lnSpc>
                <a:spcPct val="170000"/>
              </a:lnSpc>
            </a:pPr>
            <a:r>
              <a:rPr lang="en-US" sz="1050" noProof="1">
                <a:solidFill>
                  <a:srgbClr val="D7DBE0"/>
                </a:solidFill>
                <a:latin typeface="JetBrains Mono"/>
                <a:ea typeface="JetBrains Mono"/>
              </a:rPr>
              <a:t>  notebooks/01_ingest_materialize_um.ipynb</a:t>
            </a:r>
            <a:endParaRPr lang="en-US" sz="1050" noProof="1"/>
          </a:p>
        </p:txBody>
      </p:sp>
      <p:sp>
        <p:nvSpPr>
          <p:cNvPr id="10" name="start-note"/>
          <p:cNvSpPr txBox="1"/>
          <p:nvPr/>
        </p:nvSpPr>
        <p:spPr>
          <a:xfrm>
            <a:off x="6858000" y="4470400"/>
            <a:ext cx="4521200" cy="863600"/>
          </a:xfrm>
          <a:prstGeom prst="rect">
            <a:avLst/>
          </a:prstGeom>
          <a:noFill/>
          <a:ln>
            <a:noFill/>
          </a:ln>
        </p:spPr>
        <p:txBody>
          <a:bodyPr lIns="0" rIns="0" tIns="0" bIns="0" wrap="square" rtlCol="0"/>
          <a:lstStyle/>
          <a:p>
            <a:pPr>
              <a:lnSpc>
                <a:spcPct val="150000"/>
              </a:lnSpc>
            </a:pPr>
            <a:r>
              <a:rPr lang="en-US" sz="1150" noProof="1">
                <a:solidFill>
                  <a:srgbClr val="8A9097"/>
                </a:solidFill>
                <a:latin typeface="Inter"/>
                <a:ea typeface="Inter"/>
              </a:rPr>
              <a:t>Design-partner pilots, evidence and docs:</a:t>
            </a:r>
            <a:endParaRPr lang="en-US" sz="1150" noProof="1"/>
          </a:p>
          <a:p>
            <a:pPr>
              <a:lnSpc>
                <a:spcPct val="150000"/>
              </a:lnSpc>
            </a:pPr>
            <a:r>
              <a:rPr lang="en-US" sz="1150" noProof="1" u="sng">
                <a:solidFill>
                  <a:srgbClr val="0563C1"/>
                </a:solidFill>
                <a:latin typeface="Inter"/>
                <a:ea typeface="Inter"/>
                <a:hlinkClick r:id="rId2"/>
              </a:rPr>
              <a:t>codenticai.com</a:t>
            </a:r>
            <a:r>
              <a:rPr lang="en-US" sz="1150" noProof="1">
                <a:solidFill>
                  <a:srgbClr val="8A9097"/>
                </a:solidFill>
                <a:latin typeface="Inter"/>
                <a:ea typeface="Inter"/>
              </a:rPr>
              <a:t> · support@codenticai.com</a:t>
            </a:r>
            <a:endParaRPr lang="en-US" sz="1150" noProof="1"/>
          </a:p>
        </p:txBody>
      </p:sp>
      <p:sp>
        <p:nvSpPr>
          <p:cNvPr id="11" name="rule"/>
          <p:cNvSpPr/>
          <p:nvPr/>
        </p:nvSpPr>
        <p:spPr>
          <a:xfrm>
            <a:off x="812800" y="5537200"/>
            <a:ext cx="10566400" cy="12700"/>
          </a:xfrm>
          <a:prstGeom prst="rect">
            <a:avLst/>
          </a:prstGeom>
          <a:solidFill>
            <a:srgbClr val="2A2F35"/>
          </a:solidFill>
          <a:ln>
            <a:noFill/>
          </a:ln>
        </p:spPr>
      </p:sp>
      <p:sp>
        <p:nvSpPr>
          <p:cNvPr id="12" name="equation"/>
          <p:cNvSpPr txBox="1"/>
          <p:nvPr/>
        </p:nvSpPr>
        <p:spPr>
          <a:xfrm>
            <a:off x="812800" y="5765800"/>
            <a:ext cx="7874000" cy="304800"/>
          </a:xfrm>
          <a:prstGeom prst="rect">
            <a:avLst/>
          </a:prstGeom>
          <a:noFill/>
          <a:ln>
            <a:noFill/>
          </a:ln>
        </p:spPr>
        <p:txBody>
          <a:bodyPr lIns="0" rIns="0" tIns="0" bIns="0" wrap="none" rtlCol="0"/>
          <a:lstStyle/>
          <a:p>
            <a:pPr>
              <a:lnSpc>
                <a:spcPct val="120000"/>
              </a:lnSpc>
            </a:pPr>
            <a:r>
              <a:rPr lang="en-US" sz="1500" noProof="1">
                <a:solidFill>
                  <a:srgbClr val="C2521E"/>
                </a:solidFill>
                <a:latin typeface="JetBrains Mono"/>
                <a:ea typeface="JetBrains Mono"/>
              </a:rPr>
              <a:t>H(t) = ( S(t), H(t−1), D, R, N )</a:t>
            </a:r>
            <a:endParaRPr lang="en-US" sz="1500" noProof="1"/>
          </a:p>
        </p:txBody>
      </p:sp>
      <p:sp>
        <p:nvSpPr>
          <p:cNvPr id="13" name="repo"/>
          <p:cNvSpPr txBox="1"/>
          <p:nvPr/>
        </p:nvSpPr>
        <p:spPr>
          <a:xfrm>
            <a:off x="812800" y="6223000"/>
            <a:ext cx="8128000" cy="228600"/>
          </a:xfrm>
          <a:prstGeom prst="rect">
            <a:avLst/>
          </a:prstGeom>
          <a:noFill/>
          <a:ln>
            <a:noFill/>
          </a:ln>
        </p:spPr>
        <p:txBody>
          <a:bodyPr lIns="0" rIns="0" tIns="0" bIns="0" wrap="none" rtlCol="0"/>
          <a:lstStyle/>
          <a:p>
            <a:pPr>
              <a:lnSpc>
                <a:spcPct val="120000"/>
              </a:lnSpc>
            </a:pPr>
            <a:r>
              <a:rPr lang="en-US" sz="1200" noProof="1" u="sng">
                <a:solidFill>
                  <a:srgbClr val="0563C1"/>
                </a:solidFill>
                <a:latin typeface="JetBrains Mono"/>
                <a:ea typeface="JetBrains Mono"/>
                <a:hlinkClick r:id="rId3"/>
              </a:rPr>
              <a:t>github.com/alexmy21/ewm-state-machine</a:t>
            </a:r>
            <a:endParaRPr lang="en-US" sz="1200" noProof="1"/>
          </a:p>
        </p:txBody>
      </p:sp>
      <p:sp>
        <p:nvSpPr>
          <p:cNvPr id="14" name="bit01"/>
          <p:cNvSpPr/>
          <p:nvPr/>
        </p:nvSpPr>
        <p:spPr>
          <a:xfrm>
            <a:off x="8890000" y="6248400"/>
            <a:ext cx="127000" cy="127000"/>
          </a:xfrm>
          <a:prstGeom prst="rect">
            <a:avLst/>
          </a:prstGeom>
          <a:solidFill>
            <a:srgbClr val="262B30"/>
          </a:solidFill>
          <a:ln>
            <a:noFill/>
          </a:ln>
        </p:spPr>
      </p:sp>
      <p:sp>
        <p:nvSpPr>
          <p:cNvPr id="15" name="bit02"/>
          <p:cNvSpPr/>
          <p:nvPr/>
        </p:nvSpPr>
        <p:spPr>
          <a:xfrm>
            <a:off x="9067800" y="6248400"/>
            <a:ext cx="127000" cy="127000"/>
          </a:xfrm>
          <a:prstGeom prst="rect">
            <a:avLst/>
          </a:prstGeom>
          <a:solidFill>
            <a:srgbClr val="2E7D64"/>
          </a:solidFill>
          <a:ln>
            <a:noFill/>
          </a:ln>
        </p:spPr>
      </p:sp>
      <p:sp>
        <p:nvSpPr>
          <p:cNvPr id="16" name="bit03"/>
          <p:cNvSpPr/>
          <p:nvPr/>
        </p:nvSpPr>
        <p:spPr>
          <a:xfrm>
            <a:off x="9245600" y="6248400"/>
            <a:ext cx="127000" cy="127000"/>
          </a:xfrm>
          <a:prstGeom prst="rect">
            <a:avLst/>
          </a:prstGeom>
          <a:solidFill>
            <a:srgbClr val="262B30"/>
          </a:solidFill>
          <a:ln>
            <a:noFill/>
          </a:ln>
        </p:spPr>
      </p:sp>
      <p:sp>
        <p:nvSpPr>
          <p:cNvPr id="17" name="bit04"/>
          <p:cNvSpPr/>
          <p:nvPr/>
        </p:nvSpPr>
        <p:spPr>
          <a:xfrm>
            <a:off x="9423400" y="6248400"/>
            <a:ext cx="127000" cy="127000"/>
          </a:xfrm>
          <a:prstGeom prst="rect">
            <a:avLst/>
          </a:prstGeom>
          <a:solidFill>
            <a:srgbClr val="262B30"/>
          </a:solidFill>
          <a:ln>
            <a:noFill/>
          </a:ln>
        </p:spPr>
      </p:sp>
      <p:sp>
        <p:nvSpPr>
          <p:cNvPr id="18" name="bit05"/>
          <p:cNvSpPr/>
          <p:nvPr/>
        </p:nvSpPr>
        <p:spPr>
          <a:xfrm>
            <a:off x="9601200" y="6248400"/>
            <a:ext cx="127000" cy="127000"/>
          </a:xfrm>
          <a:prstGeom prst="rect">
            <a:avLst/>
          </a:prstGeom>
          <a:solidFill>
            <a:srgbClr val="C2521E"/>
          </a:solidFill>
          <a:ln>
            <a:noFill/>
          </a:ln>
        </p:spPr>
      </p:sp>
      <p:sp>
        <p:nvSpPr>
          <p:cNvPr id="19" name="bit06"/>
          <p:cNvSpPr/>
          <p:nvPr/>
        </p:nvSpPr>
        <p:spPr>
          <a:xfrm>
            <a:off x="9779000" y="6248400"/>
            <a:ext cx="127000" cy="127000"/>
          </a:xfrm>
          <a:prstGeom prst="rect">
            <a:avLst/>
          </a:prstGeom>
          <a:solidFill>
            <a:srgbClr val="262B30"/>
          </a:solidFill>
          <a:ln>
            <a:noFill/>
          </a:ln>
        </p:spPr>
      </p:sp>
      <p:sp>
        <p:nvSpPr>
          <p:cNvPr id="20" name="bit07"/>
          <p:cNvSpPr/>
          <p:nvPr/>
        </p:nvSpPr>
        <p:spPr>
          <a:xfrm>
            <a:off x="9956800" y="6248400"/>
            <a:ext cx="127000" cy="127000"/>
          </a:xfrm>
          <a:prstGeom prst="rect">
            <a:avLst/>
          </a:prstGeom>
          <a:solidFill>
            <a:srgbClr val="262B30"/>
          </a:solidFill>
          <a:ln>
            <a:noFill/>
          </a:ln>
        </p:spPr>
      </p:sp>
      <p:sp>
        <p:nvSpPr>
          <p:cNvPr id="21" name="bit08"/>
          <p:cNvSpPr/>
          <p:nvPr/>
        </p:nvSpPr>
        <p:spPr>
          <a:xfrm>
            <a:off x="10134600" y="6248400"/>
            <a:ext cx="127000" cy="127000"/>
          </a:xfrm>
          <a:prstGeom prst="rect">
            <a:avLst/>
          </a:prstGeom>
          <a:solidFill>
            <a:srgbClr val="262B30"/>
          </a:solidFill>
          <a:ln>
            <a:noFill/>
          </a:ln>
        </p:spPr>
      </p:sp>
      <p:sp>
        <p:nvSpPr>
          <p:cNvPr id="22" name="bit09"/>
          <p:cNvSpPr/>
          <p:nvPr/>
        </p:nvSpPr>
        <p:spPr>
          <a:xfrm>
            <a:off x="10312400" y="6248400"/>
            <a:ext cx="127000" cy="127000"/>
          </a:xfrm>
          <a:prstGeom prst="rect">
            <a:avLst/>
          </a:prstGeom>
          <a:solidFill>
            <a:srgbClr val="2E7D64"/>
          </a:solidFill>
          <a:ln>
            <a:noFill/>
          </a:ln>
        </p:spPr>
      </p:sp>
      <p:sp>
        <p:nvSpPr>
          <p:cNvPr id="23" name="bit10"/>
          <p:cNvSpPr/>
          <p:nvPr/>
        </p:nvSpPr>
        <p:spPr>
          <a:xfrm>
            <a:off x="10490200" y="6248400"/>
            <a:ext cx="127000" cy="127000"/>
          </a:xfrm>
          <a:prstGeom prst="rect">
            <a:avLst/>
          </a:prstGeom>
          <a:solidFill>
            <a:srgbClr val="262B30"/>
          </a:solidFill>
          <a:ln>
            <a:noFill/>
          </a:ln>
        </p:spPr>
      </p:sp>
      <p:sp>
        <p:nvSpPr>
          <p:cNvPr id="24" name="bit11"/>
          <p:cNvSpPr/>
          <p:nvPr/>
        </p:nvSpPr>
        <p:spPr>
          <a:xfrm>
            <a:off x="10668000" y="6248400"/>
            <a:ext cx="127000" cy="127000"/>
          </a:xfrm>
          <a:prstGeom prst="rect">
            <a:avLst/>
          </a:prstGeom>
          <a:solidFill>
            <a:srgbClr val="262B30"/>
          </a:solidFill>
          <a:ln>
            <a:noFill/>
          </a:ln>
        </p:spPr>
      </p:sp>
      <p:sp>
        <p:nvSpPr>
          <p:cNvPr id="25" name="bit12"/>
          <p:cNvSpPr/>
          <p:nvPr/>
        </p:nvSpPr>
        <p:spPr>
          <a:xfrm>
            <a:off x="10845800" y="6248400"/>
            <a:ext cx="127000" cy="127000"/>
          </a:xfrm>
          <a:prstGeom prst="rect">
            <a:avLst/>
          </a:prstGeom>
          <a:solidFill>
            <a:srgbClr val="C2521E"/>
          </a:solidFill>
          <a:ln>
            <a:noFill/>
          </a:ln>
        </p:spPr>
      </p:sp>
      <p:sp>
        <p:nvSpPr>
          <p:cNvPr id="26" name="bit13"/>
          <p:cNvSpPr/>
          <p:nvPr/>
        </p:nvSpPr>
        <p:spPr>
          <a:xfrm>
            <a:off x="11023600" y="6248400"/>
            <a:ext cx="127000" cy="127000"/>
          </a:xfrm>
          <a:prstGeom prst="rect">
            <a:avLst/>
          </a:prstGeom>
          <a:solidFill>
            <a:srgbClr val="262B30"/>
          </a:solidFill>
          <a:ln>
            <a:noFill/>
          </a:ln>
        </p:spPr>
      </p:sp>
      <p:sp>
        <p:nvSpPr>
          <p:cNvPr id="27" name="bit14"/>
          <p:cNvSpPr/>
          <p:nvPr/>
        </p:nvSpPr>
        <p:spPr>
          <a:xfrm>
            <a:off x="11201400" y="6248400"/>
            <a:ext cx="127000" cy="127000"/>
          </a:xfrm>
          <a:prstGeom prst="rect">
            <a:avLst/>
          </a:prstGeom>
          <a:solidFill>
            <a:srgbClr val="262B30"/>
          </a:solidFill>
          <a:ln>
            <a:noFill/>
          </a:ln>
        </p:spPr>
      </p:sp>
    </p:spTree>
  </p:cSld>
  <p:clrMapOvr>
    <a:masterClrMapping/>
  </p:clrMapOvr>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customXml/provenance.xml><?xml version="1.0" encoding="utf-8"?>
<provenance xmlns="urn:kimi:pptd:provenance">
  <producer>Kimi Slides/Design</producer>
  <statement>Built by Kimi Slides/Design with PPTD</statement>
</provenance>
</file>

<file path=docProps/app.xml><?xml version="1.0" encoding="utf-8"?>
<Properties xmlns="http://schemas.openxmlformats.org/officeDocument/2006/extended-properties">
  <Application>Neo Design</Application>
  <Slides>18</Slides>
</Properties>
</file>

<file path=docProps/core.xml><?xml version="1.0" encoding="utf-8"?>
<cp:coreProperties xmlns:dc="http://purl.org/dc/elements/1.1/" xmlns:cp="http://schemas.openxmlformats.org/package/2006/metadata/core-properties">
  <dc:title>EWM — A Memory Side-Car for Any AI Model</dc:title>
</cp:coreProperties>
</file>

<file path=docProps/custom.xml><?xml version="1.0" encoding="utf-8"?>
<Properties xmlns:vt="http://schemas.openxmlformats.org/officeDocument/2006/docPropsVTypes" xmlns="http://schemas.openxmlformats.org/officeDocument/2006/custom-properties">
  <property fmtid="{D5CDD505-2E9C-101B-9397-08002B2CF9AE}" pid="4" name="AIGC">
    <vt:lpwstr/>
  </property>
</Properties>
</file>